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73" r:id="rId22"/>
    <p:sldId id="266" r:id="rId14"/>
    <p:sldId id="267" r:id="rId15"/>
    <p:sldId id="268" r:id="rId16"/>
    <p:sldId id="269" r:id="rId17"/>
    <p:sldId id="274" r:id="rId23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7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ableStyles" Target="tableStyles.xml"/><Relationship Id="rId22" Type="http://schemas.openxmlformats.org/officeDocument/2006/relationships/slide" Target="slides/slide11.xml"/><Relationship Id="rId23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Workbook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400" b="0" i="0" u="none" strike="noStrike" kern="1200" baseline="0">
                <a:solidFill>
                  <a:srgbClr val="2F3E3A"/>
                </a:solidFill>
                <a:latin typeface="Calibri" panose="020F0502020204030204"/>
                <a:ea typeface="+mn-ea"/>
                <a:cs typeface="+mn-cs"/>
              </a:defRPr>
            </a:pPr>
            <a:r>
              <a:rPr sz="1400" b="0" i="0" u="none" strike="noStrike">
                <a:solidFill>
                  <a:srgbClr val="2F3E3A"/>
                </a:solidFill>
                <a:latin typeface="Calibri" panose="020F0502020204030204"/>
              </a:rPr>
              <a:t>Per-class F1 (test_masked)</a:t>
            </a:r>
            <a:endParaRPr sz="1400" b="0" i="0" u="none" strike="noStrike">
              <a:solidFill>
                <a:srgbClr val="2F3E3A"/>
              </a:solidFill>
              <a:latin typeface="Calibri" panose="020F0502020204030204"/>
            </a:endParaRP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4F7F6E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2F3E3A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Sheet1!$A$2:$A$8</c:f>
              <c:strCache>
                <c:ptCount val="7"/>
                <c:pt idx="0">
                  <c:v>happy</c:v>
                </c:pt>
                <c:pt idx="1">
                  <c:v>surprise</c:v>
                </c:pt>
                <c:pt idx="2">
                  <c:v>sad</c:v>
                </c:pt>
                <c:pt idx="3">
                  <c:v>angry</c:v>
                </c:pt>
                <c:pt idx="4">
                  <c:v>neutral</c:v>
                </c:pt>
                <c:pt idx="5">
                  <c:v>fear</c:v>
                </c:pt>
                <c:pt idx="6">
                  <c:v>disgust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0.89</c:v>
                </c:pt>
                <c:pt idx="1">
                  <c:v>0.8</c:v>
                </c:pt>
                <c:pt idx="2">
                  <c:v>0.79</c:v>
                </c:pt>
                <c:pt idx="3">
                  <c:v>0.75</c:v>
                </c:pt>
                <c:pt idx="4">
                  <c:v>0.72</c:v>
                </c:pt>
                <c:pt idx="5">
                  <c:v>0.53</c:v>
                </c:pt>
                <c:pt idx="6">
                  <c:v>0.47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2F3E3A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t"/>
        <c:majorGridlines>
          <c:spPr>
            <a:ln w="6350" cap="flat" cmpd="sng" algn="ctr">
              <a:solidFill>
                <a:srgbClr val="E3EC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66756F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9fea7040-47e4-426e-acf0-4f008b4b1896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r>
              <a:rPr sz="1400" b="0">
                <a:solidFill>
                  <a:srgbClr val="2F3E3A"/>
                </a:solidFill>
                <a:latin typeface="Calibri"/>
              </a:rPr>
              <a:t>Accuracy (%), Mask-Aware model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Unmasked test</c:v>
                </c:pt>
              </c:strCache>
            </c:strRef>
          </c:tx>
          <c:spPr>
            <a:solidFill>
              <a:srgbClr val="4F7F6E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2F3E3A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Raw logits</c:v>
                </c:pt>
                <c:pt idx="1">
                  <c:v>+ flip TTA</c:v>
                </c:pt>
                <c:pt idx="2">
                  <c:v>+ prior-bias</c:v>
                </c:pt>
                <c:pt idx="3">
                  <c:v>+ TTA + prior-bias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83.7</c:v>
                </c:pt>
                <c:pt idx="1">
                  <c:v>84.06</c:v>
                </c:pt>
                <c:pt idx="2">
                  <c:v>88.43</c:v>
                </c:pt>
                <c:pt idx="3">
                  <c:v>88.43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Masked test</c:v>
                </c:pt>
              </c:strCache>
            </c:strRef>
          </c:tx>
          <c:spPr>
            <a:solidFill>
              <a:srgbClr val="D98B73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2F3E3A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Raw logits</c:v>
                </c:pt>
                <c:pt idx="1">
                  <c:v>+ flip TTA</c:v>
                </c:pt>
                <c:pt idx="2">
                  <c:v>+ prior-bias</c:v>
                </c:pt>
                <c:pt idx="3">
                  <c:v>+ TTA + prior-bias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73.27</c:v>
                </c:pt>
                <c:pt idx="1">
                  <c:v>73.22</c:v>
                </c:pt>
                <c:pt idx="2">
                  <c:v>79.75</c:v>
                </c:pt>
                <c:pt idx="3">
                  <c:v>79.29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2F3E3A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 cmpd="sng" algn="ctr">
              <a:solidFill>
                <a:srgbClr val="E3EC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66756F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2F3E3A"/>
              </a:solidFill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308f660b-2928-48c5-b926-0c0bffd44698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400" b="0" i="0" u="none" strike="noStrike" kern="1200" baseline="0">
                <a:solidFill>
                  <a:srgbClr val="2F3E3A"/>
                </a:solidFill>
                <a:latin typeface="Calibri" panose="020F0502020204030204"/>
                <a:ea typeface="+mn-ea"/>
                <a:cs typeface="+mn-cs"/>
              </a:defRPr>
            </a:pPr>
            <a:r>
              <a:rPr sz="1400" b="0" i="0" u="none" strike="noStrike">
                <a:solidFill>
                  <a:srgbClr val="2F3E3A"/>
                </a:solidFill>
                <a:latin typeface="Calibri" panose="020F0502020204030204"/>
              </a:rPr>
              <a:t>FPS by number of faces in frame</a:t>
            </a:r>
            <a:endParaRPr sz="1400" b="0" i="0" u="none" strike="noStrike">
              <a:solidFill>
                <a:srgbClr val="2F3E3A"/>
              </a:solidFill>
              <a:latin typeface="Calibri" panose="020F050202020403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Grad-CAM</c:v>
                </c:pt>
              </c:strCache>
            </c:strRef>
          </c:tx>
          <c:spPr>
            <a:solidFill>
              <a:srgbClr val="4F7F6E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100" b="0" i="0" u="none" strike="noStrike" kern="1200" baseline="0">
                    <a:solidFill>
                      <a:srgbClr val="2F3E3A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55</c:v>
                </c:pt>
                <c:pt idx="1">
                  <c:v>37.4</c:v>
                </c:pt>
                <c:pt idx="2">
                  <c:v>28.4</c:v>
                </c:pt>
                <c:pt idx="3">
                  <c:v>20.2</c:v>
                </c:pt>
                <c:pt idx="4">
                  <c:v>17.4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Grad-CAM (refreshed every 10 frames)</c:v>
                </c:pt>
              </c:strCache>
            </c:strRef>
          </c:tx>
          <c:spPr>
            <a:solidFill>
              <a:srgbClr val="D98B73"/>
            </a:solidFill>
            <a:effectLst/>
          </c:spPr>
          <c:invertIfNegative val="0"/>
          <c:dLbls>
            <c:numFmt formatCode="0.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100" b="0" i="0" u="none" strike="noStrike" kern="1200" baseline="0">
                    <a:solidFill>
                      <a:srgbClr val="2F3E3A"/>
                    </a:solidFill>
                    <a:latin typeface="Calibri" panose="020F050202020403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Sheet1!$A$2:$A$6</c:f>
              <c:numCache>
                <c:formatCode>General</c:formatCode>
                <c:ptCount val="5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37.4</c:v>
                </c:pt>
                <c:pt idx="1">
                  <c:v>25.9</c:v>
                </c:pt>
                <c:pt idx="2">
                  <c:v>20.7</c:v>
                </c:pt>
                <c:pt idx="3">
                  <c:v>17.3</c:v>
                </c:pt>
                <c:pt idx="4">
                  <c:v>15.1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>
                  <a:defRPr lang="en-US" sz="1200" b="0" i="0" u="none" strike="noStrike" kern="1200" baseline="0">
                    <a:solidFill>
                      <a:srgbClr val="66756F"/>
                    </a:solidFill>
                    <a:latin typeface="Arial" panose="020B0604020202020204"/>
                    <a:ea typeface="+mn-ea"/>
                    <a:cs typeface="+mn-cs"/>
                  </a:defRPr>
                </a:pPr>
                <a:r>
                  <a:rPr sz="1200" b="0" i="0" u="none" strike="noStrike">
                    <a:solidFill>
                      <a:srgbClr val="66756F"/>
                    </a:solidFill>
                    <a:latin typeface="Arial" panose="020B0604020202020204"/>
                  </a:rPr>
                  <a:t>Number of faces</a:t>
                </a:r>
                <a:endParaRPr sz="1200" b="0" i="0" u="none" strike="noStrike">
                  <a:solidFill>
                    <a:srgbClr val="66756F"/>
                  </a:solidFill>
                  <a:latin typeface="Arial" panose="020B0604020202020204"/>
                </a:endParaRP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200" b="0" i="0" u="none" strike="noStrike" kern="1200" baseline="0">
                <a:solidFill>
                  <a:srgbClr val="2F3E3A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3ECE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100" b="0" i="0" u="none" strike="noStrike" kern="1200" baseline="0">
                <a:solidFill>
                  <a:srgbClr val="66756F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 rot="0" spcFirstLastPara="0" vertOverflow="ellipsis" vert="horz" wrap="square" anchor="ctr" anchorCtr="1"/>
        <a:lstStyle/>
        <a:p>
          <a:pPr>
            <a:defRPr lang="en-US" sz="1200" b="0" i="0" u="none" strike="noStrike" kern="1200" baseline="0">
              <a:solidFill>
                <a:srgbClr val="2F3E3A"/>
              </a:solidFill>
              <a:latin typeface="Calibri" panose="020F0502020204030204"/>
              <a:ea typeface="+mn-ea"/>
              <a:cs typeface="Calibri" panose="020F0502020204030204"/>
            </a:defRPr>
          </a:pPr>
        </a:p>
      </c:txPr>
    </c:legend>
    <c:plotVisOnly val="1"/>
    <c:dispBlanksAs val="span"/>
    <c:showDLblsOverMax val="0"/>
    <c:extLst>
      <c:ext uri="{0b15fc19-7d7d-44ad-8c2d-2c3a37ce22c3}">
        <chartProps xmlns="https://web.wps.cn/et/2018/main" chartId="{0f0a67e0-4376-443a-a0f4-3c2c427e70c4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Giới thiệu đề tài: nhận diện cảm xúc thời gian thực, nhiều khuôn mặt, có giải thích, khi đeo khẩu trang. 3 thành viên và phần phụ trách.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3 rào cản: (1) khoảng cách lab–đời thực; (2) khẩu trang che nửa dưới: mô hình chỉ train RAF-DB tụt từ 89.2% xuống 56.6%, 48% ảnh happy bị đoán neutral; (3) hộp đen. Mục tiêu: in-the-wild, mask-aware, real-time, explainable.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RAF-DB 15,339 ảnh (12,271 train / 3,068 test). MaskTheFace dùng 68 landmark dlib và warp ảnh mẫu khẩu trang 2D; chỉ ~64% ảnh có bản khẩu trang vì dlib không dò được mặt nhỏ/nghiêng. Nhãn giữ nguyên; tên file giữ ID ảnh nguồn.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Chia ngẫu nhiên làm ảnh gốc và bản khẩu trang rơi vào cả train và val → val F1 ảo. Nhóm chia theo nhóm ảnh nguồn, phân tầng theo nhãn, cố định trong JSON. Kiểm toán dHash + tương quan pixel: 0 rò rỉ do nhóm; 49 ảnh test trùng người với train là tính chất của split RAF-DB.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YuNet trả về bbox + 5 điểm. Phép biến đổi tương tự (xoay, tỉ lệ đều, tịnh tiến) ước lượng bằng LMedS đưa 5 điểm về template RAF-DB 224×224. Hình là frame tổng hợp với mặt bị xoay, được căn lại. Chỉ ảnh hưởng ứng dụng webcam, không ảnh hưởng số test (ảnh test đã căn sẵn).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EfficientNet-B0 của HSEmotion: ImageNet → VGGFace2 → AffectNet; head 7 lớp khởi tạo từ classifier AffectNet (bỏ contempt). ~4M tham số backbone, 0.39 GFLOPs.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Giai đoạn 1: RAF-DB gốc, 1 epoch chỉ train head rồi 25 epoch toàn mạng. Giai đoạn 2: khởi tạo từ GĐ1, 20 epoch trên gốc + khẩu trang, thêm LowerFaceOcclusion p=0.3. Logit-Adjusted loss τ=1, label smoothing 0.1, Mixup/CutMix, EMA 0.998, AdamW + cosine.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 loss làm mô hình dự đoán như thể các lớp cân bằng → đoán thừa fear/disgust. Cộng t·log(prior) vào logits, chọn t trên VAL: t*=0.85 (Mask-Aware), 0.70 (RAF-DB). Val acc +5.09 điểm, F1 +0.061. t tối ưu trên test gần t* → không overfit 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Kết quả chính (fp32, TTA, prior-bias): Mask-Aware 88.43 / 79.29 / 84.85%. Trên ảnh khẩu trang +22.68 điểm so với mô hình chỉ RAF-DB, mặt thường chỉ −0.72. Dòng MobileNetV3 là pipeline cũ (val rò rỉ) — chỉ tham khảo.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F1 từng lớp trên ảnh khẩu trang: happy 0.89 nhờ vùng mắt (AU6); disgust 0.47 và fear 0.53 khó nhất vì mất tín hiệu mũi/miệng (AU9, AU10, AU20). Fear chỉ 35 ảnh nên dao động lớn.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Ablation trên cùng checkpoint Mask-Aware: prior-bias đóng góp lớn nhất (+4.7 điểm mặt thường, +6.5 điểm khẩu trang); TTA lật ngang gần như không đổi. Đóng góp của dữ liệu khẩu trang + occlusion là +22.68 điểm (slide kết quả). Căn chỉnh YuNet không nằm trong bảng vì ảnh test đã căn sẵn.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Grad-CAM tính ở tầng bn2 (1280×7×7) cho nhãn thật, ảnh thật từ tập test. Đo trên 1,975 cặp: năng lượng heatmap ở nửa trên tăng 47% → 58% với Mask-Aware. Mô hình RAF-DB cũng dịch lên (42% → 55%) nhưng dàn trải và lùi về neutral. Grad-CAM là giải thích thô, định tính.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Tracker IoU tham lam, ngưỡng 0.3, giữ ID tối đa 10 frame. Làm mượt xác suất EMA α=0.4 ≈ 2–3 frame gần nhất, chống nhảy nhãn.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Benchmark trên Apple M1, frame tổng hợp 1280×720, tắt TTA. 1 mặt: 55.0 FPS không Grad-CAM, 37.4 FPS khi tính Grad-CAM mỗi 10 frame (~8 ms/frame trung bình). 5 mặt vẫn ≥ 15 FPS. Bước dự đoán tăng tuyến tính theo số mặt.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Tổng kết: +22.7 điểm trên ảnh khẩu trang, không rò rỉ train/val, 84.85% trên toàn bộ test, 37.4 FPS có Grad-CAM. Hạn chế: khẩu trang tổng hợp, 1 seed, Grad-CAM định tính, disgust/fear khó. Hướng tiếp theo như trên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 trận nhầm lẫn chuẩn hoá theo hàng. Mô hình chỉ RAF-DB dồn 48% happy về neutral khi đeo khẩu trang; Mask-Aware còn 9%. Lỗi còn lại có lý do giải phẫu: fear → surprise 29% vì cùng nâng mày, mở to mắt.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Nhánh R: train bằng Python, xuất TorchScript (đã cộng sẵn logit_bias), R nạp bằng torch::jit_load trên LibTorch. Parity test: sai số tối đa 3e-7, argmax khớp 100%. Đã sửa bug xoay ngược trong căn chỉnh R. Đang làm: nối tab dự đoán trực tiếp và hook bn2 cho Grad-CAM trong 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">
    <p:bg>
      <p:bgPr>
        <a:solidFill>
          <a:srgbClr val="F7FA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548640" y="320040"/>
            <a:ext cx="9509760" cy="822960"/>
          </a:xfrm>
          <a:prstGeom prst="rect">
            <a:avLst/>
          </a:prstGeom>
          <a:noFill/>
        </p:spPr>
        <p:txBody>
          <a:bodyPr wrap="square" rtlCol="0"/>
          <a:lstStyle>
            <a:lvl1pPr marL="0" indent="0">
              <a:buNone/>
              <a:defRPr lang="en-US" sz="2800" b="1" dirty="0">
                <a:solidFill>
                  <a:srgbClr val="2F3E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defRPr>
            </a:lvl1pPr>
          </a:lstStyle>
          <a:p>
            <a:pPr marL="0" indent="0">
              <a:buNone/>
            </a:pP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66756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">
    <p:bg>
      <p:bgPr>
        <a:solidFill>
          <a:srgbClr val="E8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66756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jpeg"/><Relationship Id="rId3" Type="http://schemas.openxmlformats.org/officeDocument/2006/relationships/image" Target="../media/image4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6575" y="731520"/>
            <a:ext cx="6675120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2F3E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XAI-FER Mask-Aware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36575" y="1645920"/>
            <a:ext cx="5672455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4F7F6E"/>
                </a:solidFill>
              </a:rPr>
              <a:t>Real-time, multi-face, explainable facial expression recognition under mask occlusion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834640"/>
            <a:ext cx="667512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680960" y="640080"/>
            <a:ext cx="3931920" cy="3108960"/>
          </a:xfrm>
          <a:prstGeom prst="roundRect">
            <a:avLst>
              <a:gd name="adj" fmla="val 3529"/>
            </a:avLst>
          </a:prstGeom>
          <a:solidFill>
            <a:srgbClr val="DCEBE3">
              <a:alpha val="50000"/>
            </a:srgbClr>
          </a:solidFill>
          <a:ln w="15875">
            <a:solidFill>
              <a:srgbClr val="4F7F6E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7863840" y="640080"/>
            <a:ext cx="3566160" cy="3108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4343400"/>
            <a:ext cx="35204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BE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88720" y="4688713"/>
            <a:ext cx="3154680" cy="10607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spcAft>
                <a:spcPts val="400"/>
              </a:spcAft>
              <a:buNone/>
            </a:pPr>
            <a:r>
              <a:rPr lang="en-US" altLang="en-US" sz="1600" dirty="0">
                <a:solidFill>
                  <a:srgbClr val="2F3E3A"/>
                </a:solidFill>
                <a:sym typeface="+mn-ea"/>
              </a:rPr>
              <a:t>SE200698 Hồ Trường Thịnh</a:t>
            </a:r>
            <a:br>
              <a:rPr lang="en-US" altLang="en-US" sz="1600" dirty="0">
                <a:solidFill>
                  <a:srgbClr val="2F3E3A"/>
                </a:solidFill>
                <a:sym typeface="+mn-ea"/>
              </a:rPr>
            </a:br>
            <a:r>
              <a:rPr lang="en-US" sz="1600" dirty="0">
                <a:solidFill>
                  <a:srgbClr val="2F3E3A"/>
                </a:solidFill>
                <a:sym typeface="+mn-ea"/>
              </a:rPr>
              <a:t>Data &amp; Detection Pipeline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343400" y="4343400"/>
            <a:ext cx="35204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BE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13935" y="4688713"/>
            <a:ext cx="3154680" cy="10607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altLang="en-US" sz="1600" dirty="0">
                <a:solidFill>
                  <a:srgbClr val="2F3E3A"/>
                </a:solidFill>
                <a:sym typeface="+mn-ea"/>
              </a:rPr>
              <a:t>SE203691 Nguyễn Trinh Quý</a:t>
            </a:r>
            <a:br>
              <a:rPr lang="en-US" altLang="en-US" sz="1600" dirty="0">
                <a:solidFill>
                  <a:srgbClr val="2F3E3A"/>
                </a:solidFill>
                <a:sym typeface="+mn-ea"/>
              </a:rPr>
            </a:br>
            <a:r>
              <a:rPr lang="en-US" sz="1600" dirty="0">
                <a:solidFill>
                  <a:srgbClr val="2F3E3A"/>
                </a:solidFill>
                <a:sym typeface="+mn-ea"/>
              </a:rPr>
              <a:t>Deep Learning &amp; Evaluation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046720" y="4343400"/>
            <a:ext cx="352044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DCEBE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22030" y="4688713"/>
            <a:ext cx="3154680" cy="10607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altLang="en-US" sz="1600" dirty="0">
                <a:sym typeface="+mn-ea"/>
              </a:rPr>
              <a:t>SE194517 Trịnh Quốc Sang</a:t>
            </a:r>
            <a:endParaRPr lang="en-US" alt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2F3E3A"/>
                </a:solidFill>
                <a:sym typeface="+mn-ea"/>
              </a:rPr>
              <a:t>XAI &amp; Real-Time System</a:t>
            </a:r>
            <a:endParaRPr lang="en-US" sz="1600" dirty="0"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8580" y="386715"/>
            <a:ext cx="5426710" cy="36163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1344168" y="320040"/>
            <a:ext cx="9509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3E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Problem: 3 barriers to FER in the real world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DCEBE3">
              <a:alpha val="50000"/>
            </a:srgbClr>
          </a:solidFill>
          <a:ln w="15875">
            <a:solidFill>
              <a:srgbClr val="4F7F6E"/>
            </a:solidFill>
            <a:prstDash val="dash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48640" y="3429000"/>
            <a:ext cx="356616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CEBE3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31520" y="3538728"/>
            <a:ext cx="3200400" cy="18379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4F7F6E"/>
                </a:solidFill>
              </a:rPr>
              <a:t>Lab-to-wild gap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F3E3A"/>
                </a:solidFill>
              </a:rPr>
              <a:t>Models trained on FER-2013 (48×48 grayscale) collapse on color images with tilted poses and complex lighting.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F3E3A"/>
                </a:solidFill>
              </a:rPr>
              <a:t>→ We use RAF-DB: 15,339 color, in-the-wild faces.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297680" y="137160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DCEBE3">
              <a:alpha val="50000"/>
            </a:srgbClr>
          </a:solidFill>
          <a:ln w="15875">
            <a:solidFill>
              <a:srgbClr val="4F7F6E"/>
            </a:solidFill>
            <a:prstDash val="dash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297680" y="3429000"/>
            <a:ext cx="356616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CEBE3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4480560" y="3538728"/>
            <a:ext cx="3200400" cy="18379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4F7F6E"/>
                </a:solidFill>
              </a:rPr>
              <a:t>Masks hide half the face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F3E3A"/>
                </a:solidFill>
              </a:rPr>
              <a:t>Our RAF-DB-only model on masked faces: accuracy 89.2% → 56.6%; happy recall 94% → 44%, 48% of happy faces predicted as neutral.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046720" y="1371600"/>
            <a:ext cx="3566160" cy="1920240"/>
          </a:xfrm>
          <a:prstGeom prst="roundRect">
            <a:avLst>
              <a:gd name="adj" fmla="val 5714"/>
            </a:avLst>
          </a:prstGeom>
          <a:solidFill>
            <a:srgbClr val="DCEBE3">
              <a:alpha val="50000"/>
            </a:srgbClr>
          </a:solidFill>
          <a:ln w="15875">
            <a:solidFill>
              <a:srgbClr val="4F7F6E"/>
            </a:solidFill>
            <a:prstDash val="dash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8046720" y="3429000"/>
            <a:ext cx="356616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DCEBE3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8229600" y="3538728"/>
            <a:ext cx="3200400" cy="18379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4F7F6E"/>
                </a:solidFill>
              </a:rPr>
              <a:t>Black-box AI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F3E3A"/>
                </a:solidFill>
              </a:rPr>
              <a:t>Only a label, no visual evidence, which is hard to trust in healthcare and education.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F3E3A"/>
                </a:solidFill>
              </a:rPr>
              <a:t>→ We show a Grad-CAM heatmap with every prediction.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669280"/>
            <a:ext cx="11064240" cy="594360"/>
          </a:xfrm>
          <a:prstGeom prst="roundRect">
            <a:avLst>
              <a:gd name="adj" fmla="val 15385"/>
            </a:avLst>
          </a:prstGeom>
          <a:solidFill>
            <a:srgbClr val="4F7F6E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Goal: In-the-wild · Mask-Aware · Real-Time · Explainable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66756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18" name="Picture 17"/>
          <p:cNvPicPr/>
          <p:nvPr/>
        </p:nvPicPr>
        <p:blipFill>
          <a:blip r:embed="rId2"/>
          <a:stretch>
            <a:fillRect/>
          </a:stretch>
        </p:blipFill>
        <p:spPr>
          <a:xfrm>
            <a:off x="546735" y="1317625"/>
            <a:ext cx="3568065" cy="2047240"/>
          </a:xfrm>
          <a:prstGeom prst="rect">
            <a:avLst/>
          </a:prstGeom>
        </p:spPr>
      </p:pic>
      <p:pic>
        <p:nvPicPr>
          <p:cNvPr id="19" name="Picture 18"/>
          <p:cNvPicPr/>
          <p:nvPr/>
        </p:nvPicPr>
        <p:blipFill>
          <a:blip r:embed="rId3"/>
          <a:stretch>
            <a:fillRect/>
          </a:stretch>
        </p:blipFill>
        <p:spPr>
          <a:xfrm>
            <a:off x="4297680" y="1371600"/>
            <a:ext cx="3566795" cy="1932305"/>
          </a:xfrm>
          <a:prstGeom prst="rect">
            <a:avLst/>
          </a:prstGeom>
        </p:spPr>
      </p:pic>
      <p:pic>
        <p:nvPicPr>
          <p:cNvPr id="26" name="Picture 25" descr="blackbox_clean.png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046720" y="1360805"/>
            <a:ext cx="3566795" cy="19608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1344168" y="320040"/>
            <a:ext cx="9509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3E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RAF-DB data &amp; mask generation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BEAE3"/>
          </a:solidFill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548640" y="1444752"/>
            <a:ext cx="26517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560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15,339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84832"/>
            <a:ext cx="2377440" cy="60350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F3E3A"/>
                </a:solidFill>
              </a:rPr>
              <a:t>RAF-DB images (12,271 train · 3,068 test)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83280" y="137160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DCEBE3"/>
          </a:solidFill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3383280" y="1444752"/>
            <a:ext cx="26517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F7F6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7,830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084832"/>
            <a:ext cx="2377440" cy="60350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F3E3A"/>
                </a:solidFill>
              </a:rPr>
              <a:t>train_masked images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37160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BEAE3"/>
          </a:solidFill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217920" y="1444752"/>
            <a:ext cx="26517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560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1,975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2084832"/>
            <a:ext cx="2377440" cy="60350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F3E3A"/>
                </a:solidFill>
              </a:rPr>
              <a:t>test_masked images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52560" y="137160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DCEBE3"/>
          </a:solidFill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9052560" y="1444752"/>
            <a:ext cx="265176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F7F6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 labels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9189720" y="2084832"/>
            <a:ext cx="2377440" cy="60350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F3E3A"/>
                </a:solidFill>
              </a:rPr>
              <a:t>happy, neutral, sad, surprise, angry, disgust, fear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017520"/>
            <a:ext cx="2240280" cy="868680"/>
          </a:xfrm>
          <a:prstGeom prst="roundRect">
            <a:avLst>
              <a:gd name="adj" fmla="val 10526"/>
            </a:avLst>
          </a:prstGeom>
          <a:solidFill>
            <a:srgbClr val="FBEAE3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F3E3A"/>
                </a:solidFill>
              </a:rPr>
              <a:t>Aligned original image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2862072" y="3314700"/>
            <a:ext cx="310896" cy="274320"/>
          </a:xfrm>
          <a:prstGeom prst="rightArrow">
            <a:avLst/>
          </a:prstGeom>
          <a:solidFill>
            <a:srgbClr val="4F7F6E"/>
          </a:solidFill>
        </p:spPr>
        <p:txBody>
          <a:bodyPr/>
          <a:p/>
        </p:txBody>
      </p:sp>
      <p:sp>
        <p:nvSpPr>
          <p:cNvPr id="18" name="Text 16"/>
          <p:cNvSpPr txBox="1"/>
          <p:nvPr/>
        </p:nvSpPr>
        <p:spPr>
          <a:xfrm>
            <a:off x="3246120" y="3017520"/>
            <a:ext cx="2240280" cy="868680"/>
          </a:xfrm>
          <a:prstGeom prst="roundRect">
            <a:avLst>
              <a:gd name="adj" fmla="val 10526"/>
            </a:avLst>
          </a:prstGeom>
          <a:solidFill>
            <a:srgbClr val="DCEBE3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F3E3A"/>
                </a:solidFill>
              </a:rPr>
              <a:t>dlib 68 landmarks (nose, cheeks, chin)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559552" y="3314700"/>
            <a:ext cx="310896" cy="274320"/>
          </a:xfrm>
          <a:prstGeom prst="rightArrow">
            <a:avLst/>
          </a:prstGeom>
          <a:solidFill>
            <a:srgbClr val="4F7F6E"/>
          </a:solidFill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5943600" y="3017520"/>
            <a:ext cx="2240280" cy="868680"/>
          </a:xfrm>
          <a:prstGeom prst="roundRect">
            <a:avLst>
              <a:gd name="adj" fmla="val 10526"/>
            </a:avLst>
          </a:prstGeom>
          <a:solidFill>
            <a:srgbClr val="FBEAE3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F3E3A"/>
                </a:solidFill>
              </a:rPr>
              <a:t>Apply mask (MaskTheFace)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8257032" y="3314700"/>
            <a:ext cx="310896" cy="274320"/>
          </a:xfrm>
          <a:prstGeom prst="rightArrow">
            <a:avLst/>
          </a:prstGeom>
          <a:solidFill>
            <a:srgbClr val="4F7F6E"/>
          </a:solidFill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8641080" y="3017520"/>
            <a:ext cx="2240280" cy="868680"/>
          </a:xfrm>
          <a:prstGeom prst="roundRect">
            <a:avLst>
              <a:gd name="adj" fmla="val 10526"/>
            </a:avLst>
          </a:prstGeom>
          <a:solidFill>
            <a:srgbClr val="DCEBE3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F3E3A"/>
                </a:solidFill>
              </a:rPr>
              <a:t>Keep label + source ID prefix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4160520"/>
            <a:ext cx="5669280" cy="2103120"/>
          </a:xfrm>
          <a:prstGeom prst="roundRect">
            <a:avLst>
              <a:gd name="adj" fmla="val 5217"/>
            </a:avLst>
          </a:prstGeom>
          <a:solidFill>
            <a:srgbClr val="DCEBE3">
              <a:alpha val="50000"/>
            </a:srgbClr>
          </a:solidFill>
          <a:ln w="15875">
            <a:solidFill>
              <a:srgbClr val="4F7F6E"/>
            </a:solidFill>
            <a:prstDash val="dash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492240" y="4160520"/>
            <a:ext cx="512064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CEBE3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 txBox="1"/>
          <p:nvPr/>
        </p:nvSpPr>
        <p:spPr>
          <a:xfrm>
            <a:off x="6675120" y="4270248"/>
            <a:ext cx="4754880" cy="1883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4F7F6E"/>
                </a:solidFill>
              </a:rPr>
              <a:t>Why synthetic masks?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F3E3A"/>
                </a:solidFill>
              </a:rPr>
              <a:t>~40 annotators per RAF-DB image; labels are kept. Paired before/after images isolate the effect of the mask, and raf_train_00012_surgical.jpg traces back to its source image.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F3E3A"/>
                </a:solidFill>
              </a:rPr>
              <a:t>Limitation: one mask type; dlib finds ~64% of faces, so not every image has a masked twin.</a:t>
            </a:r>
            <a:endParaRPr lang="en-US" sz="16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66756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28" name="RAF-DB mask pairs" descr="deck_raf_mask_pair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4224528"/>
            <a:ext cx="5449824" cy="19904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1344168" y="320040"/>
            <a:ext cx="9509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3E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 leakage &amp; independent audit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40680" cy="2286000"/>
          </a:xfrm>
          <a:prstGeom prst="roundRect">
            <a:avLst>
              <a:gd name="adj" fmla="val 4000"/>
            </a:avLst>
          </a:prstGeom>
          <a:solidFill>
            <a:srgbClr val="FBEAE3"/>
          </a:solidFill>
          <a:ln w="12700">
            <a:solidFill>
              <a:srgbClr val="DCEBE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31520" y="1481328"/>
            <a:ext cx="5074920" cy="20665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4F7F6E"/>
                </a:solidFill>
              </a:rPr>
              <a:t>Old pipeline: random 85/15 split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F3E3A"/>
                </a:solidFill>
              </a:rPr>
              <a:t>The original and masked versions of the same person land on both sides, so the model memorizes faces. Inflated val F1 of 0.826, test F1 only 0.718.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F3E3A"/>
                </a:solidFill>
              </a:rPr>
              <a:t>Early stopping and calibration both read val F1, so every later choice inherits the bias.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72200" y="1371600"/>
            <a:ext cx="5440680" cy="2286000"/>
          </a:xfrm>
          <a:prstGeom prst="roundRect">
            <a:avLst>
              <a:gd name="adj" fmla="val 4000"/>
            </a:avLst>
          </a:prstGeom>
          <a:solidFill>
            <a:srgbClr val="DCEBE3"/>
          </a:solidFill>
          <a:ln w="12700">
            <a:solidFill>
              <a:srgbClr val="DCEBE3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6355080" y="1481328"/>
            <a:ext cx="5074920" cy="206654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4F7F6E"/>
                </a:solidFill>
              </a:rPr>
              <a:t>Subject-aware grouped split (15% val)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F3E3A"/>
                </a:solidFill>
              </a:rPr>
              <a:t>All variants of one source image stay on the same side, stratified by label, fixed in JSON and shared across both training stages.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F3E3A"/>
                </a:solidFill>
              </a:rPr>
              <a:t>Group key raf_train_00012 also covers raf_train_00012_surgical.jpg. Split file data/splits/val_groups_r15_s42.json; the code asserts zero shared groups.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88620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DCEBE3"/>
          </a:solidFill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548640" y="3959352"/>
            <a:ext cx="3566160" cy="8001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F7F6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4718304"/>
            <a:ext cx="3291840" cy="70408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F3E3A"/>
                </a:solidFill>
              </a:rPr>
              <a:t>test_masked images leaked from train (1,973/1,975 trace to test)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97680" y="388620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DCEBE3"/>
          </a:solidFill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4297680" y="3959352"/>
            <a:ext cx="3566160" cy="8001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F7F6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4718304"/>
            <a:ext cx="3291840" cy="70408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F3E3A"/>
                </a:solidFill>
              </a:rPr>
              <a:t>source images shared between Train (17,099) and Val (3,002)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46720" y="3886200"/>
            <a:ext cx="3566160" cy="1600200"/>
          </a:xfrm>
          <a:prstGeom prst="roundRect">
            <a:avLst>
              <a:gd name="adj" fmla="val 5714"/>
            </a:avLst>
          </a:prstGeom>
          <a:solidFill>
            <a:srgbClr val="FBEAE3"/>
          </a:solidFill>
        </p:spPr>
        <p:txBody>
          <a:bodyPr/>
          <a:p/>
        </p:txBody>
      </p:sp>
      <p:sp>
        <p:nvSpPr>
          <p:cNvPr id="15" name="Text 13"/>
          <p:cNvSpPr txBox="1"/>
          <p:nvPr/>
        </p:nvSpPr>
        <p:spPr>
          <a:xfrm>
            <a:off x="8046720" y="3959352"/>
            <a:ext cx="3566160" cy="8001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560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1.6%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8183880" y="4718304"/>
            <a:ext cx="3291840" cy="70408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F3E3A"/>
                </a:solidFill>
              </a:rPr>
              <a:t>test images (49) share a person with train, a property of the official RAF-DB split; removing them changes accuracy by ~0.1–0.2 pts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56F"/>
                </a:solidFill>
              </a:rPr>
              <a:t>Audit: scripts/check_leakage.py (perceptual hash + pixel correlation) → output/leakage_report.txt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66756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1344168" y="320040"/>
            <a:ext cx="9509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3E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Multi-face detection &amp; 5-landmark alignment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0" cy="4846320"/>
          </a:xfrm>
          <a:prstGeom prst="roundRect">
            <a:avLst>
              <a:gd name="adj" fmla="val 2264"/>
            </a:avLst>
          </a:prstGeom>
          <a:solidFill>
            <a:srgbClr val="DCEBE3">
              <a:alpha val="50000"/>
            </a:srgbClr>
          </a:solidFill>
          <a:ln w="15875">
            <a:solidFill>
              <a:srgbClr val="4F7F6E"/>
            </a:solidFill>
            <a:prstDash val="dash"/>
          </a:ln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6400800" y="1371600"/>
            <a:ext cx="5212080" cy="30175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F3E3A"/>
                </a:solidFill>
              </a:rPr>
              <a:t>OpenCV YuNet detects every face with 5 landmarks, even with masks or tilted poses.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F3E3A"/>
                </a:solidFill>
              </a:rPr>
              <a:t>A similarity transform rotates, scales and shifts the 5 points onto the standard RAF-DB template.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F3E3A"/>
                </a:solidFill>
              </a:rPr>
              <a:t>Detect on a 640px frame, align on the original frame to keep detail.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F3E3A"/>
                </a:solidFill>
              </a:rPr>
              <a:t>Webcam crops share the same spatial distribution as the training data.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F3E3A"/>
                </a:solidFill>
              </a:rPr>
              <a:t>LMedS fit tolerates a wrong landmark, e.g. mouth corners hidden by a mask.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0" y="466344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FBEAE3"/>
          </a:solidFill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400800" y="4736592"/>
            <a:ext cx="24688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560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~5–7 ms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5471770"/>
            <a:ext cx="2194560" cy="683971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F3E3A"/>
                </a:solidFill>
              </a:rPr>
              <a:t>detect + align per frame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144000" y="466344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DCEBE3"/>
          </a:solidFill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9144000" y="4736592"/>
            <a:ext cx="24688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F7F6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σ ≈ 0.03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9281160" y="5471770"/>
            <a:ext cx="2194560" cy="683971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F3E3A"/>
                </a:solidFill>
              </a:rPr>
              <a:t>template std, measured on ~1,000 test images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66756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26" name="YuNet alignment demo" descr="deck_yunet_alignmen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5276561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1344168" y="320040"/>
            <a:ext cx="9509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3E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Face-pretrained backbone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822960" y="3232150"/>
            <a:ext cx="5120640" cy="1243965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CEBE3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1005840" y="3436620"/>
            <a:ext cx="4754880" cy="941705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4F7F6E"/>
                </a:solidFill>
              </a:rPr>
              <a:t>ImageNet (the usual choice)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F3E3A"/>
                </a:solidFill>
              </a:rPr>
              <a:t>Learns dogs, cats and cars; no awareness of facial Action Units.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605270" y="3223260"/>
            <a:ext cx="5120640" cy="1257300"/>
          </a:xfrm>
          <a:prstGeom prst="roundRect">
            <a:avLst>
              <a:gd name="adj" fmla="val 6250"/>
            </a:avLst>
          </a:prstGeom>
          <a:solidFill>
            <a:srgbClr val="DCEBE3"/>
          </a:solidFill>
          <a:ln w="12700">
            <a:solidFill>
              <a:srgbClr val="DCEBE3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720840" y="3442335"/>
            <a:ext cx="4754880" cy="98679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4F7F6E"/>
                </a:solidFill>
              </a:rPr>
              <a:t>HSEmotion EfficientNet-B0 ⭐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F3E3A"/>
                </a:solidFill>
              </a:rPr>
              <a:t>Pretrained on VGGFace2 (identity), then AffectNet (emotion); 7-class head, contempt removed.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66344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FBEAE3"/>
          </a:solidFill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548640" y="4736592"/>
            <a:ext cx="35661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560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~4M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5471770"/>
            <a:ext cx="3291840" cy="683971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F3E3A"/>
                </a:solidFill>
              </a:rPr>
              <a:t>parameters, light enough for real time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297680" y="466344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DCEBE3"/>
          </a:solidFill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4297680" y="4736592"/>
            <a:ext cx="35661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F7F6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7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4434840" y="5328895"/>
            <a:ext cx="3291840" cy="683971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F3E3A"/>
                </a:solidFill>
              </a:rPr>
              <a:t>emotion classes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046720" y="4663440"/>
            <a:ext cx="3566160" cy="1554480"/>
          </a:xfrm>
          <a:prstGeom prst="roundRect">
            <a:avLst>
              <a:gd name="adj" fmla="val 5882"/>
            </a:avLst>
          </a:prstGeom>
          <a:solidFill>
            <a:srgbClr val="FBEAE3"/>
          </a:solidFill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8046720" y="4736592"/>
            <a:ext cx="356616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560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89.15%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8183880" y="5471770"/>
            <a:ext cx="3291840" cy="683971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F3E3A"/>
                </a:solidFill>
              </a:rPr>
              <a:t>accuracy on RAF-DB test (F1 0.833)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66756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147445"/>
            <a:ext cx="10280650" cy="20040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1344168" y="320040"/>
            <a:ext cx="9509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3E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Two-stage transfer learning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3154680" cy="1463040"/>
          </a:xfrm>
          <a:prstGeom prst="roundRect">
            <a:avLst>
              <a:gd name="adj" fmla="val 6250"/>
            </a:avLst>
          </a:prstGeom>
          <a:solidFill>
            <a:srgbClr val="FBEAE3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F3E3A"/>
                </a:solidFill>
              </a:rPr>
              <a:t>Stage 1 · Original RAF-DB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F3E3A"/>
                </a:solidFill>
              </a:rPr>
              <a:t>1 epoch head warmup → 25 epochs fine-tune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776472" y="1965960"/>
            <a:ext cx="676656" cy="274320"/>
          </a:xfrm>
          <a:prstGeom prst="rightArrow">
            <a:avLst/>
          </a:prstGeom>
          <a:solidFill>
            <a:srgbClr val="4F7F6E"/>
          </a:solidFill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4526280" y="1371600"/>
            <a:ext cx="3154680" cy="1463040"/>
          </a:xfrm>
          <a:prstGeom prst="roundRect">
            <a:avLst>
              <a:gd name="adj" fmla="val 6250"/>
            </a:avLst>
          </a:prstGeom>
          <a:solidFill>
            <a:srgbClr val="DCEBE3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F3E3A"/>
                </a:solidFill>
              </a:rPr>
              <a:t>Stage 2 · Mask-Aware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F3E3A"/>
                </a:solidFill>
              </a:rPr>
              <a:t>Init from Stage 1 → 20 epochs on original + masked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54112" y="1965960"/>
            <a:ext cx="676656" cy="274320"/>
          </a:xfrm>
          <a:prstGeom prst="rightArrow">
            <a:avLst/>
          </a:prstGeom>
          <a:solidFill>
            <a:srgbClr val="4F7F6E"/>
          </a:solidFill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8503920" y="1371600"/>
            <a:ext cx="3154680" cy="1463040"/>
          </a:xfrm>
          <a:prstGeom prst="roundRect">
            <a:avLst>
              <a:gd name="adj" fmla="val 6250"/>
            </a:avLst>
          </a:prstGeom>
          <a:solidFill>
            <a:srgbClr val="FBEAE3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F3E3A"/>
                </a:solidFill>
              </a:rPr>
              <a:t>Checkpoint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F3E3A"/>
                </a:solidFill>
              </a:rPr>
              <a:t>best_model_mask_aware.pth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1546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7F6E"/>
                </a:solidFill>
              </a:rPr>
              <a:t>Regularization and class-imbalance techniques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657600"/>
            <a:ext cx="2606040" cy="685800"/>
          </a:xfrm>
          <a:prstGeom prst="roundRect">
            <a:avLst>
              <a:gd name="adj" fmla="val 13333"/>
            </a:avLst>
          </a:prstGeom>
          <a:solidFill>
            <a:srgbClr val="FBEAE3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F3E3A"/>
                </a:solidFill>
              </a:rPr>
              <a:t>LowerFaceOcclusion p = 0.3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3657600"/>
            <a:ext cx="2606040" cy="685800"/>
          </a:xfrm>
          <a:prstGeom prst="roundRect">
            <a:avLst>
              <a:gd name="adj" fmla="val 13333"/>
            </a:avLst>
          </a:prstGeom>
          <a:solidFill>
            <a:srgbClr val="DCEBE3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F3E3A"/>
                </a:solidFill>
              </a:rPr>
              <a:t>Mixup α=0.2 · CutMix α=1.0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3657600"/>
            <a:ext cx="2606040" cy="685800"/>
          </a:xfrm>
          <a:prstGeom prst="roundRect">
            <a:avLst>
              <a:gd name="adj" fmla="val 13333"/>
            </a:avLst>
          </a:prstGeom>
          <a:solidFill>
            <a:srgbClr val="FBEAE3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F3E3A"/>
                </a:solidFill>
              </a:rPr>
              <a:t>Label smoothing 0.1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3657600"/>
            <a:ext cx="2606040" cy="685800"/>
          </a:xfrm>
          <a:prstGeom prst="roundRect">
            <a:avLst>
              <a:gd name="adj" fmla="val 13333"/>
            </a:avLst>
          </a:prstGeom>
          <a:solidFill>
            <a:srgbClr val="DCEBE3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F3E3A"/>
                </a:solidFill>
              </a:rPr>
              <a:t>EMA decay 0.998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526280"/>
            <a:ext cx="2606040" cy="685800"/>
          </a:xfrm>
          <a:prstGeom prst="roundRect">
            <a:avLst>
              <a:gd name="adj" fmla="val 13333"/>
            </a:avLst>
          </a:prstGeom>
          <a:solidFill>
            <a:srgbClr val="FBEAE3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F3E3A"/>
                </a:solidFill>
              </a:rPr>
              <a:t>AdamW · warmup + cosine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337560" y="4526280"/>
            <a:ext cx="2606040" cy="685800"/>
          </a:xfrm>
          <a:prstGeom prst="roundRect">
            <a:avLst>
              <a:gd name="adj" fmla="val 13333"/>
            </a:avLst>
          </a:prstGeom>
          <a:solidFill>
            <a:srgbClr val="DCEBE3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F3E3A"/>
                </a:solidFill>
              </a:rPr>
              <a:t>LR backbone 1e-4 / head 1e-3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126480" y="4526280"/>
            <a:ext cx="2606040" cy="685800"/>
          </a:xfrm>
          <a:prstGeom prst="roundRect">
            <a:avLst>
              <a:gd name="adj" fmla="val 13333"/>
            </a:avLst>
          </a:prstGeom>
          <a:solidFill>
            <a:srgbClr val="FBEAE3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F3E3A"/>
                </a:solidFill>
              </a:rPr>
              <a:t>Logit-Adjusted loss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915400" y="4526280"/>
            <a:ext cx="2606040" cy="685800"/>
          </a:xfrm>
          <a:prstGeom prst="roundRect">
            <a:avLst>
              <a:gd name="adj" fmla="val 13333"/>
            </a:avLst>
          </a:prstGeom>
          <a:solidFill>
            <a:srgbClr val="DCEBE3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F3E3A"/>
                </a:solidFill>
              </a:rPr>
              <a:t>PyTorch AMP (training)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66756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1344168" y="320040"/>
            <a:ext cx="9509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3E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Post-training prior-bias calibration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486400" cy="2103120"/>
          </a:xfrm>
          <a:prstGeom prst="roundRect">
            <a:avLst>
              <a:gd name="adj" fmla="val 4348"/>
            </a:avLst>
          </a:prstGeom>
          <a:solidFill>
            <a:srgbClr val="FBEAE3"/>
          </a:solidFill>
          <a:ln w="12700">
            <a:solidFill>
              <a:srgbClr val="DCEBE3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31520" y="1481328"/>
            <a:ext cx="5120640" cy="18836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4F7F6E"/>
                </a:solidFill>
              </a:rPr>
              <a:t>Problem: class imbalance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F3E3A"/>
                </a:solidFill>
              </a:rPr>
              <a:t>RAF-DB: happy 4,772 images vs fear 281. Logit-Adjusted loss helps rare classes but makes the model over-predict fear and disgust (high recall, low precision).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F3E3A"/>
                </a:solidFill>
              </a:rPr>
              <a:t>Raw logits (RAF-DB model, unmasked test): fear recall 0.78 but precision only 0.32.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657600"/>
            <a:ext cx="5486400" cy="2377440"/>
          </a:xfrm>
          <a:prstGeom prst="roundRect">
            <a:avLst>
              <a:gd name="adj" fmla="val 3846"/>
            </a:avLst>
          </a:prstGeom>
          <a:solidFill>
            <a:srgbClr val="DCEBE3"/>
          </a:solidFill>
          <a:ln w="12700">
            <a:solidFill>
              <a:srgbClr val="DCEBE3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731520" y="3767328"/>
            <a:ext cx="5120640" cy="215798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4F7F6E"/>
                </a:solidFill>
              </a:rPr>
              <a:t>Solution: src/calibrate.py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F3E3A"/>
                </a:solidFill>
              </a:rPr>
              <a:t>Pick t on the Val set so that argmax(logits + t·log π) maximizes Macro F1: t = 0.85 (Mask-Aware), t = 0.70 (RAF-DB). Never touches the Test set; stored in the checkpoint.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F3E3A"/>
                </a:solidFill>
              </a:rPr>
              <a:t>Check: the best t on the masked test set would be 1.0 (F1 0.713) vs 0.708 at t* = 0.85, so the value picked on Val generalizes.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0" y="1371600"/>
            <a:ext cx="5212080" cy="2743200"/>
          </a:xfrm>
          <a:prstGeom prst="roundRect">
            <a:avLst>
              <a:gd name="adj" fmla="val 4000"/>
            </a:avLst>
          </a:prstGeom>
          <a:solidFill>
            <a:srgbClr val="DCEBE3">
              <a:alpha val="50000"/>
            </a:srgbClr>
          </a:solidFill>
          <a:ln w="15875">
            <a:solidFill>
              <a:srgbClr val="4F7F6E"/>
            </a:solidFill>
            <a:prstDash val="dash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400800" y="43891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FBEAE3"/>
          </a:solidFill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400800" y="4462272"/>
            <a:ext cx="2514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560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+5.09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5244998"/>
            <a:ext cx="2240280" cy="72420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F3E3A"/>
                </a:solidFill>
              </a:rPr>
              <a:t>pts accuracy on Val (79.55% → 84.64%)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98280" y="43891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DCEBE3"/>
          </a:solidFill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9098280" y="4462272"/>
            <a:ext cx="25146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F7F6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+0.061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9235440" y="5244998"/>
            <a:ext cx="2240280" cy="72420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F3E3A"/>
                </a:solidFill>
              </a:rPr>
              <a:t>Macro F1 on Val (0.7109 → 0.7721)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66756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26" name="t sweep on validation" descr="deck_t_sweep_v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280160"/>
            <a:ext cx="5120640" cy="293190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1344168" y="320040"/>
            <a:ext cx="9509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3E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Results: +22.68 points on masked faces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/>
        </p:nvGraphicFramePr>
        <p:xfrm>
          <a:off x="548640" y="1371600"/>
          <a:ext cx="7772400" cy="2926080"/>
        </p:xfrm>
        <a:graphic>
          <a:graphicData uri="http://schemas.openxmlformats.org/drawingml/2006/table">
            <a:tbl>
              <a:tblPr/>
              <a:tblGrid>
                <a:gridCol w="2560320"/>
                <a:gridCol w="1737360"/>
                <a:gridCol w="1737360"/>
                <a:gridCol w="1737360"/>
              </a:tblGrid>
              <a:tr h="7315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CE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7F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Unmasked</a:t>
                      </a:r>
                      <a:endParaRPr lang="en-US" sz="1400" dirty="0"/>
                    </a:p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3,068 images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CE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7F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Masked</a:t>
                      </a:r>
                      <a:endParaRPr lang="en-US" sz="1400" dirty="0"/>
                    </a:p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1,975 images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CE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7F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Combined</a:t>
                      </a:r>
                      <a:endParaRPr lang="en-US" sz="1400" dirty="0"/>
                    </a:p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5,043 images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CE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7F6E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F3E3A"/>
                          </a:solidFill>
                        </a:rPr>
                        <a:t>MobileNetV3 (old pipeline)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CE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3A"/>
                          </a:solidFill>
                        </a:rPr>
                        <a:t>79.86%</a:t>
                      </a:r>
                      <a:endParaRPr lang="en-US" sz="1400" dirty="0"/>
                    </a:p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3A"/>
                          </a:solidFill>
                        </a:rPr>
                        <a:t>F1 0.718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CE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3A"/>
                          </a:solidFill>
                        </a:rPr>
                        <a:t>73.27%</a:t>
                      </a:r>
                      <a:endParaRPr lang="en-US" sz="1400" dirty="0"/>
                    </a:p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3A"/>
                          </a:solidFill>
                        </a:rPr>
                        <a:t>F1 0.628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CE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3A"/>
                          </a:solidFill>
                        </a:rPr>
                        <a:t>77.28%</a:t>
                      </a:r>
                      <a:endParaRPr lang="en-US" sz="1400" dirty="0"/>
                    </a:p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3A"/>
                          </a:solidFill>
                        </a:rPr>
                        <a:t>F1 0.684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CE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F3E3A"/>
                          </a:solidFill>
                        </a:rPr>
                        <a:t>HSEmotion-B0 (RAF-DB only)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CE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3A"/>
                          </a:solidFill>
                        </a:rPr>
                        <a:t>89.15%</a:t>
                      </a:r>
                      <a:endParaRPr lang="en-US" sz="1400" dirty="0"/>
                    </a:p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3A"/>
                          </a:solidFill>
                        </a:rPr>
                        <a:t>F1 0.833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CE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3A"/>
                          </a:solidFill>
                        </a:rPr>
                        <a:t>56.61%</a:t>
                      </a:r>
                      <a:endParaRPr lang="en-US" sz="1400" dirty="0"/>
                    </a:p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3A"/>
                          </a:solidFill>
                        </a:rPr>
                        <a:t>F1 0.534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CE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3A"/>
                          </a:solidFill>
                        </a:rPr>
                        <a:t>76.40%</a:t>
                      </a:r>
                      <a:endParaRPr lang="en-US" sz="1400" dirty="0"/>
                    </a:p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F3E3A"/>
                          </a:solidFill>
                        </a:rPr>
                        <a:t>F1 0.725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CE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2F3E3A"/>
                          </a:solidFill>
                        </a:rPr>
                        <a:t>HSEmotion-B0 Mask-Aware ⭐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CE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3A"/>
                          </a:solidFill>
                        </a:rPr>
                        <a:t>88.43%</a:t>
                      </a:r>
                      <a:endParaRPr lang="en-US" sz="1400" dirty="0"/>
                    </a:p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3A"/>
                          </a:solidFill>
                        </a:rPr>
                        <a:t>F1 0.822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CE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3A"/>
                          </a:solidFill>
                        </a:rPr>
                        <a:t>79.29%</a:t>
                      </a:r>
                      <a:endParaRPr lang="en-US" sz="1400" dirty="0"/>
                    </a:p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3A"/>
                          </a:solidFill>
                        </a:rPr>
                        <a:t>F1 0.708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CE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3A"/>
                          </a:solidFill>
                        </a:rPr>
                        <a:t>84.85%</a:t>
                      </a:r>
                      <a:endParaRPr lang="en-US" sz="1400" dirty="0"/>
                    </a:p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F3E3A"/>
                          </a:solidFill>
                        </a:rPr>
                        <a:t>F1 0.779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DCE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B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AE3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686800" y="1371600"/>
            <a:ext cx="2926080" cy="1463040"/>
          </a:xfrm>
          <a:prstGeom prst="roundRect">
            <a:avLst>
              <a:gd name="adj" fmla="val 6250"/>
            </a:avLst>
          </a:prstGeom>
          <a:solidFill>
            <a:srgbClr val="FBEAE3"/>
          </a:solidFill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8686800" y="1444752"/>
            <a:ext cx="29260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560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+22.68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8823960" y="2132381"/>
            <a:ext cx="2651760" cy="64373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F3E3A"/>
                </a:solidFill>
              </a:rPr>
              <a:t>pts accuracy on masked faces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8686800" y="3017520"/>
            <a:ext cx="2926080" cy="1463040"/>
          </a:xfrm>
          <a:prstGeom prst="roundRect">
            <a:avLst>
              <a:gd name="adj" fmla="val 6250"/>
            </a:avLst>
          </a:prstGeom>
          <a:solidFill>
            <a:srgbClr val="DCEBE3"/>
          </a:solidFill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8686800" y="3090672"/>
            <a:ext cx="292608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F7F6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+0.174</a:t>
            </a:r>
            <a:endParaRPr lang="en-US" sz="3000" dirty="0"/>
          </a:p>
        </p:txBody>
      </p:sp>
      <p:sp>
        <p:nvSpPr>
          <p:cNvPr id="4" name="Text 7"/>
          <p:cNvSpPr txBox="1"/>
          <p:nvPr/>
        </p:nvSpPr>
        <p:spPr>
          <a:xfrm>
            <a:off x="8823960" y="3778301"/>
            <a:ext cx="2651760" cy="64373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F3E3A"/>
                </a:solidFill>
              </a:rPr>
              <a:t>Macro F1 on masked faces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4480560"/>
            <a:ext cx="77724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6756F"/>
                </a:solidFill>
              </a:rPr>
              <a:t>fp32 · horizontal-flip TTA · prior-bias chosen on Val · official RAF-DB test split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66756F"/>
                </a:solidFill>
              </a:rPr>
              <a:t>MobileNetV3 row: old pipeline with a leaky val split, not the same protocol (reference only)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120640"/>
            <a:ext cx="11064240" cy="822960"/>
          </a:xfrm>
          <a:prstGeom prst="roundRect">
            <a:avLst>
              <a:gd name="adj" fmla="val 11111"/>
            </a:avLst>
          </a:prstGeom>
          <a:solidFill>
            <a:srgbClr val="DCEBE3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F3E3A"/>
                </a:solidFill>
              </a:rPr>
              <a:t>Minimal trade-off: unmasked accuracy drops only 0.72 pts (89.15% → 88.43%), combined improves +8.45 pts over the RAF-DB-only model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66756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1344168" y="320040"/>
            <a:ext cx="9509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3E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Per-emotion analysis on masked faces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1592580" y="1371600"/>
          <a:ext cx="8175625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66756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1344168" y="320040"/>
            <a:ext cx="9509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3E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Where the errors go on masked faces</a:t>
            </a:r>
            <a:endParaRPr lang="en-US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66756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26" name="Confusion matrices masked" descr="deck_confusion_mask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325" y="1188720"/>
            <a:ext cx="10043044" cy="443484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48640" y="5715000"/>
            <a:ext cx="1106424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sz="1400" b="0">
                <a:solidFill>
                  <a:srgbClr val="2F3E3A"/>
                </a:solidFill>
                <a:latin typeface="Calibri"/>
              </a:rPr>
              <a:t>Row-normalized, masked test (1,975 images). The RAF-DB-only model sends 48% of happy faces to neutral; Mask-Aware: 9%. Remaining errors follow anatomy: fear → surprise 29% (both raise brows and widen eyes).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1344168" y="320040"/>
            <a:ext cx="9509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3E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Ablation: what post-processing adds (Mask-Aware)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371600"/>
          <a:ext cx="658368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371600"/>
            <a:ext cx="4114800" cy="1554480"/>
          </a:xfrm>
          <a:prstGeom prst="roundRect">
            <a:avLst>
              <a:gd name="adj" fmla="val 5882"/>
            </a:avLst>
          </a:prstGeom>
          <a:solidFill>
            <a:srgbClr val="FBEAE3"/>
          </a:solidFill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7498080" y="1444752"/>
            <a:ext cx="41148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560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+4.7 / +6.5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7635240" y="2179930"/>
            <a:ext cx="3840480" cy="683971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F3E3A"/>
                </a:solidFill>
              </a:rPr>
              <a:t>pts from prior-bias (unmasked / masked)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498080" y="3108960"/>
            <a:ext cx="4114800" cy="1554480"/>
          </a:xfrm>
          <a:prstGeom prst="roundRect">
            <a:avLst>
              <a:gd name="adj" fmla="val 5882"/>
            </a:avLst>
          </a:prstGeom>
          <a:solidFill>
            <a:srgbClr val="DCEBE3"/>
          </a:solidFill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7498080" y="3182112"/>
            <a:ext cx="411480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F7F6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≈ 0</a:t>
            </a:r>
            <a:endParaRPr lang="en-US" sz="3000" dirty="0"/>
          </a:p>
        </p:txBody>
      </p:sp>
      <p:sp>
        <p:nvSpPr>
          <p:cNvPr id="10" name="Text 7"/>
          <p:cNvSpPr txBox="1"/>
          <p:nvPr/>
        </p:nvSpPr>
        <p:spPr>
          <a:xfrm>
            <a:off x="7635240" y="3917290"/>
            <a:ext cx="3840480" cy="683971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F3E3A"/>
                </a:solidFill>
              </a:rPr>
              <a:t>pts from flip TTA (+0.36 / −0.05)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498080" y="4937760"/>
            <a:ext cx="4114800" cy="11887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0" dirty="0">
                <a:solidFill>
                  <a:srgbClr val="2F3E3A"/>
                </a:solidFill>
              </a:rPr>
              <a:t>Masked data + occlusion: +22.68 pts on masked faces (slide 9). YuNet alignment is not in this table: RAF-DB test images are already aligned.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66756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1344168" y="320040"/>
            <a:ext cx="9509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3E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XAI: Grad-CAM and the attention shift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5029200"/>
            <a:ext cx="11064240" cy="5486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F3E3A"/>
                </a:solidFill>
              </a:rPr>
              <a:t>Real outputs on RAF-DB test images (heatmap for the true label). Without a mask both models use the mouth; with a mask, Mask-Aware concentrates on eyes and brows.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669280"/>
            <a:ext cx="11064240" cy="594360"/>
          </a:xfrm>
          <a:prstGeom prst="roundRect">
            <a:avLst>
              <a:gd name="adj" fmla="val 15385"/>
            </a:avLst>
          </a:prstGeom>
          <a:solidFill>
            <a:srgbClr val="4F7F6E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Grad-CAM from bn2 (1280×7×7). The RAF-DB-only model also looks up (42% → 55%) but stays diffuse and falls back to neutral.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66756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26" name="Grad-CAM real examples" descr="deck_gradcam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88720"/>
            <a:ext cx="8138160" cy="3812660"/>
          </a:xfrm>
          <a:prstGeom prst="rect">
            <a:avLst/>
          </a:prstGeom>
        </p:spPr>
      </p:pic>
      <p:sp>
        <p:nvSpPr>
          <p:cNvPr id="27" name="Shape 2"/>
          <p:cNvSpPr/>
          <p:nvPr/>
        </p:nvSpPr>
        <p:spPr>
          <a:xfrm>
            <a:off x="8915400" y="123444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FBEAE3"/>
          </a:solidFill>
        </p:spPr>
        <p:txBody>
          <a:bodyPr/>
          <a:p/>
        </p:txBody>
      </p:sp>
      <p:sp>
        <p:nvSpPr>
          <p:cNvPr id="28" name="Text 3"/>
          <p:cNvSpPr txBox="1"/>
          <p:nvPr/>
        </p:nvSpPr>
        <p:spPr>
          <a:xfrm>
            <a:off x="8915400" y="1307592"/>
            <a:ext cx="26974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560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47% → 58%</a:t>
            </a:r>
            <a:endParaRPr lang="en-US" sz="3000" dirty="0"/>
          </a:p>
        </p:txBody>
      </p:sp>
      <p:sp>
        <p:nvSpPr>
          <p:cNvPr id="29" name="Text 4"/>
          <p:cNvSpPr txBox="1"/>
          <p:nvPr/>
        </p:nvSpPr>
        <p:spPr>
          <a:xfrm>
            <a:off x="9052560" y="2042770"/>
            <a:ext cx="242316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F3E3A"/>
                </a:solidFill>
              </a:rPr>
              <a:t>Grad-CAM energy above the mask line, Mask-Aware (1,975 pairs)</a:t>
            </a:r>
            <a:endParaRPr lang="en-US" sz="1300" dirty="0"/>
          </a:p>
        </p:txBody>
      </p:sp>
      <p:sp>
        <p:nvSpPr>
          <p:cNvPr id="30" name="Shape 5"/>
          <p:cNvSpPr/>
          <p:nvPr/>
        </p:nvSpPr>
        <p:spPr>
          <a:xfrm>
            <a:off x="8915400" y="3063240"/>
            <a:ext cx="2697480" cy="1554480"/>
          </a:xfrm>
          <a:prstGeom prst="roundRect">
            <a:avLst>
              <a:gd name="adj" fmla="val 5882"/>
            </a:avLst>
          </a:prstGeom>
          <a:solidFill>
            <a:srgbClr val="DCEBE3"/>
          </a:solidFill>
        </p:spPr>
        <p:txBody>
          <a:bodyPr/>
          <a:p/>
        </p:txBody>
      </p:sp>
      <p:sp>
        <p:nvSpPr>
          <p:cNvPr id="31" name="Text 6"/>
          <p:cNvSpPr txBox="1"/>
          <p:nvPr/>
        </p:nvSpPr>
        <p:spPr>
          <a:xfrm>
            <a:off x="8915400" y="3136392"/>
            <a:ext cx="269748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F7F6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48% → 9%</a:t>
            </a:r>
            <a:endParaRPr lang="en-US" sz="3000" dirty="0"/>
          </a:p>
        </p:txBody>
      </p:sp>
      <p:sp>
        <p:nvSpPr>
          <p:cNvPr id="32" name="Text 7"/>
          <p:cNvSpPr txBox="1"/>
          <p:nvPr/>
        </p:nvSpPr>
        <p:spPr>
          <a:xfrm>
            <a:off x="9052560" y="3871570"/>
            <a:ext cx="2423160" cy="82296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F3E3A"/>
                </a:solidFill>
              </a:rPr>
              <a:t>masked happy faces predicted neutral (RAF-DB-only → Mask-Aware)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1344168" y="320040"/>
            <a:ext cx="9509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3E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Real-time: IoU tracker + EMA smoothing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861695" y="4480560"/>
            <a:ext cx="5131435" cy="1755775"/>
          </a:xfrm>
          <a:prstGeom prst="roundRect">
            <a:avLst>
              <a:gd name="adj" fmla="val 5556"/>
            </a:avLst>
          </a:prstGeom>
          <a:solidFill>
            <a:srgbClr val="FBEAE3"/>
          </a:solidFill>
          <a:ln w="12700">
            <a:solidFill>
              <a:srgbClr val="DCEBE3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1152525" y="4590288"/>
            <a:ext cx="4754880" cy="142646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4F7F6E"/>
                </a:solidFill>
              </a:rPr>
              <a:t>Temporal smoothing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F3E3A"/>
                </a:solidFill>
              </a:rPr>
              <a:t>P_smooth = (1 − α)·P_old + α·P_new, with α = 0.4. Each face keeps a stable Track ID.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F3E3A"/>
                </a:solidFill>
              </a:rPr>
              <a:t>Effective memory ≈ 2–3 frames, so the label reacts within ~0.1 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492240" y="4480560"/>
            <a:ext cx="5120640" cy="1737360"/>
          </a:xfrm>
          <a:prstGeom prst="roundRect">
            <a:avLst>
              <a:gd name="adj" fmla="val 5263"/>
            </a:avLst>
          </a:prstGeom>
          <a:solidFill>
            <a:srgbClr val="DCEBE3"/>
          </a:solidFill>
          <a:ln w="12700">
            <a:solidFill>
              <a:srgbClr val="DCEBE3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6675120" y="4590288"/>
            <a:ext cx="4754880" cy="15179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4F7F6E"/>
                </a:solidFill>
              </a:rPr>
              <a:t>Temporary loss of a face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F3E3A"/>
                </a:solidFill>
              </a:rPr>
              <a:t>Keeps the ID for up to 10 frames (~0.3 s); re-matches at IoU ≥ 0.3 and keeps the smoothed probabilities.</a:t>
            </a:r>
            <a:endParaRPr lang="en-US" sz="16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400" dirty="0">
                <a:solidFill>
                  <a:srgbClr val="2F3E3A"/>
                </a:solidFill>
              </a:rPr>
              <a:t>Greedy IoU matching, O(M·N): enough for ≤ 5 faces, no Kalman filter needed.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66756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7550" y="1438275"/>
            <a:ext cx="10757535" cy="285686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1344168" y="320040"/>
            <a:ext cx="9509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3E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Real-time performance (Apple M1, MPS)</a:t>
            </a:r>
            <a:endParaRPr lang="en-US" sz="28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371600"/>
          <a:ext cx="676656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680960" y="1371600"/>
            <a:ext cx="3931920" cy="1463040"/>
          </a:xfrm>
          <a:prstGeom prst="roundRect">
            <a:avLst>
              <a:gd name="adj" fmla="val 6250"/>
            </a:avLst>
          </a:prstGeom>
          <a:solidFill>
            <a:srgbClr val="FBEAE3"/>
          </a:solidFill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7680960" y="1444752"/>
            <a:ext cx="393192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560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55.0 → 37.4</a:t>
            </a:r>
            <a:endParaRPr lang="en-US" sz="3000" dirty="0"/>
          </a:p>
        </p:txBody>
      </p:sp>
      <p:sp>
        <p:nvSpPr>
          <p:cNvPr id="7" name="Text 4"/>
          <p:cNvSpPr txBox="1"/>
          <p:nvPr/>
        </p:nvSpPr>
        <p:spPr>
          <a:xfrm>
            <a:off x="7818120" y="2132381"/>
            <a:ext cx="3657600" cy="64373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F3E3A"/>
                </a:solidFill>
              </a:rPr>
              <a:t>FPS, 1 face: Grad-CAM off → on (recomputed every 10 frames)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680960" y="3200400"/>
            <a:ext cx="3931920" cy="2926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F3E3A"/>
                </a:solidFill>
              </a:rPr>
              <a:t>TTA off for webcam: accuracy stays 88.43%, F1 0.822 → 0.818.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F3E3A"/>
                </a:solidFill>
              </a:rPr>
              <a:t>Grad-CAM adds ~8 ms per frame on average (≈80 ms per refresh ÷ 10 frames).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F3E3A"/>
                </a:solidFill>
              </a:rPr>
              <a:t>Synthetic 1280×720 frames with RAF-DB faces, Apple M1 GPU (MPS); real webcam not yet measured.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66756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1344168" y="320040"/>
            <a:ext cx="9509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3E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 deployment: TorchScript + Shiny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371600"/>
            <a:ext cx="3154680" cy="1463040"/>
          </a:xfrm>
          <a:prstGeom prst="roundRect">
            <a:avLst>
              <a:gd name="adj" fmla="val 6250"/>
            </a:avLst>
          </a:prstGeom>
          <a:solidFill>
            <a:srgbClr val="FBEAE3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F3E3A"/>
                </a:solidFill>
              </a:rPr>
              <a:t>Python · training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F3E3A"/>
                </a:solidFill>
              </a:rPr>
              <a:t>best_model_mask_aware.pth with logit_bias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776472" y="1965960"/>
            <a:ext cx="676656" cy="274320"/>
          </a:xfrm>
          <a:prstGeom prst="rightArrow">
            <a:avLst/>
          </a:prstGeom>
          <a:solidFill>
            <a:srgbClr val="4F7F6E"/>
          </a:solidFill>
        </p:spPr>
        <p:txBody>
          <a:bodyPr/>
          <a:p/>
        </p:txBody>
      </p:sp>
      <p:sp>
        <p:nvSpPr>
          <p:cNvPr id="6" name="Text 4"/>
          <p:cNvSpPr txBox="1"/>
          <p:nvPr/>
        </p:nvSpPr>
        <p:spPr>
          <a:xfrm>
            <a:off x="4526280" y="1371600"/>
            <a:ext cx="3154680" cy="1463040"/>
          </a:xfrm>
          <a:prstGeom prst="roundRect">
            <a:avLst>
              <a:gd name="adj" fmla="val 6250"/>
            </a:avLst>
          </a:prstGeom>
          <a:solidFill>
            <a:srgbClr val="DCEBE3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F3E3A"/>
                </a:solidFill>
              </a:rPr>
              <a:t>scripts/export_jit.py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F3E3A"/>
                </a:solidFill>
              </a:rPr>
              <a:t>TorchScript wrapper adds logit_bias; meta JSON (classes, mean/std)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754112" y="1965960"/>
            <a:ext cx="676656" cy="274320"/>
          </a:xfrm>
          <a:prstGeom prst="rightArrow">
            <a:avLst/>
          </a:prstGeom>
          <a:solidFill>
            <a:srgbClr val="4F7F6E"/>
          </a:solidFill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8503920" y="1371600"/>
            <a:ext cx="3154680" cy="1463040"/>
          </a:xfrm>
          <a:prstGeom prst="roundRect">
            <a:avLst>
              <a:gd name="adj" fmla="val 6250"/>
            </a:avLst>
          </a:prstGeom>
          <a:solidFill>
            <a:srgbClr val="FBEAE3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F3E3A"/>
                </a:solidFill>
              </a:rPr>
              <a:t>R · torch::jit_load()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2F3E3A"/>
                </a:solidFill>
              </a:rPr>
              <a:t>LibTorch backend, no Python at inference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1546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F7F6E"/>
                </a:solidFill>
              </a:rPr>
              <a:t>R modules and verification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3657600"/>
            <a:ext cx="2606040" cy="685800"/>
          </a:xfrm>
          <a:prstGeom prst="roundRect">
            <a:avLst>
              <a:gd name="adj" fmla="val 13333"/>
            </a:avLst>
          </a:prstGeom>
          <a:solidFill>
            <a:srgbClr val="FBEAE3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F3E3A"/>
                </a:solidFill>
              </a:rPr>
              <a:t>Parity test: max diff 3e-7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337560" y="3657600"/>
            <a:ext cx="2606040" cy="685800"/>
          </a:xfrm>
          <a:prstGeom prst="roundRect">
            <a:avLst>
              <a:gd name="adj" fmla="val 13333"/>
            </a:avLst>
          </a:prstGeom>
          <a:solidFill>
            <a:srgbClr val="DCEBE3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F3E3A"/>
                </a:solidFill>
              </a:rPr>
              <a:t>Argmax match 10/10 per model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3657600"/>
            <a:ext cx="2606040" cy="685800"/>
          </a:xfrm>
          <a:prstGeom prst="roundRect">
            <a:avLst>
              <a:gd name="adj" fmla="val 13333"/>
            </a:avLst>
          </a:prstGeom>
          <a:solidFill>
            <a:srgbClr val="FBEAE3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F3E3A"/>
                </a:solidFill>
              </a:rPr>
              <a:t>R/face_detector.R · Umeyama align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915400" y="3657600"/>
            <a:ext cx="2606040" cy="685800"/>
          </a:xfrm>
          <a:prstGeom prst="roundRect">
            <a:avLst>
              <a:gd name="adj" fmla="val 13333"/>
            </a:avLst>
          </a:prstGeom>
          <a:solidFill>
            <a:srgbClr val="DCEBE3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F3E3A"/>
                </a:solidFill>
              </a:rPr>
              <a:t>R/inference.R · IoU tracker + EMA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526280"/>
            <a:ext cx="2606040" cy="685800"/>
          </a:xfrm>
          <a:prstGeom prst="roundRect">
            <a:avLst>
              <a:gd name="adj" fmla="val 13333"/>
            </a:avLst>
          </a:prstGeom>
          <a:solidFill>
            <a:srgbClr val="FBEAE3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F3E3A"/>
                </a:solidFill>
              </a:rPr>
              <a:t>R/gradcam.R · CAM math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337560" y="4526280"/>
            <a:ext cx="2606040" cy="685800"/>
          </a:xfrm>
          <a:prstGeom prst="roundRect">
            <a:avLst>
              <a:gd name="adj" fmla="val 13333"/>
            </a:avLst>
          </a:prstGeom>
          <a:solidFill>
            <a:srgbClr val="DCEBE3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F3E3A"/>
                </a:solidFill>
              </a:rPr>
              <a:t>app.R · Shiny + bslib UI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126480" y="4526280"/>
            <a:ext cx="2606040" cy="685800"/>
          </a:xfrm>
          <a:prstGeom prst="roundRect">
            <a:avLst>
              <a:gd name="adj" fmla="val 13333"/>
            </a:avLst>
          </a:prstGeom>
          <a:solidFill>
            <a:srgbClr val="FBEAE3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F3E3A"/>
                </a:solidFill>
              </a:rPr>
              <a:t>In progress: live prediction tab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8915400" y="4526280"/>
            <a:ext cx="2606040" cy="685800"/>
          </a:xfrm>
          <a:prstGeom prst="roundRect">
            <a:avLst>
              <a:gd name="adj" fmla="val 13333"/>
            </a:avLst>
          </a:prstGeom>
          <a:solidFill>
            <a:srgbClr val="DCEBE3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F3E3A"/>
                </a:solidFill>
              </a:rPr>
              <a:t>In progress: bn2 hook for Grad-CAM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66756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 idx="100" hasCustomPrompt="1"/>
          </p:nvPr>
        </p:nvSpPr>
        <p:spPr>
          <a:xfrm>
            <a:off x="1344168" y="320040"/>
            <a:ext cx="950976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3E3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Conclusion &amp; contributions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BEAE3"/>
          </a:solidFill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548640" y="1444752"/>
            <a:ext cx="265176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560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+22.7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75027"/>
            <a:ext cx="2377440" cy="76443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F3E3A"/>
                </a:solidFill>
              </a:rPr>
              <a:t>pts accuracy on masked faces (79.29%)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83280" y="137160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DCEBE3"/>
          </a:solidFill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3383280" y="1444752"/>
            <a:ext cx="265176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F7F6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275027"/>
            <a:ext cx="2377440" cy="76443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F3E3A"/>
                </a:solidFill>
              </a:rPr>
              <a:t>groups shared train/val; 0 masked test images from train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37160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FBEAE3"/>
          </a:solidFill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217920" y="1444752"/>
            <a:ext cx="265176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B5604A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84.85%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2275027"/>
            <a:ext cx="2377440" cy="76443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F3E3A"/>
                </a:solidFill>
              </a:rPr>
              <a:t>accuracy on all 5,043 test images (F1 0.779)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052560" y="1371600"/>
            <a:ext cx="2651760" cy="1737360"/>
          </a:xfrm>
          <a:prstGeom prst="roundRect">
            <a:avLst>
              <a:gd name="adj" fmla="val 5263"/>
            </a:avLst>
          </a:prstGeom>
          <a:solidFill>
            <a:srgbClr val="DCEBE3"/>
          </a:solidFill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9052560" y="1444752"/>
            <a:ext cx="265176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F7F6E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37.4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9189720" y="2275027"/>
            <a:ext cx="2377440" cy="76443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F3E3A"/>
                </a:solidFill>
              </a:rPr>
              <a:t>FPS (1 face) with Grad-CAM; 55.0 without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337560"/>
            <a:ext cx="544068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CEBE3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731520" y="3447288"/>
            <a:ext cx="5074920" cy="22494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4F7F6E"/>
                </a:solidFill>
              </a:rPr>
              <a:t>Limitations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3840480"/>
            <a:ext cx="5074920" cy="1920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F3E3A"/>
                </a:solidFill>
              </a:rPr>
              <a:t>Synthetic masks (one MaskTheFace type); no labeled real-mask test set yet.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F3E3A"/>
                </a:solidFill>
              </a:rPr>
              <a:t>Single seed; FPS only on M1 with synthetic frames.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F3E3A"/>
                </a:solidFill>
              </a:rPr>
              <a:t>Grad-CAM is coarse (7×7) and qualitative.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F3E3A"/>
                </a:solidFill>
              </a:rPr>
              <a:t>disgust and fear remain hard under masks (F1 0.47, 0.53).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72200" y="3337560"/>
            <a:ext cx="5440680" cy="2468880"/>
          </a:xfrm>
          <a:prstGeom prst="roundRect">
            <a:avLst>
              <a:gd name="adj" fmla="val 3704"/>
            </a:avLst>
          </a:prstGeom>
          <a:solidFill>
            <a:srgbClr val="DCEBE3"/>
          </a:solidFill>
          <a:ln w="12700">
            <a:solidFill>
              <a:srgbClr val="DCEBE3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 txBox="1"/>
          <p:nvPr/>
        </p:nvSpPr>
        <p:spPr>
          <a:xfrm>
            <a:off x="6355080" y="3447288"/>
            <a:ext cx="5074920" cy="224942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4F7F6E"/>
                </a:solidFill>
              </a:rPr>
              <a:t>Future work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3840480"/>
            <a:ext cx="5074920" cy="19202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F3E3A"/>
                </a:solidFill>
              </a:rPr>
              <a:t>Label real masked faces and evaluate on them.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F3E3A"/>
                </a:solidFill>
              </a:rPr>
              <a:t>Ablations: LA vs CE, occlusion on/off, several seeds.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F3E3A"/>
                </a:solidFill>
              </a:rPr>
              <a:t>Benchmark a real webcam and an NVIDIA GPU.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F3E3A"/>
                </a:solidFill>
              </a:rPr>
              <a:t>Finish live prediction and Grad-CAM in the R app.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5943600"/>
            <a:ext cx="10515600" cy="457200"/>
          </a:xfrm>
          <a:prstGeom prst="roundRect">
            <a:avLst>
              <a:gd name="adj" fmla="val 20000"/>
            </a:avLst>
          </a:prstGeom>
          <a:solidFill>
            <a:srgbClr val="4F7F6E"/>
          </a:solidFill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Thank you · Questions &amp; Answers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400800"/>
            <a:ext cx="800000" cy="300000"/>
          </a:xfrm>
          <a:prstGeom prst="rect">
            <a:avLst/>
          </a:prstGeom>
        </p:spPr>
        <p:txBody>
          <a:bodyPr/>
          <a:lstStyle>
            <a:lvl1pPr>
              <a:defRPr sz="1100">
                <a:solidFill>
                  <a:srgbClr val="66756F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XAI-FER Soft">
  <a:themeElements>
    <a:clrScheme name="XAI-FER Soft">
      <a:dk1>
        <a:srgbClr val="2F3E3A"/>
      </a:dk1>
      <a:lt1>
        <a:srgbClr val="FFFFFF"/>
      </a:lt1>
      <a:dk2>
        <a:srgbClr val="4F7F6E"/>
      </a:dk2>
      <a:lt2>
        <a:srgbClr val="F7FAF8"/>
      </a:lt2>
      <a:accent1>
        <a:srgbClr val="4F7F6E"/>
      </a:accent1>
      <a:accent2>
        <a:srgbClr val="D98B73"/>
      </a:accent2>
      <a:accent3>
        <a:srgbClr val="9DBFAF"/>
      </a:accent3>
      <a:accent4>
        <a:srgbClr val="E8C9A0"/>
      </a:accent4>
      <a:accent5>
        <a:srgbClr val="B9C9A3"/>
      </a:accent5>
      <a:accent6>
        <a:srgbClr val="C98F8F"/>
      </a:accent6>
      <a:hlink>
        <a:srgbClr val="4F7F6E"/>
      </a:hlink>
      <a:folHlink>
        <a:srgbClr val="66756F"/>
      </a:folHlink>
    </a:clrScheme>
    <a:fontScheme name="XAI-FER Sof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XAI-FER Soft">
  <a:themeElements>
    <a:clrScheme name="XAI-FER Soft">
      <a:dk1>
        <a:srgbClr val="2F3E3A"/>
      </a:dk1>
      <a:lt1>
        <a:srgbClr val="FFFFFF"/>
      </a:lt1>
      <a:dk2>
        <a:srgbClr val="4F7F6E"/>
      </a:dk2>
      <a:lt2>
        <a:srgbClr val="F7FAF8"/>
      </a:lt2>
      <a:accent1>
        <a:srgbClr val="4F7F6E"/>
      </a:accent1>
      <a:accent2>
        <a:srgbClr val="D98B73"/>
      </a:accent2>
      <a:accent3>
        <a:srgbClr val="9DBFAF"/>
      </a:accent3>
      <a:accent4>
        <a:srgbClr val="E8C9A0"/>
      </a:accent4>
      <a:accent5>
        <a:srgbClr val="B9C9A3"/>
      </a:accent5>
      <a:accent6>
        <a:srgbClr val="C98F8F"/>
      </a:accent6>
      <a:hlink>
        <a:srgbClr val="4F7F6E"/>
      </a:hlink>
      <a:folHlink>
        <a:srgbClr val="66756F"/>
      </a:folHlink>
    </a:clrScheme>
    <a:fontScheme name="XAI-FER Sof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6255</Words>
  <Application>WPS Presentation</Application>
  <PresentationFormat>On-screen Show (16:9)</PresentationFormat>
  <Paragraphs>328</Paragraphs>
  <Slides>15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7" baseType="lpstr">
      <vt:lpstr>Arial</vt:lpstr>
      <vt:lpstr>SimSun</vt:lpstr>
      <vt:lpstr>Wingdings</vt:lpstr>
      <vt:lpstr>Cambria</vt:lpstr>
      <vt:lpstr>Cambria</vt:lpstr>
      <vt:lpstr>Cambria</vt:lpstr>
      <vt:lpstr>Calibri</vt:lpstr>
      <vt:lpstr>Arial</vt:lpstr>
      <vt:lpstr>Microsoft YaHei</vt:lpstr>
      <vt:lpstr>Arial Unicode MS</vt:lpstr>
      <vt:lpstr>Calibri</vt:lpstr>
      <vt:lpstr>XAI-FER Soft</vt:lpstr>
      <vt:lpstr>PowerPoint 演示文稿</vt:lpstr>
      <vt:lpstr>Problem: 3 barriers to FER in the real world</vt:lpstr>
      <vt:lpstr>RAF-DB data &amp; mask generation pipeline</vt:lpstr>
      <vt:lpstr>Data leakage &amp; independent audit</vt:lpstr>
      <vt:lpstr>Multi-face detection &amp; 5-landmark alignment</vt:lpstr>
      <vt:lpstr>Face-pretrained backbone</vt:lpstr>
      <vt:lpstr>Two-stage transfer learning</vt:lpstr>
      <vt:lpstr>Post-training prior-bias calibration</vt:lpstr>
      <vt:lpstr>Results: +22.68 points on masked faces</vt:lpstr>
      <vt:lpstr>Per-emotion analysis on masked faces</vt:lpstr>
      <vt:lpstr>Ablation: contribution of each improvement (unmasked)</vt:lpstr>
      <vt:lpstr>XAI: Grad-CAM and the attention shift</vt:lpstr>
      <vt:lpstr>Real-time: IoU tracker + EMA smoothing</vt:lpstr>
      <vt:lpstr>Real-time performance (Apple M1, MPS)</vt:lpstr>
      <vt:lpstr>Conclusion &amp; contributions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Quốc Sang Trịnh</cp:lastModifiedBy>
  <cp:revision>2</cp:revision>
  <dcterms:created xsi:type="dcterms:W3CDTF">2026-10-13T10:52:00Z</dcterms:created>
  <dcterms:modified xsi:type="dcterms:W3CDTF">2026-10-13T12:07:38Z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6CC90FEA605D451DA3502F1658092946_12</vt:lpwstr>
  </property>
  <property fmtid="{D5CDD505-2E9C-101B-9397-08002B2CF9AE}" pid="3" name="KSOProductBuildVer">
    <vt:lpwstr>1033-12.1.0.28485</vt:lpwstr>
  </property>
</Properties>
</file>