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75" r:id="rId24"/>
    <p:sldId id="276" r:id="rId25"/>
    <p:sldId id="258" r:id="rId6"/>
    <p:sldId id="259" r:id="rId7"/>
    <p:sldId id="277" r:id="rId26"/>
    <p:sldId id="278" r:id="rId27"/>
    <p:sldId id="261" r:id="rId9"/>
    <p:sldId id="262" r:id="rId10"/>
    <p:sldId id="263" r:id="rId11"/>
    <p:sldId id="264" r:id="rId12"/>
    <p:sldId id="265" r:id="rId13"/>
    <p:sldId id="273" r:id="rId22"/>
    <p:sldId id="266" r:id="rId14"/>
    <p:sldId id="260" r:id="rId8"/>
    <p:sldId id="267" r:id="rId15"/>
    <p:sldId id="268" r:id="rId16"/>
    <p:sldId id="269" r:id="rId17"/>
    <p:sldId id="274" r:id="rId23"/>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Hồ Trường Thịnh · Data &amp; Preprocessing" id="{766FC9B4-AFFB-454B-B811-4EF65AD02DB8}">
          <p14:sldIdLst>
            <p14:sldId id="256"/>
            <p14:sldId id="257"/>
            <p14:sldId id="275"/>
            <p14:sldId id="276"/>
            <p14:sldId id="258"/>
            <p14:sldId id="259"/>
            <p14:sldId id="277"/>
            <p14:sldId id="278"/>
          </p14:sldIdLst>
        </p14:section>
        <p14:section name="2 · Nguyễn Trinh Quý · Model, Training &amp; Evaluation" id="{EEACA935-55EE-4E5C-B111-959AEEF4B4FC}">
          <p14:sldIdLst>
            <p14:sldId id="261"/>
            <p14:sldId id="262"/>
            <p14:sldId id="263"/>
            <p14:sldId id="264"/>
            <p14:sldId id="265"/>
            <p14:sldId id="273"/>
            <p14:sldId id="266"/>
          </p14:sldIdLst>
        </p14:section>
        <p14:section name="3 · Trịnh Quốc Sang · Real-Time System, XAI &amp; Demo" id="{D580B48C-4274-49F8-87E1-817BD400F5B2}">
          <p14:sldIdLst>
            <p14:sldId id="260"/>
            <p14:sldId id="267"/>
            <p14:sldId id="268"/>
            <p14:sldId id="269"/>
            <p14:sldId id="274"/>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 Id="rId22" Type="http://schemas.openxmlformats.org/officeDocument/2006/relationships/slide" Target="slides/slide11.xml"/><Relationship Id="rId23"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F3E3A"/>
                </a:solidFill>
                <a:latin typeface="Calibri" panose="020F0502020204030204"/>
                <a:ea typeface="+mn-ea"/>
                <a:cs typeface="+mn-cs"/>
              </a:defRPr>
            </a:pPr>
            <a:r>
              <a:rPr sz="1400" b="0" i="0" u="none" strike="noStrike">
                <a:solidFill>
                  <a:srgbClr val="2F3E3A"/>
                </a:solidFill>
                <a:latin typeface="Calibri" panose="020F0502020204030204"/>
              </a:rPr>
              <a:t>Per-class F1 (test_masked)</a:t>
            </a:r>
            <a:endParaRPr sz="1400" b="0" i="0" u="none" strike="noStrike">
              <a:solidFill>
                <a:srgbClr val="2F3E3A"/>
              </a:solidFill>
              <a:latin typeface="Calibri" panose="020F0502020204030204"/>
            </a:endParaRP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4F7F6E"/>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F3E3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Sheet1!$A$2:$A$8</c:f>
              <c:strCache>
                <c:ptCount val="7"/>
                <c:pt idx="0">
                  <c:v>happy</c:v>
                </c:pt>
                <c:pt idx="1">
                  <c:v>surprise</c:v>
                </c:pt>
                <c:pt idx="2">
                  <c:v>sad</c:v>
                </c:pt>
                <c:pt idx="3">
                  <c:v>angry</c:v>
                </c:pt>
                <c:pt idx="4">
                  <c:v>neutral</c:v>
                </c:pt>
                <c:pt idx="5">
                  <c:v>fear</c:v>
                </c:pt>
                <c:pt idx="6">
                  <c:v>disgust</c:v>
                </c:pt>
              </c:strCache>
            </c:strRef>
          </c:cat>
          <c:val>
            <c:numRef>
              <c:f>Sheet1!$B$2:$B$8</c:f>
              <c:numCache>
                <c:formatCode>General</c:formatCode>
                <c:ptCount val="7"/>
                <c:pt idx="0">
                  <c:v>0.89</c:v>
                </c:pt>
                <c:pt idx="1">
                  <c:v>0.8</c:v>
                </c:pt>
                <c:pt idx="2">
                  <c:v>0.79</c:v>
                </c:pt>
                <c:pt idx="3">
                  <c:v>0.75</c:v>
                </c:pt>
                <c:pt idx="4">
                  <c:v>0.72</c:v>
                </c:pt>
                <c:pt idx="5">
                  <c:v>0.53</c:v>
                </c:pt>
                <c:pt idx="6">
                  <c:v>0.47</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2F3E3A"/>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1"/>
          <c:min val="0"/>
        </c:scaling>
        <c:delete val="0"/>
        <c:axPos val="t"/>
        <c:majorGridlines>
          <c:spPr>
            <a:ln w="6350" cap="flat" cmpd="sng" algn="ctr">
              <a:solidFill>
                <a:srgbClr val="E3ECE7"/>
              </a:solidFill>
              <a:prstDash val="solid"/>
              <a:round/>
            </a:ln>
          </c:spPr>
        </c:majorGridlines>
        <c:numFmt formatCode="General" sourceLinked="0"/>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66756F"/>
                </a:solidFill>
                <a:latin typeface="Calibri" panose="020F050202020403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9fea7040-47e4-426e-acf0-4f008b4b1896}"/>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r>
              <a:rPr sz="1400" b="0">
                <a:solidFill>
                  <a:srgbClr val="2F3E3A"/>
                </a:solidFill>
                <a:latin typeface="Calibri"/>
              </a:rPr>
              <a:t>Accuracy (%), Mask-Aware model</a:t>
            </a:r>
          </a:p>
        </c:rich>
      </c:tx>
      <c:layout/>
      <c:overlay val="0"/>
    </c:title>
    <c:autoTitleDeleted val="0"/>
    <c:plotArea>
      <c:layout/>
      <c:barChart>
        <c:barDir val="col"/>
        <c:grouping val="clustered"/>
        <c:varyColors val="0"/>
        <c:ser>
          <c:idx val="0"/>
          <c:order val="0"/>
          <c:tx>
            <c:strRef>
              <c:f>Sheet1!$B$1</c:f>
              <c:strCache>
                <c:ptCount val="1"/>
                <c:pt idx="0">
                  <c:v>Unmasked test</c:v>
                </c:pt>
              </c:strCache>
            </c:strRef>
          </c:tx>
          <c:spPr>
            <a:solidFill>
              <a:srgbClr val="4F7F6E"/>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F3E3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Raw logits</c:v>
                </c:pt>
                <c:pt idx="1">
                  <c:v>+ flip TTA</c:v>
                </c:pt>
                <c:pt idx="2">
                  <c:v>+ prior-bias</c:v>
                </c:pt>
                <c:pt idx="3">
                  <c:v>+ TTA + prior-bias</c:v>
                </c:pt>
              </c:strCache>
            </c:strRef>
          </c:cat>
          <c:val>
            <c:numRef>
              <c:f>Sheet1!$B$2:$B$5</c:f>
              <c:numCache>
                <c:formatCode>General</c:formatCode>
                <c:ptCount val="4"/>
                <c:pt idx="0">
                  <c:v>83.7</c:v>
                </c:pt>
                <c:pt idx="1">
                  <c:v>84.06</c:v>
                </c:pt>
                <c:pt idx="2">
                  <c:v>88.43</c:v>
                </c:pt>
                <c:pt idx="3">
                  <c:v>88.43</c:v>
                </c:pt>
              </c:numCache>
            </c:numRef>
          </c:val>
        </c:ser>
        <c:ser>
          <c:idx val="1"/>
          <c:order val="1"/>
          <c:tx>
            <c:strRef>
              <c:f>Sheet1!$C$1</c:f>
              <c:strCache>
                <c:ptCount val="1"/>
                <c:pt idx="0">
                  <c:v>Masked test</c:v>
                </c:pt>
              </c:strCache>
            </c:strRef>
          </c:tx>
          <c:spPr>
            <a:solidFill>
              <a:srgbClr val="D98B73"/>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F3E3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Raw logits</c:v>
                </c:pt>
                <c:pt idx="1">
                  <c:v>+ flip TTA</c:v>
                </c:pt>
                <c:pt idx="2">
                  <c:v>+ prior-bias</c:v>
                </c:pt>
                <c:pt idx="3">
                  <c:v>+ TTA + prior-bias</c:v>
                </c:pt>
              </c:strCache>
            </c:strRef>
          </c:cat>
          <c:val>
            <c:numRef>
              <c:f>Sheet1!$C$2:$C$5</c:f>
              <c:numCache>
                <c:formatCode>General</c:formatCode>
                <c:ptCount val="4"/>
                <c:pt idx="0">
                  <c:v>73.27</c:v>
                </c:pt>
                <c:pt idx="1">
                  <c:v>73.22</c:v>
                </c:pt>
                <c:pt idx="2">
                  <c:v>79.75</c:v>
                </c:pt>
                <c:pt idx="3">
                  <c:v>79.29</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2F3E3A"/>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cmpd="sng" algn="ctr">
              <a:solidFill>
                <a:srgbClr val="E3EC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66756F"/>
                </a:solidFill>
                <a:latin typeface="Calibri" panose="020F0502020204030204"/>
                <a:ea typeface="+mn-ea"/>
                <a:cs typeface="+mn-cs"/>
              </a:defRPr>
            </a:pPr>
          </a:p>
        </c:txPr>
        <c:crossAx val="2094734554"/>
        <c:crosses val="autoZero"/>
        <c:crossBetween val="between"/>
      </c:valAx>
      <c:spPr>
        <a:noFill/>
        <a:ln>
          <a:noFill/>
        </a:ln>
        <a:effectLst/>
      </c:spPr>
    </c:plotArea>
    <c:legend>
      <c:legendPos val="b"/>
      <c:overlay val="0"/>
      <c:txPr>
        <a:bodyPr/>
        <a:lstStyle/>
        <a:p>
          <a:pPr>
            <a:defRPr sz="1200">
              <a:solidFill>
                <a:srgbClr val="2F3E3A"/>
              </a:solidFill>
            </a:defRPr>
          </a:pPr>
        </a:p>
      </c:txPr>
    </c:legend>
    <c:plotVisOnly val="1"/>
    <c:dispBlanksAs val="span"/>
    <c:showDLblsOverMax val="0"/>
    <c:extLst>
      <c:ext uri="{0b15fc19-7d7d-44ad-8c2d-2c3a37ce22c3}">
        <chartProps xmlns="https://web.wps.cn/et/2018/main" chartId="{308f660b-2928-48c5-b926-0c0bffd44698}"/>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400" b="0" i="0" u="none" strike="noStrike" kern="1200" baseline="0">
                <a:solidFill>
                  <a:srgbClr val="2F3E3A"/>
                </a:solidFill>
                <a:latin typeface="Calibri" panose="020F0502020204030204"/>
                <a:ea typeface="+mn-ea"/>
                <a:cs typeface="+mn-cs"/>
              </a:defRPr>
            </a:pPr>
            <a:r>
              <a:rPr sz="1400" b="0" i="0" u="none" strike="noStrike">
                <a:solidFill>
                  <a:srgbClr val="2F3E3A"/>
                </a:solidFill>
                <a:latin typeface="Calibri" panose="020F0502020204030204"/>
              </a:rPr>
              <a:t>FPS by number of faces in frame</a:t>
            </a:r>
            <a:endParaRPr sz="1400" b="0" i="0" u="none" strike="noStrike">
              <a:solidFill>
                <a:srgbClr val="2F3E3A"/>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No Grad-CAM</c:v>
                </c:pt>
              </c:strCache>
            </c:strRef>
          </c:tx>
          <c:spPr>
            <a:solidFill>
              <a:srgbClr val="4F7F6E"/>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2F3E3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Sheet1!$A$2:$A$6</c:f>
              <c:numCache>
                <c:formatCode>General</c:formatCode>
                <c:ptCount val="5"/>
                <c:pt idx="0">
                  <c:v>1</c:v>
                </c:pt>
                <c:pt idx="1">
                  <c:v>2</c:v>
                </c:pt>
                <c:pt idx="2">
                  <c:v>3</c:v>
                </c:pt>
                <c:pt idx="3">
                  <c:v>4</c:v>
                </c:pt>
                <c:pt idx="4">
                  <c:v>5</c:v>
                </c:pt>
              </c:numCache>
            </c:numRef>
          </c:cat>
          <c:val>
            <c:numRef>
              <c:f>Sheet1!$B$2:$B$6</c:f>
              <c:numCache>
                <c:formatCode>General</c:formatCode>
                <c:ptCount val="5"/>
                <c:pt idx="0">
                  <c:v>55</c:v>
                </c:pt>
                <c:pt idx="1">
                  <c:v>37.4</c:v>
                </c:pt>
                <c:pt idx="2">
                  <c:v>28.4</c:v>
                </c:pt>
                <c:pt idx="3">
                  <c:v>20.2</c:v>
                </c:pt>
                <c:pt idx="4">
                  <c:v>17.4</c:v>
                </c:pt>
              </c:numCache>
            </c:numRef>
          </c:val>
        </c:ser>
        <c:ser>
          <c:idx val="1"/>
          <c:order val="1"/>
          <c:tx>
            <c:strRef>
              <c:f>Sheet1!$C$1</c:f>
              <c:strCache>
                <c:ptCount val="1"/>
                <c:pt idx="0">
                  <c:v>Grad-CAM (refreshed every 10 frames)</c:v>
                </c:pt>
              </c:strCache>
            </c:strRef>
          </c:tx>
          <c:spPr>
            <a:solidFill>
              <a:srgbClr val="D98B7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2F3E3A"/>
                    </a:solidFill>
                    <a:latin typeface="Calibri" panose="020F050202020403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Sheet1!$A$2:$A$6</c:f>
              <c:numCache>
                <c:formatCode>General</c:formatCode>
                <c:ptCount val="5"/>
                <c:pt idx="0">
                  <c:v>1</c:v>
                </c:pt>
                <c:pt idx="1">
                  <c:v>2</c:v>
                </c:pt>
                <c:pt idx="2">
                  <c:v>3</c:v>
                </c:pt>
                <c:pt idx="3">
                  <c:v>4</c:v>
                </c:pt>
                <c:pt idx="4">
                  <c:v>5</c:v>
                </c:pt>
              </c:numCache>
            </c:numRef>
          </c:cat>
          <c:val>
            <c:numRef>
              <c:f>Sheet1!$C$2:$C$6</c:f>
              <c:numCache>
                <c:formatCode>General</c:formatCode>
                <c:ptCount val="5"/>
                <c:pt idx="0">
                  <c:v>37.4</c:v>
                </c:pt>
                <c:pt idx="1">
                  <c:v>25.9</c:v>
                </c:pt>
                <c:pt idx="2">
                  <c:v>20.7</c:v>
                </c:pt>
                <c:pt idx="3">
                  <c:v>17.3</c:v>
                </c:pt>
                <c:pt idx="4">
                  <c:v>15.1</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title>
          <c:tx>
            <c:rich>
              <a:bodyPr rot="0" spcFirstLastPara="0" vertOverflow="ellipsis" vert="horz" wrap="square" anchor="ctr" anchorCtr="1"/>
              <a:lstStyle/>
              <a:p>
                <a:pPr>
                  <a:defRPr lang="en-US" sz="1200" b="0" i="0" u="none" strike="noStrike" kern="1200" baseline="0">
                    <a:solidFill>
                      <a:srgbClr val="66756F"/>
                    </a:solidFill>
                    <a:latin typeface="Arial" panose="020B0604020202020204"/>
                    <a:ea typeface="+mn-ea"/>
                    <a:cs typeface="+mn-cs"/>
                  </a:defRPr>
                </a:pPr>
                <a:r>
                  <a:rPr sz="1200" b="0" i="0" u="none" strike="noStrike">
                    <a:solidFill>
                      <a:srgbClr val="66756F"/>
                    </a:solidFill>
                    <a:latin typeface="Arial" panose="020B0604020202020204"/>
                  </a:rPr>
                  <a:t>Number of faces</a:t>
                </a:r>
                <a:endParaRPr sz="1200" b="0" i="0" u="none" strike="noStrike">
                  <a:solidFill>
                    <a:srgbClr val="66756F"/>
                  </a:solidFill>
                  <a:latin typeface="Arial" panose="020B0604020202020204"/>
                </a:endParaRPr>
              </a:p>
            </c:rich>
          </c:tx>
          <c:layout/>
          <c:overlay val="0"/>
        </c:title>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2F3E3A"/>
                </a:solidFill>
                <a:latin typeface="Calibri" panose="020F050202020403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3EC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66756F"/>
                </a:solidFill>
                <a:latin typeface="Calibri" panose="020F050202020403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200" b="0" i="0" u="none" strike="noStrike" kern="1200" baseline="0">
              <a:solidFill>
                <a:srgbClr val="2F3E3A"/>
              </a:solidFill>
              <a:latin typeface="Calibri" panose="020F0502020204030204"/>
              <a:ea typeface="+mn-ea"/>
              <a:cs typeface="Calibri" panose="020F0502020204030204"/>
            </a:defRPr>
          </a:pPr>
        </a:p>
      </c:txPr>
    </c:legend>
    <c:plotVisOnly val="1"/>
    <c:dispBlanksAs val="span"/>
    <c:showDLblsOverMax val="0"/>
    <c:extLst>
      <c:ext uri="{0b15fc19-7d7d-44ad-8c2d-2c3a37ce22c3}">
        <chartProps xmlns="https://web.wps.cn/et/2018/main" chartId="{0f0a67e0-4376-443a-a0f4-3c2c427e70c4}"/>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RAF-DB train (12,271)</c:v>
                </c:pt>
              </c:strCache>
            </c:strRef>
          </c:tx>
          <c:spPr>
            <a:solidFill>
              <a:srgbClr val="4F7F6E"/>
            </a:solidFill>
          </c:spPr>
          <c:cat>
            <c:strRef>
              <c:f>Sheet1!$A$2:$A$8</c:f>
              <c:strCache>
                <c:ptCount val="7"/>
                <c:pt idx="0">
                  <c:v>angry</c:v>
                </c:pt>
                <c:pt idx="1">
                  <c:v>disgust</c:v>
                </c:pt>
                <c:pt idx="2">
                  <c:v>fear</c:v>
                </c:pt>
                <c:pt idx="3">
                  <c:v>happy</c:v>
                </c:pt>
                <c:pt idx="4">
                  <c:v>neutral</c:v>
                </c:pt>
                <c:pt idx="5">
                  <c:v>sad</c:v>
                </c:pt>
                <c:pt idx="6">
                  <c:v>surprise</c:v>
                </c:pt>
              </c:strCache>
            </c:strRef>
          </c:cat>
          <c:val>
            <c:numRef>
              <c:f>Sheet1!$B$2:$B$8</c:f>
              <c:numCache>
                <c:formatCode>General</c:formatCode>
                <c:ptCount val="7"/>
                <c:pt idx="0">
                  <c:v>705</c:v>
                </c:pt>
                <c:pt idx="1">
                  <c:v>717</c:v>
                </c:pt>
                <c:pt idx="2">
                  <c:v>281</c:v>
                </c:pt>
                <c:pt idx="3">
                  <c:v>4772</c:v>
                </c:pt>
                <c:pt idx="4">
                  <c:v>2524</c:v>
                </c:pt>
                <c:pt idx="5">
                  <c:v>1982</c:v>
                </c:pt>
                <c:pt idx="6">
                  <c:v>1290</c:v>
                </c:pt>
              </c:numCache>
            </c:numRef>
          </c:val>
        </c:ser>
        <c:ser>
          <c:idx val="1"/>
          <c:order val="1"/>
          <c:tx>
            <c:strRef>
              <c:f>Sheet1!$C$1</c:f>
              <c:strCache>
                <c:ptCount val="1"/>
                <c:pt idx="0">
                  <c:v>train_masked (7,830)</c:v>
                </c:pt>
              </c:strCache>
            </c:strRef>
          </c:tx>
          <c:spPr>
            <a:solidFill>
              <a:srgbClr val="B5604A"/>
            </a:solidFill>
          </c:spPr>
          <c:cat>
            <c:strRef>
              <c:f>Sheet1!$A$2:$A$8</c:f>
              <c:strCache>
                <c:ptCount val="7"/>
                <c:pt idx="0">
                  <c:v>angry</c:v>
                </c:pt>
                <c:pt idx="1">
                  <c:v>disgust</c:v>
                </c:pt>
                <c:pt idx="2">
                  <c:v>fear</c:v>
                </c:pt>
                <c:pt idx="3">
                  <c:v>happy</c:v>
                </c:pt>
                <c:pt idx="4">
                  <c:v>neutral</c:v>
                </c:pt>
                <c:pt idx="5">
                  <c:v>sad</c:v>
                </c:pt>
                <c:pt idx="6">
                  <c:v>surprise</c:v>
                </c:pt>
              </c:strCache>
            </c:strRef>
          </c:cat>
          <c:val>
            <c:numRef>
              <c:f>Sheet1!$C$2:$C$8</c:f>
              <c:numCache>
                <c:formatCode>General</c:formatCode>
                <c:ptCount val="7"/>
                <c:pt idx="0">
                  <c:v>434</c:v>
                </c:pt>
                <c:pt idx="1">
                  <c:v>485</c:v>
                </c:pt>
                <c:pt idx="2">
                  <c:v>171</c:v>
                </c:pt>
                <c:pt idx="3">
                  <c:v>3213</c:v>
                </c:pt>
                <c:pt idx="4">
                  <c:v>1503</c:v>
                </c:pt>
                <c:pt idx="5">
                  <c:v>1279</c:v>
                </c:pt>
                <c:pt idx="6">
                  <c:v>745</c:v>
                </c:pt>
              </c:numCache>
            </c:numRef>
          </c:val>
        </c:ser>
        <c:dLbls>
          <c:numFmt formatCode="#,##0" sourceLinked="0"/>
          <c:txPr>
            <a:bodyPr/>
            <a:lstStyle/>
            <a:p>
              <a:pPr>
                <a:defRPr sz="1000">
                  <a:solidFill>
                    <a:srgbClr val="2F3E3A"/>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C9D6CF"/>
            </a:solidFill>
          </a:ln>
        </c:spPr>
        <c:txPr>
          <a:bodyPr/>
          <a:lstStyle/>
          <a:p>
            <a:pPr>
              <a:defRPr sz="1200">
                <a:solidFill>
                  <a:srgbClr val="2F3E3A"/>
                </a:solidFill>
              </a:defRPr>
            </a:pPr>
          </a:p>
        </c:txPr>
        <c:crossAx val="-2113994440"/>
        <c:crosses val="autoZero"/>
        <c:auto val="1"/>
        <c:lblAlgn val="ctr"/>
        <c:lblOffset val="100"/>
        <c:noMultiLvlLbl val="0"/>
      </c:catAx>
      <c:valAx>
        <c:axId val="-2113994440"/>
        <c:scaling>
          <c:max val="5500.0"/>
        </c:scaling>
        <c:delete val="0"/>
        <c:axPos val="l"/>
        <c:majorGridlines>
          <c:spPr>
            <a:ln>
              <a:solidFill>
                <a:srgbClr val="E3EAE6"/>
              </a:solidFill>
            </a:ln>
          </c:spPr>
        </c:majorGridlines>
        <c:majorTickMark val="out"/>
        <c:minorTickMark val="none"/>
        <c:tickLblPos val="nextTo"/>
        <c:spPr>
          <a:ln>
            <a:noFill/>
          </a:ln>
        </c:spPr>
        <c:txPr>
          <a:bodyPr/>
          <a:lstStyle/>
          <a:p>
            <a:pPr>
              <a:defRPr sz="1100"/>
            </a:pPr>
          </a:p>
        </c:txPr>
        <c:crossAx val="-2068027336"/>
        <c:crosses val="autoZero"/>
        <c:majorUnit val="1000.0"/>
      </c:valAx>
    </c:plotArea>
    <c:legend>
      <c:legendPos val="t"/>
      <c:overlay val="0"/>
      <c:txPr>
        <a:bodyPr/>
        <a:lstStyle/>
        <a:p>
          <a:pPr>
            <a:defRPr sz="1200">
              <a:solidFill>
                <a:srgbClr val="2F3E3A"/>
              </a:solidFill>
            </a:defRPr>
          </a:pPr>
        </a:p>
      </c:txPr>
    </c:legend>
    <c:dispBlanksAs val="gap"/>
  </c:chart>
  <c:txPr>
    <a:bodyPr/>
    <a:lstStyle/>
    <a:p>
      <a:pPr>
        <a:defRPr sz="1200">
          <a:solidFill>
            <a:srgbClr val="66756F"/>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[THỊNH · ~20s] Kính chào thầy cô và các bạn. Nhóm em trình bày đề tài XAI-FER Mask-Aware: nhận diện cảm xúc khuôn mặt thời gian thực, nhiều khuôn mặt cùng lúc, có giải thích, và vẫn hoạt động khi người dùng đeo khẩu trang. Em là Thịnh, phụ trách dữ liệu và tiền xử lý. Bạn Quý trình bày mô hình, huấn luyện và đánh giá. Bạn Sang trình bày hệ thống thời gian thực, phần giải thích Grad-CAM và demo.</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[THỊNH · ~50s] Bài toán có ba rào cản. Thứ nhất, khoảng cách giữa phòng lab và đời thực: mô hình học trên FER-2013, ảnh xám 48×48, hỏng khi gặp ảnh màu, mặt nghiêng, ánh sáng phức tạp; vì vậy nhóm dùng RAF-DB, ảnh màu chụp ngoài đời. Thứ hai, khẩu trang che nửa dưới khuôn mặt. Nhóm đo trực tiếp: mô hình chỉ học RAF-DB đạt 89.2% trên mặt thường nhưng tụt còn 56.6% khi đeo khẩu trang; 48% ảnh vui bị đoán thành trung tính vì mất nụ cười. Thứ ba, mô hình hộp đen chỉ trả về một nhãn, khó tin trong y tế, giáo dục; nhóm kèm heatmap Grad-CAM cho mỗi dự đoán. Mục tiêu: in-the-wild, mask-aware, real-time và explainable.</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[THỊNH · ~50s] Vì chưa có bộ dữ liệu cảm xúc đeo khẩu trang thật nào đủ lớn và có nhãn, nhóm tự sinh bằng MaskTheFace. Quy trình: lấy ảnh RAF-DB gốc, dùng dlib tìm 68 điểm landmark ở sống mũi, má, cằm, rồi uốn ảnh mẫu khẩu trang 2D cho khớp khuôn mặt. Kết quả: 7,830 ảnh train_masked và 1,975 ảnh test_masked. Có hai quy tắc quan trọng: giữ nguyên nhãn của ảnh gốc, vì cảm xúc không đổi khi đeo khẩu trang; và giữ ID ảnh nguồn trong tên file, ví dụ raf_train_00012_surgical.jpg. Nhờ có cặp trước/sau, nhóm đo được đúng tác động của khẩu trang. Hạn chế: chỉ một kiểu khẩu trang; slide 8 sẽ cho thấy cách nhóm bù lại.</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[THỊNH · ~70s] Cái tên file giữ ID ảnh nguồn được dùng ngay ở đây, để chặn rò rỉ dữ liệu. Pipeline cũ gộp ảnh gốc và ảnh khẩu trang rồi chia ngẫu nhiên 85/15. Khi đó ảnh gốc của một người nằm ở train, bản đeo khẩu trang của chính người đó nằm ở validation: mô hình nhớ khuôn mặt chứ không học cảm xúc. Val F1 đạt 0.826 nhưng test chỉ 0.718. Tệ hơn, early stopping và hiệu chỉnh đều đọc val F1, nên mọi lựa chọn sau đều lệch. Nhóm chia theo nhóm ảnh nguồn: mọi biến thể của một ảnh luôn cùng phía, phân tầng theo nhãn, 15% làm validation, lưu cố định trong file JSON và dùng chung cho cả hai giai đoạn huấn luyện. Code có assert không nhóm nào nằm ở cả hai phía. Nhóm cũng kiểm toán độc lập bằng perceptual hash và tương quan pixel: 0 ảnh test_masked lấy từ train, 0 ảnh nguồn chung giữa train và val. Có 49 ảnh test trùng người với train, đó là đặc điểm của split chính thức RAF-DB; bỏ chúng đi thì độ chính xác chỉ đổi 0.1 đến 0.2 điểm.</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 ~50s] Cảm ơn Quý. Đây là bước tiền xử lý lúc suy luận, tương ứng với thẻ Webcam mà Thịnh đã giới thiệu. OpenCV YuNet dò mọi khuôn mặt trong khung hình kèm 5 điểm mốc: hai mắt, mũi, hai khóe miệng, kể cả khi đeo khẩu trang hay nghiêng đầu. Sau đó một phép biến đổi tương tự, gồm xoay, phóng đều và tịnh tiến, đưa 5 điểm này về đúng template của RAF-DB. Nhờ vậy ảnh cắt từ webcam có cùng bố cục với ảnh mô hình đã học. Phép ước lượng dùng LMedS nên chịu được một điểm sai, ví dụ khóe miệng bị khẩu trang che. Dò trên khung 640 pixel cho nhanh, căn chỉnh trên khung gốc để giữ chi tiết. Tổng cộng khoảng 5 đến 7 ms mỗi khung.</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~45s] Cảm ơn Thịnh. Điểm xuất phát là backbone. Lựa chọn thông thường là ImageNet, nhưng ImageNet học chó, mèo, xe, không biết gì về cơ mặt. Nhóm chọn EfficientNet-B0 của HSEmotion: học trước trên VGGFace2 để nhận dạng khuôn mặt, rồi trên AffectNet để nhận diện cảm xúc. Đầu ra 7 lớp được khởi tạo từ classifier AffectNet, bỏ lớp contempt vì RAF-DB không có. Mô hình chỉ khoảng 4 triệu tham số, đủ nhẹ cho thời gian thực, và đạt 89.15% trên test RAF-DB, F1 0.833.</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~55s] Huấn luyện gồm hai giai đoạn, dùng chung một phép chia validation mà Thịnh vừa trình bày. Giai đoạn 1 trên RAF-DB gốc: 1 epoch chỉ train phần head để không phá trọng số đã học trước, rồi 25 epoch fine-tune toàn mạng. Giai đoạn 2 khởi tạo từ giai đoạn 1, train 20 epoch trên ảnh gốc cộng ảnh khẩu trang, bật LowerFaceOcclusion. Để xử lý lệch lớp 17 lần, nhóm dùng Logit-Adjusted loss: cộng log tần suất lớp vào logits khi tính loss, để lớp hiếm như fear có biên rộng hơn. Các kỹ thuật chống overfit: label smoothing 0.1, Mixup và CutMix, trung bình trọng số EMA 0.998, AdamW với warmup và cosine, learning rate backbone 1e-4 nhỏ hơn head 1e-3.</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~55s] Logit-Adjusted loss có tác dụng phụ: mô hình đoán như thể các lớp cân bằng, nên đoán thừa fear và disgust. Ví dụ fear có recall 0.78 nhưng precision chỉ 0.32. Cách sửa là hiệu chỉnh sau huấn luyện: cộng t nhân log prior vào logits rồi lấy argmax. Nhóm quét t trên tập validation và chọn t tối đa macro F1: 0.85 cho Mask-Aware, 0.70 cho RAF-DB. Tập test không được dùng ở bước này, và t được lưu trong checkpoint. Trên validation, accuracy tăng 5.09 điểm và macro F1 tăng 0.061. Để kiểm tra không overfit validation: t tốt nhất trên test khẩu trang là 1.0 với F1 0.713, rất gần mức 0.708 tại t 0.85.</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~55s] Đây là kết quả chính, cùng một giao thức: fp32, TTA lật ngang, hiệu chỉnh chọn trên validation, split test chính thức. Trên ảnh khẩu trang, Mask-Aware đạt 79.29%, cao hơn mô hình chỉ RAF-DB 22.68 điểm, macro F1 tăng 0.174. Cái giá rất nhỏ: trên mặt thường chỉ giảm 0.72 điểm, từ 89.15 xuống 88.43%. Trên toàn bộ 5,043 ảnh test đạt 84.85%. Dòng MobileNetV3 là pipeline cũ có validation bị rò rỉ, nên chỉ để tham khảo, không so sánh trực tiếp.</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~45s] Nhìn theo từng cảm xúc trên ảnh khẩu trang: happy đạt F1 0.89, vì nụ cười thật làm má nâng lên và mắt híp lại, tức Action Unit 6, vẫn nhìn thấy trên khẩu trang. Khó nhất là disgust 0.47 và fear 0.53, vì tín hiệu của chúng nằm ở mũi và miệng, như nhăn mũi, nhếch môi, kéo môi ngang, đều bị che. Như Thịnh đã nói, fear chỉ có 35 ảnh test khẩu trang, nên con số này dao động lớn.</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[QUÝ · ~45s] Ablation trên cùng checkpoint Mask-Aware cho biết bước hậu xử lý nào đáng giá. Hiệu chỉnh prior-bias đóng góp nhiều nhất: cộng 4.7 điểm trên mặt thường và 6.5 điểm trên mặt khẩu trang. TTA lật ngang gần như không đổi, nên khi chạy webcam nhóm tắt TTA để tiết kiệm thời gian. Đóng góp lớn nhất vẫn là dữ liệu khẩu trang cộng occlusion, 22.68 điểm ở slide 12. Lưu ý: toàn bộ số liệu này đo trên ảnh test đã căn chỉnh sẵn. Với webcam, khuôn mặt chưa được căn chỉnh. Mời bạn Sang trình bày cách hệ thống xử lý điều đó trong thời gian thực.</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 ~55s] Để mở hộp đen, nhóm dùng Grad-CAM tại tầng bn2, bản đồ đặc trưng 1280×7×7, tính cho nhãn thật trên ảnh test thật. Khi không đeo khẩu trang, cả hai mô hình đều nhìn vào miệng. Khi đeo khẩu trang, Mask-Aware chuyển sự chú ý lên mắt và lông mày. Nhóm đo định lượng trên 1,975 cặp ảnh: tỉ lệ năng lượng heatmap phía trên đường khẩu trang tăng từ 47% lên 58%. Mô hình chỉ RAF-DB cũng dịch lên, từ 42 lên 55%, nhưng dàn trải và vẫn lùi về neutral. Hệ quả thấy được: happy bị đoán thành neutral giảm từ 48% xuống 9%. Grad-CAM là giải thích thô 7×7, mang tính định tính.</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 ~45s] Với video nhiều người, mỗi khung hình dự đoán độc lập sẽ làm nhãn nhảy liên tục. Nhóm giữ ID cho từng khuôn mặt bằng IoU tracker: ghép khuôn mặt giữa hai khung nếu IoU từ 0.3 trở lên, giữ ID tối đa 10 khung, khoảng 0.3 giây, khi mặt bị mất tạm. Xác suất được làm mượt bằng EMA với alpha 0.4, tức nhớ khoảng 2 đến 3 khung gần nhất, nên nhãn ổn định nhưng vẫn phản ứng trong khoảng 0.1 giây. Ghép tham lam O(M·N) đủ cho tối đa 5 khuôn mặt, không cần Kalman filter.</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 ~40s] Hiệu năng đo trên Apple M1 dùng GPU MPS, khung tổng hợp 1280×720 có mặt RAF-DB. Một khuôn mặt: 55 FPS khi tắt Grad-CAM, 37.4 FPS khi bật, vì Grad-CAM chỉ tính lại mỗi 10 khung, trung bình thêm khoảng 8 ms mỗi khung. Năm khuôn mặt vẫn trên 15 FPS. Tắt TTA không làm giảm accuracy, vẫn 88.43%. Hạn chế: chưa đo bằng webcam thật và chưa đo trên GPU NVIDIA.</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[SANG · ~40s + demo] Tổng kết: Mask-Aware tăng 22.7 điểm trên ảnh khẩu trang, đạt 79.29%; không có rò rỉ giữa train và val; 84.85% trên toàn bộ 5,043 ảnh test; 37.4 FPS có Grad-CAM. Hạn chế: khẩu trang tổng hợp một kiểu, chưa có tập khẩu trang thật có nhãn; một seed; Grad-CAM định tính; disgust và fear vẫn khó. Hướng tiếp: gán nhãn khẩu trang thật, ablation nhiều seed, đo webcam thật và GPU NVIDIA, hoàn thiện app R. Bây giờ em xin demo trực tiếp. [DEMO ~2.5 phút: 1) không khẩu trang, cười → happy, heatmap ở miệng; 2) đeo khẩu trang, cười bằng mắt → vẫn happy, heatmap dời lên mắt; 3) hai người cùng khung → hai ID ổn định; 4) bật/tắt Grad-CAM để thấy FPS thay đổi.] Cảm ơn thầy cô, nhóm em xin nhận câu hỏi.</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[QUÝ · ~45s] Ma trận nhầm lẫn chuẩn hoá theo hàng, trên 1,975 ảnh test khẩu trang. Mô hình chỉ RAF-DB dồn 48% ảnh happy về neutral, vì nó tìm nụ cười mà không thấy. Mask-Aware giảm còn 9%. Các lỗi còn lại có lý do giải phẫu: fear bị nhầm sang surprise 29%, vì cả hai đều nhướng mày và mở to mắt, khác nhau chủ yếu ở miệng, chính là vùng bị che.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 ~40s] Nhóm cũng triển khai bằng R. Huấn luyện ở Python, sau đó xuất TorchScript, đã gộp sẵn bias hiệu chỉnh vào mô hình, kèm file meta gồm lớp, mean, std. R nạp bằng torch::jit_load chạy trên LibTorch, không cần Python lúc suy luận. Kiểm tra parity: sai số tối đa 3e-7, argmax khớp 10/10. Ứng dụng Shiny đã có dò mặt, căn chỉnh Umeyama, tracker và phần toán Grad-CAM; tab dự đoán trực tiếp và hook bn2 cho Grad-CAM đang hoàn thiện.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[THỊNH · ~25s] Đây là lộ trình. Cả hệ thống là một pipeline, chia thành ba đoạn liền nhau. Em trình bày đoạn đầu: dữ liệu đi vào, được sinh khẩu trang, chia tập không rò rỉ và tiền xử lý thành tensor. Quý nhận tensor đó để huấn luyện, hiệu chỉnh và đánh giá mô hình. Sang đưa mô hình vào webcam: dò mặt, căn chỉnh, theo dõi, giải thích và chạy demo. Mỗi slide có ghi tên người trình bày ở góc dưới.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[THỊNH · ~55s] Dữ liệu gốc là RAF-DB: 15,339 ảnh, khoảng 40 người gán nhãn cho mỗi ảnh, 12,271 ảnh train và 3,068 ảnh test chính thức. Nhóm dùng bản aligned: ảnh 100×100 màu, hai mắt đã nằm ở vị trí cố định. Biểu đồ cho thấy vấn đề đầu tiên của dữ liệu: lệch lớp rất mạnh. Happy có 4,772 ảnh, fear chỉ 281, chênh khoảng 17 lần. Nếu không xử lý, mô hình sẽ thiên về happy và neutral. Cột cam là ảnh khẩu trang sinh ra: chỉ 64% ảnh có bản khẩu trang, vì công cụ dò landmark bỏ sót mặt nhỏ hoặc nghiêng. Ở tập test khẩu trang, fear chỉ còn 35 ảnh, nên điểm F1 của fear dao động lớn; bạn Quý sẽ nhắc lại điểm này.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[THỊNH · ~55s] Sau khi chia tập, mỗi ảnh đi qua cùng một lõi tiền xử lý bốn bước. Một: đọc JPEG, chuyển sang RGB, nhãn lấy theo tên thư mục với thứ tự 7 lớp cố định. Hai: phóng 100×100 lên 224×224, đúng kích thước đầu vào của EfficientNet-B0. Ba: chuyển thành tensor, giá trị pixel về khoảng 0 đến 1. Bốn: chuẩn hoá theo mean và std của ImageNet, vì backbone được huấn luyện trước với đúng thống kê này; dùng thống kê khác sẽ làm lệch toàn bộ đặc trưng. Lõi này dùng chung cho ba nơi: train có thêm augmentation ngẫu nhiên; validation và test chỉ resize và chuẩn hoá, để kết quả lặp lại được; webcam thì phải căn chỉnh khuôn mặt trước cho giống ảnh RAF-DB aligned, phần đó bạn Sang trình bày ở slide 16. Code cũng tự kiểm tra: thư mục lớp lạ thì dừng, ảnh gốc và bản khẩu trang khác nhãn thì dừng.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[THỊNH · ~55s] Augmentation chỉ áp dụng cho tập train, ngẫu nhiên mỗi epoch, nên mỗi epoch mô hình thấy một phiên bản mới của từng ảnh. Hình phía trên là chính các phép biến đổi trong code áp lên một ảnh RAF-DB. Nhóm thứ nhất mô phỏng đời thực: cắt 80 đến 100% khuôn mặt, lật ngang, xoay ±10 độ, đổi độ sáng và tương phản ±30%. Nhóm thứ hai là LowerFaceOcclusion do nhóm tự viết: che từ khoảng 50–62% chiều cao trở xuống, mép trên hơi võng như dây khẩu trang, 6 màu hoặc nhiễu, xác suất 0.3, chỉ bật ở giai đoạn 2. Mục đích là bù cho việc MaskTheFace chỉ có một kiểu khẩu trang. Cuối cùng RandomErasing xoá một vùng nhỏ để mô hình chịu được tay, kính, tóc che mặt. Vậy dữ liệu đã sạch, không rò rỉ, nhưng còn lệch lớp 17 lần. Mời bạn Quý trình bày cách mô hình học trên dữ liệu này và xử lý lệch lớp.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
    <p:bg>
      <p:bgPr>
        <a:solidFill>
          <a:srgbClr val="F7FAF8"/>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320040"/>
            <a:ext cx="9509760" cy="822960"/>
          </a:xfrm>
          <a:prstGeom prst="rect">
            <a:avLst/>
          </a:prstGeom>
          <a:noFill/>
        </p:spPr>
        <p:txBody>
          <a:bodyPr wrap="square" rtlCol="0"/>
          <a:lstStyle>
            <a:lvl1pPr marL="0" indent="0">
              <a:buNone/>
              <a:def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defRPr>
            </a:lvl1pPr>
          </a:lstStyle>
          <a:p>
            <a:pPr marL="0" indent="0">
              <a:buNone/>
            </a:pPr>
            <a:endParaRPr lang="en-US" sz="28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
    <p:bg>
      <p:bgPr>
        <a:solidFill>
          <a:srgbClr val="E8F1E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36575" y="731520"/>
            <a:ext cx="6675120" cy="914400"/>
          </a:xfrm>
          <a:prstGeom prst="rect">
            <a:avLst/>
          </a:prstGeom>
          <a:noFill/>
        </p:spPr>
        <p:txBody>
          <a:bodyPr wrap="square" lIns="0" tIns="0" rIns="0" bIns="0" rtlCol="0" anchor="ctr"/>
          <a:lstStyle/>
          <a:p>
            <a:pPr marL="0" indent="0">
              <a:buNone/>
            </a:pPr>
            <a:r>
              <a:rPr lang="en-US" sz="4400" b="1" dirty="0">
                <a:solidFill>
                  <a:srgbClr val="2F3E3A"/>
                </a:solidFill>
                <a:latin typeface="Cambria" panose="02040503050406030204" pitchFamily="34" charset="0"/>
                <a:ea typeface="Cambria" panose="02040503050406030204" pitchFamily="34" charset="-122"/>
                <a:cs typeface="Cambria" panose="02040503050406030204" pitchFamily="34" charset="-120"/>
              </a:rPr>
              <a:t>XAI-FER Mask-Aware</a:t>
            </a:r>
            <a:endParaRPr lang="en-US" sz="4400" dirty="0"/>
          </a:p>
        </p:txBody>
      </p:sp>
      <p:sp>
        <p:nvSpPr>
          <p:cNvPr id="3" name="Text 1"/>
          <p:cNvSpPr txBox="1"/>
          <p:nvPr/>
        </p:nvSpPr>
        <p:spPr>
          <a:xfrm>
            <a:off x="536575" y="1645920"/>
            <a:ext cx="5672455" cy="914400"/>
          </a:xfrm>
          <a:prstGeom prst="rect">
            <a:avLst/>
          </a:prstGeom>
          <a:noFill/>
        </p:spPr>
        <p:txBody>
          <a:bodyPr wrap="square" lIns="0" tIns="0" rIns="0" bIns="0" rtlCol="0" anchor="t"/>
          <a:lstStyle/>
          <a:p>
            <a:pPr marL="0" indent="0">
              <a:buNone/>
            </a:pPr>
            <a:r>
              <a:rPr lang="en-US" sz="2000" dirty="0">
                <a:solidFill>
                  <a:srgbClr val="4F7F6E"/>
                </a:solidFill>
              </a:rPr>
              <a:t>Real-time, multi-face, explainable facial expression recognition under mask occlusion</a:t>
            </a:r>
            <a:endParaRPr lang="en-US" sz="2000" dirty="0"/>
          </a:p>
        </p:txBody>
      </p:sp>
      <p:sp>
        <p:nvSpPr>
          <p:cNvPr id="4" name="Text 2"/>
          <p:cNvSpPr txBox="1"/>
          <p:nvPr/>
        </p:nvSpPr>
        <p:spPr>
          <a:xfrm>
            <a:off x="640080" y="2834640"/>
            <a:ext cx="6675120" cy="822960"/>
          </a:xfrm>
          <a:prstGeom prst="rect">
            <a:avLst/>
          </a:prstGeom>
          <a:noFill/>
        </p:spPr>
        <p:txBody>
          <a:bodyPr wrap="square" lIns="0" tIns="0" rIns="0" bIns="0" rtlCol="0" anchor="t"/>
          <a:lstStyle/>
          <a:p>
            <a:pPr marL="0" indent="0">
              <a:buNone/>
            </a:pPr>
            <a:endParaRPr lang="en-US" sz="1400" dirty="0"/>
          </a:p>
        </p:txBody>
      </p:sp>
      <p:sp>
        <p:nvSpPr>
          <p:cNvPr id="5" name="Shape 3"/>
          <p:cNvSpPr/>
          <p:nvPr/>
        </p:nvSpPr>
        <p:spPr>
          <a:xfrm>
            <a:off x="7680960" y="640080"/>
            <a:ext cx="3931920" cy="3108960"/>
          </a:xfrm>
          <a:prstGeom prst="roundRect">
            <a:avLst>
              <a:gd name="adj" fmla="val 3529"/>
            </a:avLst>
          </a:prstGeom>
          <a:solidFill>
            <a:srgbClr val="DCEBE3">
              <a:alpha val="50000"/>
            </a:srgbClr>
          </a:solidFill>
          <a:ln w="15875">
            <a:solidFill>
              <a:srgbClr val="4F7F6E"/>
            </a:solidFill>
            <a:prstDash val="dash"/>
          </a:ln>
        </p:spPr>
        <p:txBody>
          <a:bodyPr/>
          <a:p/>
        </p:txBody>
      </p:sp>
      <p:sp>
        <p:nvSpPr>
          <p:cNvPr id="6" name="Text 4"/>
          <p:cNvSpPr txBox="1"/>
          <p:nvPr/>
        </p:nvSpPr>
        <p:spPr>
          <a:xfrm>
            <a:off x="7863840" y="640080"/>
            <a:ext cx="3566160" cy="3108960"/>
          </a:xfrm>
          <a:prstGeom prst="rect">
            <a:avLst/>
          </a:prstGeom>
          <a:noFill/>
        </p:spPr>
        <p:txBody>
          <a:bodyPr wrap="square" rtlCol="0" anchor="ctr"/>
          <a:lstStyle/>
          <a:p>
            <a:pPr marL="0" indent="0" algn="ctr">
              <a:buNone/>
            </a:pPr>
            <a:endParaRPr lang="en-US" sz="1100" dirty="0"/>
          </a:p>
        </p:txBody>
      </p:sp>
      <p:sp>
        <p:nvSpPr>
          <p:cNvPr id="7" name="Shape 5"/>
          <p:cNvSpPr/>
          <p:nvPr/>
        </p:nvSpPr>
        <p:spPr>
          <a:xfrm>
            <a:off x="640080" y="4343400"/>
            <a:ext cx="3520440" cy="1280160"/>
          </a:xfrm>
          <a:prstGeom prst="roundRect">
            <a:avLst>
              <a:gd name="adj" fmla="val 7143"/>
            </a:avLst>
          </a:prstGeom>
          <a:solidFill>
            <a:srgbClr val="FFFFFF"/>
          </a:solidFill>
          <a:ln w="12700">
            <a:solidFill>
              <a:srgbClr val="DCEBE3"/>
            </a:solidFill>
            <a:prstDash val="solid"/>
          </a:ln>
        </p:spPr>
        <p:txBody>
          <a:bodyPr/>
          <a:p/>
        </p:txBody>
      </p:sp>
      <p:sp>
        <p:nvSpPr>
          <p:cNvPr id="8" name="Text 6"/>
          <p:cNvSpPr txBox="1"/>
          <p:nvPr/>
        </p:nvSpPr>
        <p:spPr>
          <a:xfrm>
            <a:off x="1188720" y="4688713"/>
            <a:ext cx="3154680" cy="1060704"/>
          </a:xfrm>
          <a:prstGeom prst="rect">
            <a:avLst/>
          </a:prstGeom>
          <a:noFill/>
        </p:spPr>
        <p:txBody>
          <a:bodyPr wrap="square" lIns="0" tIns="0" rIns="0" bIns="0" rtlCol="0" anchor="t"/>
          <a:lstStyle/>
          <a:p>
            <a:pPr marL="0" indent="0" algn="l">
              <a:spcAft>
                <a:spcPts val="400"/>
              </a:spcAft>
              <a:buNone/>
            </a:pPr>
            <a:r>
              <a:rPr lang="en-US" altLang="en-US" sz="1600" dirty="0">
                <a:solidFill>
                  <a:srgbClr val="2F3E3A"/>
                </a:solidFill>
                <a:sym typeface="+mn-ea"/>
              </a:rPr>
              <a:t>SE200698 Hồ Trường Thịnh</a:t>
            </a:r>
            <a:br>
              <a:rPr lang="en-US" altLang="en-US" sz="1600" dirty="0">
                <a:solidFill>
                  <a:srgbClr val="2F3E3A"/>
                </a:solidFill>
                <a:sym typeface="+mn-ea"/>
              </a:rPr>
            </a:br>
            <a:r>
              <a:rPr lang="en-US" sz="1600" dirty="0">
                <a:solidFill>
                  <a:srgbClr val="2F3E3A"/>
                </a:solidFill>
                <a:sym typeface="+mn-ea"/>
              </a:rPr>
              <a:t>Data &amp; Preprocessing</a:t>
            </a:r>
            <a:endParaRPr lang="en-US" sz="1600" dirty="0"/>
          </a:p>
        </p:txBody>
      </p:sp>
      <p:sp>
        <p:nvSpPr>
          <p:cNvPr id="9" name="Shape 7"/>
          <p:cNvSpPr/>
          <p:nvPr/>
        </p:nvSpPr>
        <p:spPr>
          <a:xfrm>
            <a:off x="4343400" y="4343400"/>
            <a:ext cx="3520440" cy="1280160"/>
          </a:xfrm>
          <a:prstGeom prst="roundRect">
            <a:avLst>
              <a:gd name="adj" fmla="val 7143"/>
            </a:avLst>
          </a:prstGeom>
          <a:solidFill>
            <a:srgbClr val="FFFFFF"/>
          </a:solidFill>
          <a:ln w="12700">
            <a:solidFill>
              <a:srgbClr val="DCEBE3"/>
            </a:solidFill>
            <a:prstDash val="solid"/>
          </a:ln>
        </p:spPr>
        <p:txBody>
          <a:bodyPr/>
          <a:p/>
        </p:txBody>
      </p:sp>
      <p:sp>
        <p:nvSpPr>
          <p:cNvPr id="10" name="Text 8"/>
          <p:cNvSpPr txBox="1"/>
          <p:nvPr/>
        </p:nvSpPr>
        <p:spPr>
          <a:xfrm>
            <a:off x="4813935" y="4688713"/>
            <a:ext cx="3154680" cy="1060704"/>
          </a:xfrm>
          <a:prstGeom prst="rect">
            <a:avLst/>
          </a:prstGeom>
          <a:noFill/>
        </p:spPr>
        <p:txBody>
          <a:bodyPr wrap="square" lIns="0" tIns="0" rIns="0" bIns="0" rtlCol="0" anchor="t"/>
          <a:lstStyle/>
          <a:p>
            <a:pPr marL="0" indent="0">
              <a:spcAft>
                <a:spcPts val="400"/>
              </a:spcAft>
              <a:buNone/>
            </a:pPr>
            <a:r>
              <a:rPr lang="en-US" altLang="en-US" sz="1600" dirty="0">
                <a:solidFill>
                  <a:srgbClr val="2F3E3A"/>
                </a:solidFill>
                <a:sym typeface="+mn-ea"/>
              </a:rPr>
              <a:t>SE203691 Nguyễn Trinh Quý</a:t>
            </a:r>
            <a:br>
              <a:rPr lang="en-US" altLang="en-US" sz="1600" dirty="0">
                <a:solidFill>
                  <a:srgbClr val="2F3E3A"/>
                </a:solidFill>
                <a:sym typeface="+mn-ea"/>
              </a:rPr>
            </a:br>
            <a:r>
              <a:rPr lang="en-US" sz="1600" dirty="0">
                <a:solidFill>
                  <a:srgbClr val="2F3E3A"/>
                </a:solidFill>
                <a:sym typeface="+mn-ea"/>
              </a:rPr>
              <a:t>Model, Training &amp; Evaluation</a:t>
            </a:r>
            <a:endParaRPr lang="en-US" sz="1600" dirty="0"/>
          </a:p>
        </p:txBody>
      </p:sp>
      <p:sp>
        <p:nvSpPr>
          <p:cNvPr id="11" name="Shape 9"/>
          <p:cNvSpPr/>
          <p:nvPr/>
        </p:nvSpPr>
        <p:spPr>
          <a:xfrm>
            <a:off x="8046720" y="4343400"/>
            <a:ext cx="3520440" cy="1280160"/>
          </a:xfrm>
          <a:prstGeom prst="roundRect">
            <a:avLst>
              <a:gd name="adj" fmla="val 7143"/>
            </a:avLst>
          </a:prstGeom>
          <a:solidFill>
            <a:srgbClr val="FFFFFF"/>
          </a:solidFill>
          <a:ln w="12700">
            <a:solidFill>
              <a:srgbClr val="DCEBE3"/>
            </a:solidFill>
            <a:prstDash val="solid"/>
          </a:ln>
        </p:spPr>
        <p:txBody>
          <a:bodyPr/>
          <a:p/>
        </p:txBody>
      </p:sp>
      <p:sp>
        <p:nvSpPr>
          <p:cNvPr id="12" name="Text 10"/>
          <p:cNvSpPr txBox="1"/>
          <p:nvPr/>
        </p:nvSpPr>
        <p:spPr>
          <a:xfrm>
            <a:off x="8622030" y="4688713"/>
            <a:ext cx="3154680" cy="1060704"/>
          </a:xfrm>
          <a:prstGeom prst="rect">
            <a:avLst/>
          </a:prstGeom>
          <a:noFill/>
        </p:spPr>
        <p:txBody>
          <a:bodyPr wrap="square" lIns="0" tIns="0" rIns="0" bIns="0" rtlCol="0" anchor="t"/>
          <a:lstStyle/>
          <a:p>
            <a:pPr marL="0" indent="0">
              <a:spcAft>
                <a:spcPts val="400"/>
              </a:spcAft>
              <a:buNone/>
            </a:pPr>
            <a:r>
              <a:rPr lang="en-US" altLang="en-US" sz="1600" dirty="0">
                <a:sym typeface="+mn-ea"/>
              </a:rPr>
              <a:t>SE194517 Trịnh Quốc Sang</a:t>
            </a:r>
            <a:endParaRPr lang="en-US" altLang="en-US" sz="1600" dirty="0"/>
          </a:p>
          <a:p>
            <a:pPr marL="0" indent="0">
              <a:spcAft>
                <a:spcPts val="400"/>
              </a:spcAft>
              <a:buNone/>
            </a:pPr>
            <a:r>
              <a:rPr lang="en-US" sz="1600" dirty="0">
                <a:solidFill>
                  <a:srgbClr val="2F3E3A"/>
                </a:solidFill>
                <a:sym typeface="+mn-ea"/>
              </a:rPr>
              <a:t>Real-Time System, XAI &amp; Demo</a:t>
            </a:r>
            <a:endParaRPr lang="en-US" sz="1600" dirty="0"/>
          </a:p>
        </p:txBody>
      </p:sp>
      <p:pic>
        <p:nvPicPr>
          <p:cNvPr id="18" name="Picture 17"/>
          <p:cNvPicPr>
            <a:picLocks noChangeAspect="1"/>
          </p:cNvPicPr>
          <p:nvPr/>
        </p:nvPicPr>
        <p:blipFill>
          <a:blip r:embed="rId1"/>
          <a:stretch>
            <a:fillRect/>
          </a:stretch>
        </p:blipFill>
        <p:spPr>
          <a:xfrm>
            <a:off x="6418580" y="386715"/>
            <a:ext cx="5426710" cy="36163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Problem: 3 barriers to FER in the real world</a:t>
            </a:r>
            <a:endParaRPr lang="en-US" sz="2800" dirty="0"/>
          </a:p>
        </p:txBody>
      </p:sp>
      <p:sp>
        <p:nvSpPr>
          <p:cNvPr id="4" name="Shape 2"/>
          <p:cNvSpPr/>
          <p:nvPr/>
        </p:nvSpPr>
        <p:spPr>
          <a:xfrm>
            <a:off x="548640" y="1371600"/>
            <a:ext cx="3566160" cy="1920240"/>
          </a:xfrm>
          <a:prstGeom prst="roundRect">
            <a:avLst>
              <a:gd name="adj" fmla="val 5714"/>
            </a:avLst>
          </a:prstGeom>
          <a:solidFill>
            <a:srgbClr val="DCEBE3">
              <a:alpha val="50000"/>
            </a:srgbClr>
          </a:solidFill>
          <a:ln w="15875">
            <a:solidFill>
              <a:srgbClr val="4F7F6E"/>
            </a:solidFill>
            <a:prstDash val="dash"/>
          </a:ln>
        </p:spPr>
        <p:txBody>
          <a:bodyPr/>
          <a:p/>
        </p:txBody>
      </p:sp>
      <p:sp>
        <p:nvSpPr>
          <p:cNvPr id="6" name="Shape 4"/>
          <p:cNvSpPr/>
          <p:nvPr/>
        </p:nvSpPr>
        <p:spPr>
          <a:xfrm>
            <a:off x="548640" y="3429000"/>
            <a:ext cx="3566160" cy="2057400"/>
          </a:xfrm>
          <a:prstGeom prst="roundRect">
            <a:avLst>
              <a:gd name="adj" fmla="val 4444"/>
            </a:avLst>
          </a:prstGeom>
          <a:solidFill>
            <a:srgbClr val="FFFFFF"/>
          </a:solidFill>
          <a:ln w="12700">
            <a:solidFill>
              <a:srgbClr val="DCEBE3"/>
            </a:solidFill>
            <a:prstDash val="solid"/>
          </a:ln>
        </p:spPr>
        <p:txBody>
          <a:bodyPr/>
          <a:p/>
        </p:txBody>
      </p:sp>
      <p:sp>
        <p:nvSpPr>
          <p:cNvPr id="7" name="Text 5"/>
          <p:cNvSpPr txBox="1"/>
          <p:nvPr/>
        </p:nvSpPr>
        <p:spPr>
          <a:xfrm>
            <a:off x="731520" y="3538728"/>
            <a:ext cx="3200400" cy="183794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Lab-to-wild gap</a:t>
            </a:r>
            <a:endParaRPr lang="en-US" sz="1600" dirty="0"/>
          </a:p>
          <a:p>
            <a:pPr marL="0" indent="0">
              <a:spcAft>
                <a:spcPts val="400"/>
              </a:spcAft>
              <a:buNone/>
            </a:pPr>
            <a:r>
              <a:rPr lang="en-US" sz="1400" dirty="0">
                <a:solidFill>
                  <a:srgbClr val="2F3E3A"/>
                </a:solidFill>
              </a:rPr>
              <a:t>Models trained on FER-2013 (48×48 grayscale) collapse on color images with tilted poses and complex lighting.</a:t>
            </a:r>
            <a:endParaRPr lang="en-US" sz="1600" dirty="0"/>
          </a:p>
          <a:p>
            <a:pPr marL="0" indent="0">
              <a:spcAft>
                <a:spcPts val="400"/>
              </a:spcAft>
              <a:buNone/>
            </a:pPr>
            <a:r>
              <a:rPr lang="en-US" sz="1400" dirty="0">
                <a:solidFill>
                  <a:srgbClr val="2F3E3A"/>
                </a:solidFill>
              </a:rPr>
              <a:t>→ We use RAF-DB: 15,339 color, in-the-wild faces.</a:t>
            </a:r>
            <a:endParaRPr lang="en-US" sz="1600" dirty="0"/>
          </a:p>
        </p:txBody>
      </p:sp>
      <p:sp>
        <p:nvSpPr>
          <p:cNvPr id="8" name="Shape 6"/>
          <p:cNvSpPr/>
          <p:nvPr/>
        </p:nvSpPr>
        <p:spPr>
          <a:xfrm>
            <a:off x="4297680" y="1371600"/>
            <a:ext cx="3566160" cy="1920240"/>
          </a:xfrm>
          <a:prstGeom prst="roundRect">
            <a:avLst>
              <a:gd name="adj" fmla="val 5714"/>
            </a:avLst>
          </a:prstGeom>
          <a:solidFill>
            <a:srgbClr val="DCEBE3">
              <a:alpha val="50000"/>
            </a:srgbClr>
          </a:solidFill>
          <a:ln w="15875">
            <a:solidFill>
              <a:srgbClr val="4F7F6E"/>
            </a:solidFill>
            <a:prstDash val="dash"/>
          </a:ln>
        </p:spPr>
        <p:txBody>
          <a:bodyPr/>
          <a:p/>
        </p:txBody>
      </p:sp>
      <p:sp>
        <p:nvSpPr>
          <p:cNvPr id="10" name="Shape 8"/>
          <p:cNvSpPr/>
          <p:nvPr/>
        </p:nvSpPr>
        <p:spPr>
          <a:xfrm>
            <a:off x="4297680" y="3429000"/>
            <a:ext cx="3566160" cy="2057400"/>
          </a:xfrm>
          <a:prstGeom prst="roundRect">
            <a:avLst>
              <a:gd name="adj" fmla="val 4444"/>
            </a:avLst>
          </a:prstGeom>
          <a:solidFill>
            <a:srgbClr val="FFFFFF"/>
          </a:solidFill>
          <a:ln w="12700">
            <a:solidFill>
              <a:srgbClr val="DCEBE3"/>
            </a:solidFill>
            <a:prstDash val="solid"/>
          </a:ln>
        </p:spPr>
        <p:txBody>
          <a:bodyPr/>
          <a:p/>
        </p:txBody>
      </p:sp>
      <p:sp>
        <p:nvSpPr>
          <p:cNvPr id="11" name="Text 9"/>
          <p:cNvSpPr txBox="1"/>
          <p:nvPr/>
        </p:nvSpPr>
        <p:spPr>
          <a:xfrm>
            <a:off x="4480560" y="3538728"/>
            <a:ext cx="3200400" cy="183794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Masks hide half the face</a:t>
            </a:r>
            <a:endParaRPr lang="en-US" sz="1600" dirty="0"/>
          </a:p>
          <a:p>
            <a:pPr marL="0" indent="0">
              <a:spcAft>
                <a:spcPts val="400"/>
              </a:spcAft>
              <a:buNone/>
            </a:pPr>
            <a:r>
              <a:rPr lang="en-US" sz="1400" dirty="0">
                <a:solidFill>
                  <a:srgbClr val="2F3E3A"/>
                </a:solidFill>
              </a:rPr>
              <a:t>Our RAF-DB-only model on masked faces: accuracy 89.2% → 56.6%; happy recall 94% → 44%, 48% of happy faces predicted as neutral.</a:t>
            </a:r>
            <a:endParaRPr lang="en-US" sz="1600" dirty="0"/>
          </a:p>
        </p:txBody>
      </p:sp>
      <p:sp>
        <p:nvSpPr>
          <p:cNvPr id="12" name="Shape 10"/>
          <p:cNvSpPr/>
          <p:nvPr/>
        </p:nvSpPr>
        <p:spPr>
          <a:xfrm>
            <a:off x="8046720" y="1371600"/>
            <a:ext cx="3566160" cy="1920240"/>
          </a:xfrm>
          <a:prstGeom prst="roundRect">
            <a:avLst>
              <a:gd name="adj" fmla="val 5714"/>
            </a:avLst>
          </a:prstGeom>
          <a:solidFill>
            <a:srgbClr val="DCEBE3">
              <a:alpha val="50000"/>
            </a:srgbClr>
          </a:solidFill>
          <a:ln w="15875">
            <a:solidFill>
              <a:srgbClr val="4F7F6E"/>
            </a:solidFill>
            <a:prstDash val="dash"/>
          </a:ln>
        </p:spPr>
        <p:txBody>
          <a:bodyPr/>
          <a:p/>
        </p:txBody>
      </p:sp>
      <p:sp>
        <p:nvSpPr>
          <p:cNvPr id="14" name="Shape 12"/>
          <p:cNvSpPr/>
          <p:nvPr/>
        </p:nvSpPr>
        <p:spPr>
          <a:xfrm>
            <a:off x="8046720" y="3429000"/>
            <a:ext cx="3566160" cy="2057400"/>
          </a:xfrm>
          <a:prstGeom prst="roundRect">
            <a:avLst>
              <a:gd name="adj" fmla="val 4444"/>
            </a:avLst>
          </a:prstGeom>
          <a:solidFill>
            <a:srgbClr val="FFFFFF"/>
          </a:solidFill>
          <a:ln w="12700">
            <a:solidFill>
              <a:srgbClr val="DCEBE3"/>
            </a:solidFill>
            <a:prstDash val="solid"/>
          </a:ln>
        </p:spPr>
        <p:txBody>
          <a:bodyPr/>
          <a:p/>
        </p:txBody>
      </p:sp>
      <p:sp>
        <p:nvSpPr>
          <p:cNvPr id="15" name="Text 13"/>
          <p:cNvSpPr txBox="1"/>
          <p:nvPr/>
        </p:nvSpPr>
        <p:spPr>
          <a:xfrm>
            <a:off x="8229600" y="3538728"/>
            <a:ext cx="3200400" cy="183794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Black-box AI</a:t>
            </a:r>
            <a:endParaRPr lang="en-US" sz="1600" dirty="0"/>
          </a:p>
          <a:p>
            <a:pPr marL="0" indent="0">
              <a:spcAft>
                <a:spcPts val="400"/>
              </a:spcAft>
              <a:buNone/>
            </a:pPr>
            <a:r>
              <a:rPr lang="en-US" sz="1400" dirty="0">
                <a:solidFill>
                  <a:srgbClr val="2F3E3A"/>
                </a:solidFill>
              </a:rPr>
              <a:t>Only a label, no visual evidence, which is hard to trust in healthcare and education.</a:t>
            </a:r>
            <a:endParaRPr lang="en-US" sz="1600" dirty="0"/>
          </a:p>
          <a:p>
            <a:pPr marL="0" indent="0">
              <a:spcAft>
                <a:spcPts val="400"/>
              </a:spcAft>
              <a:buNone/>
            </a:pPr>
            <a:r>
              <a:rPr lang="en-US" sz="1400" dirty="0">
                <a:solidFill>
                  <a:srgbClr val="2F3E3A"/>
                </a:solidFill>
              </a:rPr>
              <a:t>→ We show a Grad-CAM heatmap with every prediction.</a:t>
            </a:r>
            <a:endParaRPr lang="en-US" sz="1600" dirty="0"/>
          </a:p>
        </p:txBody>
      </p:sp>
      <p:sp>
        <p:nvSpPr>
          <p:cNvPr id="16" name="Text 14"/>
          <p:cNvSpPr txBox="1"/>
          <p:nvPr/>
        </p:nvSpPr>
        <p:spPr>
          <a:xfrm>
            <a:off x="548640" y="5669280"/>
            <a:ext cx="11064240" cy="594360"/>
          </a:xfrm>
          <a:prstGeom prst="roundRect">
            <a:avLst>
              <a:gd name="adj" fmla="val 15385"/>
            </a:avLst>
          </a:prstGeom>
          <a:solidFill>
            <a:srgbClr val="4F7F6E"/>
          </a:solidFill>
        </p:spPr>
        <p:txBody>
          <a:bodyPr wrap="square" rtlCol="0" anchor="ctr"/>
          <a:lstStyle/>
          <a:p>
            <a:pPr marL="0" indent="0" algn="ctr">
              <a:buNone/>
            </a:pPr>
            <a:r>
              <a:rPr lang="en-US" sz="1800" b="1" dirty="0">
                <a:solidFill>
                  <a:srgbClr val="FFFFFF"/>
                </a:solidFill>
              </a:rPr>
              <a:t>Goal: In-the-wild · Mask-Aware · Real-Time · Explainable</a:t>
            </a:r>
            <a:endParaRPr lang="en-US" sz="18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18" name="Picture 17"/>
          <p:cNvPicPr/>
          <p:nvPr/>
        </p:nvPicPr>
        <p:blipFill>
          <a:blip r:embed="rId2"/>
          <a:stretch>
            <a:fillRect/>
          </a:stretch>
        </p:blipFill>
        <p:spPr>
          <a:xfrm>
            <a:off x="546735" y="1317625"/>
            <a:ext cx="3568065" cy="2047240"/>
          </a:xfrm>
          <a:prstGeom prst="rect">
            <a:avLst/>
          </a:prstGeom>
        </p:spPr>
      </p:pic>
      <p:pic>
        <p:nvPicPr>
          <p:cNvPr id="19" name="Picture 18"/>
          <p:cNvPicPr/>
          <p:nvPr/>
        </p:nvPicPr>
        <p:blipFill>
          <a:blip r:embed="rId3"/>
          <a:stretch>
            <a:fillRect/>
          </a:stretch>
        </p:blipFill>
        <p:spPr>
          <a:xfrm>
            <a:off x="4297680" y="1371600"/>
            <a:ext cx="3566795" cy="1932305"/>
          </a:xfrm>
          <a:prstGeom prst="rect">
            <a:avLst/>
          </a:prstGeom>
        </p:spPr>
      </p:pic>
      <p:pic>
        <p:nvPicPr>
          <p:cNvPr id="26" name="Picture 25" descr="blackbox_clean.png"/>
          <p:cNvPicPr>
            <a:picLocks noChangeAspect="1"/>
          </p:cNvPicPr>
          <p:nvPr/>
        </p:nvPicPr>
        <p:blipFill>
          <a:blip r:embed="rId1"/>
          <a:srcRect/>
          <a:stretch>
            <a:fillRect/>
          </a:stretch>
        </p:blipFill>
        <p:spPr>
          <a:xfrm>
            <a:off x="8046720" y="1360805"/>
            <a:ext cx="3566795" cy="1960880"/>
          </a:xfrm>
          <a:prstGeom prst="rect">
            <a:avLst/>
          </a:prstGeom>
        </p:spPr>
      </p:pic>
      <p:sp>
        <p:nvSpPr>
          <p:cNvPr id="27"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RAF-DB data &amp; mask generation pipeline</a:t>
            </a:r>
            <a:endParaRPr lang="en-US" sz="2800" dirty="0"/>
          </a:p>
        </p:txBody>
      </p:sp>
      <p:sp>
        <p:nvSpPr>
          <p:cNvPr id="4" name="Shape 2"/>
          <p:cNvSpPr/>
          <p:nvPr/>
        </p:nvSpPr>
        <p:spPr>
          <a:xfrm>
            <a:off x="548640" y="1371600"/>
            <a:ext cx="2651760" cy="1371600"/>
          </a:xfrm>
          <a:prstGeom prst="roundRect">
            <a:avLst>
              <a:gd name="adj" fmla="val 6667"/>
            </a:avLst>
          </a:prstGeom>
          <a:solidFill>
            <a:srgbClr val="FBEAE3"/>
          </a:solidFill>
        </p:spPr>
        <p:txBody>
          <a:bodyPr/>
          <a:p/>
        </p:txBody>
      </p:sp>
      <p:sp>
        <p:nvSpPr>
          <p:cNvPr id="5" name="Text 3"/>
          <p:cNvSpPr txBox="1"/>
          <p:nvPr/>
        </p:nvSpPr>
        <p:spPr>
          <a:xfrm>
            <a:off x="548640" y="1444752"/>
            <a:ext cx="2651760" cy="68580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15,339</a:t>
            </a:r>
            <a:endParaRPr lang="en-US" sz="3000" dirty="0"/>
          </a:p>
        </p:txBody>
      </p:sp>
      <p:sp>
        <p:nvSpPr>
          <p:cNvPr id="6" name="Text 4"/>
          <p:cNvSpPr txBox="1"/>
          <p:nvPr/>
        </p:nvSpPr>
        <p:spPr>
          <a:xfrm>
            <a:off x="685800" y="2084832"/>
            <a:ext cx="2377440" cy="603504"/>
          </a:xfrm>
          <a:prstGeom prst="rect">
            <a:avLst/>
          </a:prstGeom>
          <a:noFill/>
        </p:spPr>
        <p:txBody>
          <a:bodyPr wrap="square" rtlCol="0" anchor="t"/>
          <a:lstStyle/>
          <a:p>
            <a:pPr marL="0" indent="0" algn="ctr">
              <a:buNone/>
            </a:pPr>
            <a:r>
              <a:rPr lang="en-US" sz="1300" dirty="0">
                <a:solidFill>
                  <a:srgbClr val="2F3E3A"/>
                </a:solidFill>
              </a:rPr>
              <a:t>RAF-DB images (12,271 train · 3,068 test)</a:t>
            </a:r>
            <a:endParaRPr lang="en-US" sz="1300" dirty="0"/>
          </a:p>
        </p:txBody>
      </p:sp>
      <p:sp>
        <p:nvSpPr>
          <p:cNvPr id="7" name="Shape 5"/>
          <p:cNvSpPr/>
          <p:nvPr/>
        </p:nvSpPr>
        <p:spPr>
          <a:xfrm>
            <a:off x="3383280" y="1371600"/>
            <a:ext cx="2651760" cy="1371600"/>
          </a:xfrm>
          <a:prstGeom prst="roundRect">
            <a:avLst>
              <a:gd name="adj" fmla="val 6667"/>
            </a:avLst>
          </a:prstGeom>
          <a:solidFill>
            <a:srgbClr val="DCEBE3"/>
          </a:solidFill>
        </p:spPr>
        <p:txBody>
          <a:bodyPr/>
          <a:p/>
        </p:txBody>
      </p:sp>
      <p:sp>
        <p:nvSpPr>
          <p:cNvPr id="8" name="Text 6"/>
          <p:cNvSpPr txBox="1"/>
          <p:nvPr/>
        </p:nvSpPr>
        <p:spPr>
          <a:xfrm>
            <a:off x="3383280" y="1444752"/>
            <a:ext cx="2651760" cy="68580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7,830</a:t>
            </a:r>
            <a:endParaRPr lang="en-US" sz="3000" dirty="0"/>
          </a:p>
        </p:txBody>
      </p:sp>
      <p:sp>
        <p:nvSpPr>
          <p:cNvPr id="9" name="Text 7"/>
          <p:cNvSpPr txBox="1"/>
          <p:nvPr/>
        </p:nvSpPr>
        <p:spPr>
          <a:xfrm>
            <a:off x="3520440" y="2084832"/>
            <a:ext cx="2377440" cy="603504"/>
          </a:xfrm>
          <a:prstGeom prst="rect">
            <a:avLst/>
          </a:prstGeom>
          <a:noFill/>
        </p:spPr>
        <p:txBody>
          <a:bodyPr wrap="square" rtlCol="0" anchor="t"/>
          <a:lstStyle/>
          <a:p>
            <a:pPr marL="0" indent="0" algn="ctr">
              <a:buNone/>
            </a:pPr>
            <a:r>
              <a:rPr lang="en-US" sz="1300" dirty="0">
                <a:solidFill>
                  <a:srgbClr val="2F3E3A"/>
                </a:solidFill>
              </a:rPr>
              <a:t>train_masked images</a:t>
            </a:r>
            <a:endParaRPr lang="en-US" sz="1300" dirty="0"/>
          </a:p>
        </p:txBody>
      </p:sp>
      <p:sp>
        <p:nvSpPr>
          <p:cNvPr id="10" name="Shape 8"/>
          <p:cNvSpPr/>
          <p:nvPr/>
        </p:nvSpPr>
        <p:spPr>
          <a:xfrm>
            <a:off x="6217920" y="1371600"/>
            <a:ext cx="2651760" cy="1371600"/>
          </a:xfrm>
          <a:prstGeom prst="roundRect">
            <a:avLst>
              <a:gd name="adj" fmla="val 6667"/>
            </a:avLst>
          </a:prstGeom>
          <a:solidFill>
            <a:srgbClr val="FBEAE3"/>
          </a:solidFill>
        </p:spPr>
        <p:txBody>
          <a:bodyPr/>
          <a:p/>
        </p:txBody>
      </p:sp>
      <p:sp>
        <p:nvSpPr>
          <p:cNvPr id="11" name="Text 9"/>
          <p:cNvSpPr txBox="1"/>
          <p:nvPr/>
        </p:nvSpPr>
        <p:spPr>
          <a:xfrm>
            <a:off x="6217920" y="1444752"/>
            <a:ext cx="2651760" cy="68580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1,975</a:t>
            </a:r>
            <a:endParaRPr lang="en-US" sz="3000" dirty="0"/>
          </a:p>
        </p:txBody>
      </p:sp>
      <p:sp>
        <p:nvSpPr>
          <p:cNvPr id="12" name="Text 10"/>
          <p:cNvSpPr txBox="1"/>
          <p:nvPr/>
        </p:nvSpPr>
        <p:spPr>
          <a:xfrm>
            <a:off x="6355080" y="2084832"/>
            <a:ext cx="2377440" cy="603504"/>
          </a:xfrm>
          <a:prstGeom prst="rect">
            <a:avLst/>
          </a:prstGeom>
          <a:noFill/>
        </p:spPr>
        <p:txBody>
          <a:bodyPr wrap="square" rtlCol="0" anchor="t"/>
          <a:lstStyle/>
          <a:p>
            <a:pPr marL="0" indent="0" algn="ctr">
              <a:buNone/>
            </a:pPr>
            <a:r>
              <a:rPr lang="en-US" sz="1300" dirty="0">
                <a:solidFill>
                  <a:srgbClr val="2F3E3A"/>
                </a:solidFill>
              </a:rPr>
              <a:t>test_masked images</a:t>
            </a:r>
            <a:endParaRPr lang="en-US" sz="1300" dirty="0"/>
          </a:p>
        </p:txBody>
      </p:sp>
      <p:sp>
        <p:nvSpPr>
          <p:cNvPr id="13" name="Shape 11"/>
          <p:cNvSpPr/>
          <p:nvPr/>
        </p:nvSpPr>
        <p:spPr>
          <a:xfrm>
            <a:off x="9052560" y="1371600"/>
            <a:ext cx="2651760" cy="1371600"/>
          </a:xfrm>
          <a:prstGeom prst="roundRect">
            <a:avLst>
              <a:gd name="adj" fmla="val 6667"/>
            </a:avLst>
          </a:prstGeom>
          <a:solidFill>
            <a:srgbClr val="DCEBE3"/>
          </a:solidFill>
        </p:spPr>
        <p:txBody>
          <a:bodyPr/>
          <a:p/>
        </p:txBody>
      </p:sp>
      <p:sp>
        <p:nvSpPr>
          <p:cNvPr id="14" name="Text 12"/>
          <p:cNvSpPr txBox="1"/>
          <p:nvPr/>
        </p:nvSpPr>
        <p:spPr>
          <a:xfrm>
            <a:off x="9052560" y="1444752"/>
            <a:ext cx="2651760" cy="68580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7 labels</a:t>
            </a:r>
            <a:endParaRPr lang="en-US" sz="3000" dirty="0"/>
          </a:p>
        </p:txBody>
      </p:sp>
      <p:sp>
        <p:nvSpPr>
          <p:cNvPr id="15" name="Text 13"/>
          <p:cNvSpPr txBox="1"/>
          <p:nvPr/>
        </p:nvSpPr>
        <p:spPr>
          <a:xfrm>
            <a:off x="9189720" y="2084832"/>
            <a:ext cx="2377440" cy="603504"/>
          </a:xfrm>
          <a:prstGeom prst="rect">
            <a:avLst/>
          </a:prstGeom>
          <a:noFill/>
        </p:spPr>
        <p:txBody>
          <a:bodyPr wrap="square" rtlCol="0" anchor="t"/>
          <a:lstStyle/>
          <a:p>
            <a:pPr marL="0" indent="0" algn="ctr">
              <a:buNone/>
            </a:pPr>
            <a:r>
              <a:rPr lang="en-US" sz="1300" dirty="0">
                <a:solidFill>
                  <a:srgbClr val="2F3E3A"/>
                </a:solidFill>
              </a:rPr>
              <a:t>happy, neutral, sad, surprise, angry, disgust, fear</a:t>
            </a:r>
            <a:endParaRPr lang="en-US" sz="1300" dirty="0"/>
          </a:p>
        </p:txBody>
      </p:sp>
      <p:sp>
        <p:nvSpPr>
          <p:cNvPr id="16" name="Text 14"/>
          <p:cNvSpPr txBox="1"/>
          <p:nvPr/>
        </p:nvSpPr>
        <p:spPr>
          <a:xfrm>
            <a:off x="548640" y="3017520"/>
            <a:ext cx="2240280" cy="868680"/>
          </a:xfrm>
          <a:prstGeom prst="roundRect">
            <a:avLst>
              <a:gd name="adj" fmla="val 10526"/>
            </a:avLst>
          </a:prstGeom>
          <a:solidFill>
            <a:srgbClr val="FBEAE3"/>
          </a:solidFill>
        </p:spPr>
        <p:txBody>
          <a:bodyPr wrap="square" rtlCol="0" anchor="ctr"/>
          <a:lstStyle/>
          <a:p>
            <a:pPr marL="0" indent="0" algn="ctr">
              <a:buNone/>
            </a:pPr>
            <a:r>
              <a:rPr lang="en-US" sz="1400" dirty="0">
                <a:solidFill>
                  <a:srgbClr val="2F3E3A"/>
                </a:solidFill>
              </a:rPr>
              <a:t>Aligned original image</a:t>
            </a:r>
            <a:endParaRPr lang="en-US" sz="1400" dirty="0"/>
          </a:p>
        </p:txBody>
      </p:sp>
      <p:sp>
        <p:nvSpPr>
          <p:cNvPr id="17" name="Shape 15"/>
          <p:cNvSpPr/>
          <p:nvPr/>
        </p:nvSpPr>
        <p:spPr>
          <a:xfrm>
            <a:off x="2862072" y="3314700"/>
            <a:ext cx="310896" cy="274320"/>
          </a:xfrm>
          <a:prstGeom prst="rightArrow">
            <a:avLst/>
          </a:prstGeom>
          <a:solidFill>
            <a:srgbClr val="4F7F6E"/>
          </a:solidFill>
        </p:spPr>
        <p:txBody>
          <a:bodyPr/>
          <a:p/>
        </p:txBody>
      </p:sp>
      <p:sp>
        <p:nvSpPr>
          <p:cNvPr id="18" name="Text 16"/>
          <p:cNvSpPr txBox="1"/>
          <p:nvPr/>
        </p:nvSpPr>
        <p:spPr>
          <a:xfrm>
            <a:off x="3246120" y="3017520"/>
            <a:ext cx="2240280" cy="868680"/>
          </a:xfrm>
          <a:prstGeom prst="roundRect">
            <a:avLst>
              <a:gd name="adj" fmla="val 10526"/>
            </a:avLst>
          </a:prstGeom>
          <a:solidFill>
            <a:srgbClr val="DCEBE3"/>
          </a:solidFill>
        </p:spPr>
        <p:txBody>
          <a:bodyPr wrap="square" rtlCol="0" anchor="ctr"/>
          <a:lstStyle/>
          <a:p>
            <a:pPr marL="0" indent="0" algn="ctr">
              <a:buNone/>
            </a:pPr>
            <a:r>
              <a:rPr lang="en-US" sz="1400" dirty="0">
                <a:solidFill>
                  <a:srgbClr val="2F3E3A"/>
                </a:solidFill>
              </a:rPr>
              <a:t>dlib 68 landmarks (nose, cheeks, chin)</a:t>
            </a:r>
            <a:endParaRPr lang="en-US" sz="1400" dirty="0"/>
          </a:p>
        </p:txBody>
      </p:sp>
      <p:sp>
        <p:nvSpPr>
          <p:cNvPr id="19" name="Shape 17"/>
          <p:cNvSpPr/>
          <p:nvPr/>
        </p:nvSpPr>
        <p:spPr>
          <a:xfrm>
            <a:off x="5559552" y="3314700"/>
            <a:ext cx="310896" cy="274320"/>
          </a:xfrm>
          <a:prstGeom prst="rightArrow">
            <a:avLst/>
          </a:prstGeom>
          <a:solidFill>
            <a:srgbClr val="4F7F6E"/>
          </a:solidFill>
        </p:spPr>
        <p:txBody>
          <a:bodyPr/>
          <a:p/>
        </p:txBody>
      </p:sp>
      <p:sp>
        <p:nvSpPr>
          <p:cNvPr id="20" name="Text 18"/>
          <p:cNvSpPr txBox="1"/>
          <p:nvPr/>
        </p:nvSpPr>
        <p:spPr>
          <a:xfrm>
            <a:off x="5943600" y="3017520"/>
            <a:ext cx="2240280" cy="868680"/>
          </a:xfrm>
          <a:prstGeom prst="roundRect">
            <a:avLst>
              <a:gd name="adj" fmla="val 10526"/>
            </a:avLst>
          </a:prstGeom>
          <a:solidFill>
            <a:srgbClr val="FBEAE3"/>
          </a:solidFill>
        </p:spPr>
        <p:txBody>
          <a:bodyPr wrap="square" rtlCol="0" anchor="ctr"/>
          <a:lstStyle/>
          <a:p>
            <a:pPr marL="0" indent="0" algn="ctr">
              <a:buNone/>
            </a:pPr>
            <a:r>
              <a:rPr lang="en-US" sz="1400" dirty="0">
                <a:solidFill>
                  <a:srgbClr val="2F3E3A"/>
                </a:solidFill>
              </a:rPr>
              <a:t>Apply mask (MaskTheFace)</a:t>
            </a:r>
            <a:endParaRPr lang="en-US" sz="1400" dirty="0"/>
          </a:p>
        </p:txBody>
      </p:sp>
      <p:sp>
        <p:nvSpPr>
          <p:cNvPr id="21" name="Shape 19"/>
          <p:cNvSpPr/>
          <p:nvPr/>
        </p:nvSpPr>
        <p:spPr>
          <a:xfrm>
            <a:off x="8257032" y="3314700"/>
            <a:ext cx="310896" cy="274320"/>
          </a:xfrm>
          <a:prstGeom prst="rightArrow">
            <a:avLst/>
          </a:prstGeom>
          <a:solidFill>
            <a:srgbClr val="4F7F6E"/>
          </a:solidFill>
        </p:spPr>
        <p:txBody>
          <a:bodyPr/>
          <a:p/>
        </p:txBody>
      </p:sp>
      <p:sp>
        <p:nvSpPr>
          <p:cNvPr id="22" name="Text 20"/>
          <p:cNvSpPr txBox="1"/>
          <p:nvPr/>
        </p:nvSpPr>
        <p:spPr>
          <a:xfrm>
            <a:off x="8641080" y="3017520"/>
            <a:ext cx="2240280" cy="868680"/>
          </a:xfrm>
          <a:prstGeom prst="roundRect">
            <a:avLst>
              <a:gd name="adj" fmla="val 10526"/>
            </a:avLst>
          </a:prstGeom>
          <a:solidFill>
            <a:srgbClr val="DCEBE3"/>
          </a:solidFill>
        </p:spPr>
        <p:txBody>
          <a:bodyPr wrap="square" rtlCol="0" anchor="ctr"/>
          <a:lstStyle/>
          <a:p>
            <a:pPr marL="0" indent="0" algn="ctr">
              <a:buNone/>
            </a:pPr>
            <a:r>
              <a:rPr lang="en-US" sz="1400" dirty="0">
                <a:solidFill>
                  <a:srgbClr val="2F3E3A"/>
                </a:solidFill>
              </a:rPr>
              <a:t>Keep label + source ID prefix</a:t>
            </a:r>
            <a:endParaRPr lang="en-US" sz="1400" dirty="0"/>
          </a:p>
        </p:txBody>
      </p:sp>
      <p:sp>
        <p:nvSpPr>
          <p:cNvPr id="23" name="Shape 21"/>
          <p:cNvSpPr/>
          <p:nvPr/>
        </p:nvSpPr>
        <p:spPr>
          <a:xfrm>
            <a:off x="548640" y="4160520"/>
            <a:ext cx="5669280" cy="2103120"/>
          </a:xfrm>
          <a:prstGeom prst="roundRect">
            <a:avLst>
              <a:gd name="adj" fmla="val 5217"/>
            </a:avLst>
          </a:prstGeom>
          <a:solidFill>
            <a:srgbClr val="DCEBE3">
              <a:alpha val="50000"/>
            </a:srgbClr>
          </a:solidFill>
          <a:ln w="15875">
            <a:solidFill>
              <a:srgbClr val="4F7F6E"/>
            </a:solidFill>
            <a:prstDash val="dash"/>
          </a:ln>
        </p:spPr>
        <p:txBody>
          <a:bodyPr/>
          <a:p/>
        </p:txBody>
      </p:sp>
      <p:sp>
        <p:nvSpPr>
          <p:cNvPr id="25" name="Shape 23"/>
          <p:cNvSpPr/>
          <p:nvPr/>
        </p:nvSpPr>
        <p:spPr>
          <a:xfrm>
            <a:off x="6492240" y="4160520"/>
            <a:ext cx="5120640" cy="2103120"/>
          </a:xfrm>
          <a:prstGeom prst="roundRect">
            <a:avLst>
              <a:gd name="adj" fmla="val 4348"/>
            </a:avLst>
          </a:prstGeom>
          <a:solidFill>
            <a:srgbClr val="FFFFFF"/>
          </a:solidFill>
          <a:ln w="12700">
            <a:solidFill>
              <a:srgbClr val="DCEBE3"/>
            </a:solidFill>
            <a:prstDash val="solid"/>
          </a:ln>
        </p:spPr>
        <p:txBody>
          <a:bodyPr/>
          <a:p/>
        </p:txBody>
      </p:sp>
      <p:sp>
        <p:nvSpPr>
          <p:cNvPr id="26" name="Text 24"/>
          <p:cNvSpPr txBox="1"/>
          <p:nvPr/>
        </p:nvSpPr>
        <p:spPr>
          <a:xfrm>
            <a:off x="6675120" y="4270248"/>
            <a:ext cx="4754880" cy="188366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Why synthetic masks?</a:t>
            </a:r>
            <a:endParaRPr lang="en-US" sz="1600" dirty="0"/>
          </a:p>
          <a:p>
            <a:pPr marL="0" indent="0">
              <a:spcAft>
                <a:spcPts val="400"/>
              </a:spcAft>
              <a:buNone/>
            </a:pPr>
            <a:r>
              <a:rPr lang="en-US" sz="1400" dirty="0">
                <a:solidFill>
                  <a:srgbClr val="2F3E3A"/>
                </a:solidFill>
              </a:rPr>
              <a:t>~40 annotators per RAF-DB image; labels are kept. Paired before/after images isolate the effect of the mask, and raf_train_00012_surgical.jpg traces back to its source image.</a:t>
            </a:r>
            <a:endParaRPr lang="en-US" sz="1600" dirty="0"/>
          </a:p>
          <a:p>
            <a:pPr marL="0" indent="0">
              <a:spcAft>
                <a:spcPts val="400"/>
              </a:spcAft>
              <a:buNone/>
            </a:pPr>
            <a:r>
              <a:rPr lang="en-US" sz="1400" dirty="0">
                <a:solidFill>
                  <a:srgbClr val="2F3E3A"/>
                </a:solidFill>
              </a:rPr>
              <a:t>Limitation: one mask type; dlib finds ~64% of faces, so not every image has a masked twin.</a:t>
            </a:r>
            <a:endParaRPr lang="en-US" sz="1600" dirty="0"/>
          </a:p>
        </p:txBody>
      </p:sp>
      <p:sp>
        <p:nvSpPr>
          <p:cNvPr id="27"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8" name="RAF-DB mask pairs" descr="deck_raf_mask_pairs.png"/>
          <p:cNvPicPr>
            <a:picLocks noChangeAspect="1"/>
          </p:cNvPicPr>
          <p:nvPr/>
        </p:nvPicPr>
        <p:blipFill>
          <a:blip r:embed="rId1"/>
          <a:stretch>
            <a:fillRect/>
          </a:stretch>
        </p:blipFill>
        <p:spPr>
          <a:xfrm>
            <a:off x="658368" y="4224528"/>
            <a:ext cx="5449824" cy="1990419"/>
          </a:xfrm>
          <a:prstGeom prst="rect">
            <a:avLst/>
          </a:prstGeom>
        </p:spPr>
      </p:pic>
      <p:sp>
        <p:nvSpPr>
          <p:cNvPr id="29"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Data leakage &amp; independent audit</a:t>
            </a:r>
            <a:endParaRPr lang="en-US" sz="2800" dirty="0"/>
          </a:p>
        </p:txBody>
      </p:sp>
      <p:sp>
        <p:nvSpPr>
          <p:cNvPr id="4" name="Shape 2"/>
          <p:cNvSpPr/>
          <p:nvPr/>
        </p:nvSpPr>
        <p:spPr>
          <a:xfrm>
            <a:off x="548640" y="1371600"/>
            <a:ext cx="5440680" cy="2286000"/>
          </a:xfrm>
          <a:prstGeom prst="roundRect">
            <a:avLst>
              <a:gd name="adj" fmla="val 4000"/>
            </a:avLst>
          </a:prstGeom>
          <a:solidFill>
            <a:srgbClr val="FBEAE3"/>
          </a:solidFill>
          <a:ln w="12700">
            <a:solidFill>
              <a:srgbClr val="DCEBE3"/>
            </a:solidFill>
            <a:prstDash val="solid"/>
          </a:ln>
        </p:spPr>
        <p:txBody>
          <a:bodyPr/>
          <a:p/>
        </p:txBody>
      </p:sp>
      <p:sp>
        <p:nvSpPr>
          <p:cNvPr id="5" name="Text 3"/>
          <p:cNvSpPr txBox="1"/>
          <p:nvPr/>
        </p:nvSpPr>
        <p:spPr>
          <a:xfrm>
            <a:off x="731520" y="1481328"/>
            <a:ext cx="5074920" cy="206654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Old pipeline: random 85/15 split</a:t>
            </a:r>
            <a:endParaRPr lang="en-US" sz="1600" dirty="0"/>
          </a:p>
          <a:p>
            <a:pPr marL="0" indent="0">
              <a:spcAft>
                <a:spcPts val="400"/>
              </a:spcAft>
              <a:buNone/>
            </a:pPr>
            <a:r>
              <a:rPr lang="en-US" sz="1400" dirty="0">
                <a:solidFill>
                  <a:srgbClr val="2F3E3A"/>
                </a:solidFill>
              </a:rPr>
              <a:t>The original and masked versions of the same person land on both sides, so the model memorizes faces. Inflated val F1 of 0.826, test F1 only 0.718.</a:t>
            </a:r>
            <a:endParaRPr lang="en-US" sz="1600" dirty="0"/>
          </a:p>
          <a:p>
            <a:pPr marL="0" indent="0">
              <a:spcAft>
                <a:spcPts val="400"/>
              </a:spcAft>
              <a:buNone/>
            </a:pPr>
            <a:r>
              <a:rPr lang="en-US" sz="1400" dirty="0">
                <a:solidFill>
                  <a:srgbClr val="2F3E3A"/>
                </a:solidFill>
              </a:rPr>
              <a:t>Early stopping and calibration both read val F1, so every later choice inherits the bias.</a:t>
            </a:r>
            <a:endParaRPr lang="en-US" sz="1600" dirty="0"/>
          </a:p>
        </p:txBody>
      </p:sp>
      <p:sp>
        <p:nvSpPr>
          <p:cNvPr id="6" name="Shape 4"/>
          <p:cNvSpPr/>
          <p:nvPr/>
        </p:nvSpPr>
        <p:spPr>
          <a:xfrm>
            <a:off x="6172200" y="1371600"/>
            <a:ext cx="5440680" cy="2286000"/>
          </a:xfrm>
          <a:prstGeom prst="roundRect">
            <a:avLst>
              <a:gd name="adj" fmla="val 4000"/>
            </a:avLst>
          </a:prstGeom>
          <a:solidFill>
            <a:srgbClr val="DCEBE3"/>
          </a:solidFill>
          <a:ln w="12700">
            <a:solidFill>
              <a:srgbClr val="DCEBE3"/>
            </a:solidFill>
            <a:prstDash val="solid"/>
          </a:ln>
        </p:spPr>
        <p:txBody>
          <a:bodyPr/>
          <a:p/>
        </p:txBody>
      </p:sp>
      <p:sp>
        <p:nvSpPr>
          <p:cNvPr id="7" name="Text 5"/>
          <p:cNvSpPr txBox="1"/>
          <p:nvPr/>
        </p:nvSpPr>
        <p:spPr>
          <a:xfrm>
            <a:off x="6355080" y="1481328"/>
            <a:ext cx="5074920" cy="206654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Subject-aware grouped split (15% val)</a:t>
            </a:r>
            <a:endParaRPr lang="en-US" sz="1600" dirty="0"/>
          </a:p>
          <a:p>
            <a:pPr marL="0" indent="0">
              <a:spcAft>
                <a:spcPts val="400"/>
              </a:spcAft>
              <a:buNone/>
            </a:pPr>
            <a:r>
              <a:rPr lang="en-US" sz="1400" dirty="0">
                <a:solidFill>
                  <a:srgbClr val="2F3E3A"/>
                </a:solidFill>
              </a:rPr>
              <a:t>All variants of one source image stay on the same side, stratified by label, fixed in JSON and shared across both training stages.</a:t>
            </a:r>
            <a:endParaRPr lang="en-US" sz="1600" dirty="0"/>
          </a:p>
          <a:p>
            <a:pPr marL="0" indent="0">
              <a:spcAft>
                <a:spcPts val="400"/>
              </a:spcAft>
              <a:buNone/>
            </a:pPr>
            <a:r>
              <a:rPr lang="en-US" sz="1400" dirty="0">
                <a:solidFill>
                  <a:srgbClr val="2F3E3A"/>
                </a:solidFill>
              </a:rPr>
              <a:t>Group key raf_train_00012 also covers raf_train_00012_surgical.jpg. Split file data/splits/val_groups_r15_s42.json; the code asserts zero shared groups.</a:t>
            </a:r>
            <a:endParaRPr lang="en-US" sz="1600" dirty="0"/>
          </a:p>
        </p:txBody>
      </p:sp>
      <p:sp>
        <p:nvSpPr>
          <p:cNvPr id="8" name="Shape 6"/>
          <p:cNvSpPr/>
          <p:nvPr/>
        </p:nvSpPr>
        <p:spPr>
          <a:xfrm>
            <a:off x="548640" y="3886200"/>
            <a:ext cx="3566160" cy="1600200"/>
          </a:xfrm>
          <a:prstGeom prst="roundRect">
            <a:avLst>
              <a:gd name="adj" fmla="val 5714"/>
            </a:avLst>
          </a:prstGeom>
          <a:solidFill>
            <a:srgbClr val="DCEBE3"/>
          </a:solidFill>
        </p:spPr>
        <p:txBody>
          <a:bodyPr/>
          <a:p/>
        </p:txBody>
      </p:sp>
      <p:sp>
        <p:nvSpPr>
          <p:cNvPr id="9" name="Text 7"/>
          <p:cNvSpPr txBox="1"/>
          <p:nvPr/>
        </p:nvSpPr>
        <p:spPr>
          <a:xfrm>
            <a:off x="548640" y="3959352"/>
            <a:ext cx="3566160" cy="80010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0</a:t>
            </a:r>
            <a:endParaRPr lang="en-US" sz="3000" dirty="0"/>
          </a:p>
        </p:txBody>
      </p:sp>
      <p:sp>
        <p:nvSpPr>
          <p:cNvPr id="10" name="Text 8"/>
          <p:cNvSpPr txBox="1"/>
          <p:nvPr/>
        </p:nvSpPr>
        <p:spPr>
          <a:xfrm>
            <a:off x="685800" y="4718304"/>
            <a:ext cx="3291840" cy="704088"/>
          </a:xfrm>
          <a:prstGeom prst="rect">
            <a:avLst/>
          </a:prstGeom>
          <a:noFill/>
        </p:spPr>
        <p:txBody>
          <a:bodyPr wrap="square" rtlCol="0" anchor="t"/>
          <a:lstStyle/>
          <a:p>
            <a:pPr marL="0" indent="0" algn="ctr">
              <a:buNone/>
            </a:pPr>
            <a:r>
              <a:rPr lang="en-US" sz="1300" dirty="0">
                <a:solidFill>
                  <a:srgbClr val="2F3E3A"/>
                </a:solidFill>
              </a:rPr>
              <a:t>test_masked images leaked from train (1,973/1,975 trace to test)</a:t>
            </a:r>
            <a:endParaRPr lang="en-US" sz="1300" dirty="0"/>
          </a:p>
        </p:txBody>
      </p:sp>
      <p:sp>
        <p:nvSpPr>
          <p:cNvPr id="11" name="Shape 9"/>
          <p:cNvSpPr/>
          <p:nvPr/>
        </p:nvSpPr>
        <p:spPr>
          <a:xfrm>
            <a:off x="4297680" y="3886200"/>
            <a:ext cx="3566160" cy="1600200"/>
          </a:xfrm>
          <a:prstGeom prst="roundRect">
            <a:avLst>
              <a:gd name="adj" fmla="val 5714"/>
            </a:avLst>
          </a:prstGeom>
          <a:solidFill>
            <a:srgbClr val="DCEBE3"/>
          </a:solidFill>
        </p:spPr>
        <p:txBody>
          <a:bodyPr/>
          <a:p/>
        </p:txBody>
      </p:sp>
      <p:sp>
        <p:nvSpPr>
          <p:cNvPr id="12" name="Text 10"/>
          <p:cNvSpPr txBox="1"/>
          <p:nvPr/>
        </p:nvSpPr>
        <p:spPr>
          <a:xfrm>
            <a:off x="4297680" y="3959352"/>
            <a:ext cx="3566160" cy="80010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0</a:t>
            </a:r>
            <a:endParaRPr lang="en-US" sz="3000" dirty="0"/>
          </a:p>
        </p:txBody>
      </p:sp>
      <p:sp>
        <p:nvSpPr>
          <p:cNvPr id="13" name="Text 11"/>
          <p:cNvSpPr txBox="1"/>
          <p:nvPr/>
        </p:nvSpPr>
        <p:spPr>
          <a:xfrm>
            <a:off x="4434840" y="4718304"/>
            <a:ext cx="3291840" cy="704088"/>
          </a:xfrm>
          <a:prstGeom prst="rect">
            <a:avLst/>
          </a:prstGeom>
          <a:noFill/>
        </p:spPr>
        <p:txBody>
          <a:bodyPr wrap="square" rtlCol="0" anchor="t"/>
          <a:lstStyle/>
          <a:p>
            <a:pPr marL="0" indent="0" algn="ctr">
              <a:buNone/>
            </a:pPr>
            <a:r>
              <a:rPr lang="en-US" sz="1300" dirty="0">
                <a:solidFill>
                  <a:srgbClr val="2F3E3A"/>
                </a:solidFill>
              </a:rPr>
              <a:t>source images shared between Train (17,099) and Val (3,002)</a:t>
            </a:r>
            <a:endParaRPr lang="en-US" sz="1300" dirty="0"/>
          </a:p>
        </p:txBody>
      </p:sp>
      <p:sp>
        <p:nvSpPr>
          <p:cNvPr id="14" name="Shape 12"/>
          <p:cNvSpPr/>
          <p:nvPr/>
        </p:nvSpPr>
        <p:spPr>
          <a:xfrm>
            <a:off x="8046720" y="3886200"/>
            <a:ext cx="3566160" cy="1600200"/>
          </a:xfrm>
          <a:prstGeom prst="roundRect">
            <a:avLst>
              <a:gd name="adj" fmla="val 5714"/>
            </a:avLst>
          </a:prstGeom>
          <a:solidFill>
            <a:srgbClr val="FBEAE3"/>
          </a:solidFill>
        </p:spPr>
        <p:txBody>
          <a:bodyPr/>
          <a:p/>
        </p:txBody>
      </p:sp>
      <p:sp>
        <p:nvSpPr>
          <p:cNvPr id="15" name="Text 13"/>
          <p:cNvSpPr txBox="1"/>
          <p:nvPr/>
        </p:nvSpPr>
        <p:spPr>
          <a:xfrm>
            <a:off x="8046720" y="3959352"/>
            <a:ext cx="3566160" cy="80010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1.6%</a:t>
            </a:r>
            <a:endParaRPr lang="en-US" sz="3000" dirty="0"/>
          </a:p>
        </p:txBody>
      </p:sp>
      <p:sp>
        <p:nvSpPr>
          <p:cNvPr id="16" name="Text 14"/>
          <p:cNvSpPr txBox="1"/>
          <p:nvPr/>
        </p:nvSpPr>
        <p:spPr>
          <a:xfrm>
            <a:off x="8183880" y="4718304"/>
            <a:ext cx="3291840" cy="704088"/>
          </a:xfrm>
          <a:prstGeom prst="rect">
            <a:avLst/>
          </a:prstGeom>
          <a:noFill/>
        </p:spPr>
        <p:txBody>
          <a:bodyPr wrap="square" rtlCol="0" anchor="t"/>
          <a:lstStyle/>
          <a:p>
            <a:pPr marL="0" indent="0" algn="ctr">
              <a:buNone/>
            </a:pPr>
            <a:r>
              <a:rPr lang="en-US" sz="1300" dirty="0">
                <a:solidFill>
                  <a:srgbClr val="2F3E3A"/>
                </a:solidFill>
              </a:rPr>
              <a:t>test images (49) share a person with train, a property of the official RAF-DB split; removing them changes accuracy by ~0.1–0.2 pts</a:t>
            </a:r>
            <a:endParaRPr lang="en-US" sz="1300" dirty="0"/>
          </a:p>
        </p:txBody>
      </p:sp>
      <p:sp>
        <p:nvSpPr>
          <p:cNvPr id="17" name="Text 15"/>
          <p:cNvSpPr txBox="1"/>
          <p:nvPr/>
        </p:nvSpPr>
        <p:spPr>
          <a:xfrm>
            <a:off x="548640" y="5760720"/>
            <a:ext cx="11064240" cy="365760"/>
          </a:xfrm>
          <a:prstGeom prst="rect">
            <a:avLst/>
          </a:prstGeom>
          <a:noFill/>
        </p:spPr>
        <p:txBody>
          <a:bodyPr wrap="square" lIns="0" tIns="0" rIns="0" bIns="0" rtlCol="0" anchor="ctr"/>
          <a:lstStyle/>
          <a:p>
            <a:pPr marL="0" indent="0">
              <a:buNone/>
            </a:pPr>
            <a:r>
              <a:rPr lang="en-US" sz="1300" dirty="0">
                <a:solidFill>
                  <a:srgbClr val="66756F"/>
                </a:solidFill>
              </a:rPr>
              <a:t>Audit: scripts/check_leakage.py (perceptual hash + pixel correlation) → output/leakage_report.txt</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Multi-face detection &amp; 5-landmark alignment</a:t>
            </a:r>
            <a:endParaRPr lang="en-US" sz="2800" dirty="0"/>
          </a:p>
        </p:txBody>
      </p:sp>
      <p:sp>
        <p:nvSpPr>
          <p:cNvPr id="4" name="Shape 2"/>
          <p:cNvSpPr/>
          <p:nvPr/>
        </p:nvSpPr>
        <p:spPr>
          <a:xfrm>
            <a:off x="548640" y="1371600"/>
            <a:ext cx="5486400" cy="4846320"/>
          </a:xfrm>
          <a:prstGeom prst="roundRect">
            <a:avLst>
              <a:gd name="adj" fmla="val 2264"/>
            </a:avLst>
          </a:prstGeom>
          <a:solidFill>
            <a:srgbClr val="DCEBE3">
              <a:alpha val="50000"/>
            </a:srgbClr>
          </a:solidFill>
          <a:ln w="15875">
            <a:solidFill>
              <a:srgbClr val="4F7F6E"/>
            </a:solidFill>
            <a:prstDash val="dash"/>
          </a:ln>
        </p:spPr>
        <p:txBody>
          <a:bodyPr/>
          <a:p/>
        </p:txBody>
      </p:sp>
      <p:sp>
        <p:nvSpPr>
          <p:cNvPr id="6" name="Text 4"/>
          <p:cNvSpPr txBox="1"/>
          <p:nvPr/>
        </p:nvSpPr>
        <p:spPr>
          <a:xfrm>
            <a:off x="6400800" y="1371600"/>
            <a:ext cx="5212080" cy="3017520"/>
          </a:xfrm>
          <a:prstGeom prst="rect">
            <a:avLst/>
          </a:prstGeom>
          <a:noFill/>
        </p:spPr>
        <p:txBody>
          <a:bodyPr wrap="square" lIns="0" tIns="0" rIns="0" bIns="0" rtlCol="0" anchor="t"/>
          <a:lstStyle/>
          <a:p>
            <a:pPr marL="342900" indent="-342900">
              <a:spcAft>
                <a:spcPts val="800"/>
              </a:spcAft>
              <a:buSzPct val="100000"/>
              <a:buChar char="•"/>
            </a:pPr>
            <a:r>
              <a:rPr lang="en-US" sz="1500" dirty="0">
                <a:solidFill>
                  <a:srgbClr val="2F3E3A"/>
                </a:solidFill>
              </a:rPr>
              <a:t>OpenCV YuNet detects every face with 5 landmarks, even with masks or tilted poses.</a:t>
            </a:r>
            <a:endParaRPr lang="en-US" sz="1500" dirty="0"/>
          </a:p>
          <a:p>
            <a:pPr marL="342900" indent="-342900">
              <a:spcAft>
                <a:spcPts val="800"/>
              </a:spcAft>
              <a:buSzPct val="100000"/>
              <a:buChar char="•"/>
            </a:pPr>
            <a:r>
              <a:rPr lang="en-US" sz="1500" dirty="0">
                <a:solidFill>
                  <a:srgbClr val="2F3E3A"/>
                </a:solidFill>
              </a:rPr>
              <a:t>A similarity transform rotates, scales and shifts the 5 points onto the standard RAF-DB template.</a:t>
            </a:r>
            <a:endParaRPr lang="en-US" sz="1500" dirty="0"/>
          </a:p>
          <a:p>
            <a:pPr marL="342900" indent="-342900">
              <a:spcAft>
                <a:spcPts val="800"/>
              </a:spcAft>
              <a:buSzPct val="100000"/>
              <a:buChar char="•"/>
            </a:pPr>
            <a:r>
              <a:rPr lang="en-US" sz="1500" dirty="0">
                <a:solidFill>
                  <a:srgbClr val="2F3E3A"/>
                </a:solidFill>
              </a:rPr>
              <a:t>Detect on a 640px frame, align on the original frame to keep detail.</a:t>
            </a:r>
            <a:endParaRPr lang="en-US" sz="1500" dirty="0"/>
          </a:p>
          <a:p>
            <a:pPr marL="342900" indent="-342900">
              <a:spcAft>
                <a:spcPts val="800"/>
              </a:spcAft>
              <a:buSzPct val="100000"/>
              <a:buChar char="•"/>
            </a:pPr>
            <a:r>
              <a:rPr lang="en-US" sz="1500" dirty="0">
                <a:solidFill>
                  <a:srgbClr val="2F3E3A"/>
                </a:solidFill>
              </a:rPr>
              <a:t>Webcam crops share the same spatial distribution as the training data.</a:t>
            </a:r>
            <a:endParaRPr lang="en-US" sz="1500" dirty="0"/>
          </a:p>
          <a:p>
            <a:pPr marL="342900" indent="-342900">
              <a:spcAft>
                <a:spcPts val="800"/>
              </a:spcAft>
              <a:buSzPct val="100000"/>
              <a:buChar char="•"/>
            </a:pPr>
            <a:r>
              <a:rPr lang="en-US" sz="1500" dirty="0">
                <a:solidFill>
                  <a:srgbClr val="2F3E3A"/>
                </a:solidFill>
              </a:rPr>
              <a:t>LMedS fit tolerates a wrong landmark, e.g. mouth corners hidden by a mask.</a:t>
            </a:r>
            <a:endParaRPr lang="en-US" sz="1500" dirty="0"/>
          </a:p>
        </p:txBody>
      </p:sp>
      <p:sp>
        <p:nvSpPr>
          <p:cNvPr id="7" name="Shape 5"/>
          <p:cNvSpPr/>
          <p:nvPr/>
        </p:nvSpPr>
        <p:spPr>
          <a:xfrm>
            <a:off x="6400800" y="4663440"/>
            <a:ext cx="2468880" cy="1554480"/>
          </a:xfrm>
          <a:prstGeom prst="roundRect">
            <a:avLst>
              <a:gd name="adj" fmla="val 5882"/>
            </a:avLst>
          </a:prstGeom>
          <a:solidFill>
            <a:srgbClr val="FBEAE3"/>
          </a:solidFill>
        </p:spPr>
        <p:txBody>
          <a:bodyPr/>
          <a:p/>
        </p:txBody>
      </p:sp>
      <p:sp>
        <p:nvSpPr>
          <p:cNvPr id="8" name="Text 6"/>
          <p:cNvSpPr txBox="1"/>
          <p:nvPr/>
        </p:nvSpPr>
        <p:spPr>
          <a:xfrm>
            <a:off x="6400800" y="4736592"/>
            <a:ext cx="2468880" cy="77724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~5–7 ms</a:t>
            </a:r>
            <a:endParaRPr lang="en-US" sz="3000" dirty="0"/>
          </a:p>
        </p:txBody>
      </p:sp>
      <p:sp>
        <p:nvSpPr>
          <p:cNvPr id="9" name="Text 7"/>
          <p:cNvSpPr txBox="1"/>
          <p:nvPr/>
        </p:nvSpPr>
        <p:spPr>
          <a:xfrm>
            <a:off x="6537960" y="5471770"/>
            <a:ext cx="2194560" cy="683971"/>
          </a:xfrm>
          <a:prstGeom prst="rect">
            <a:avLst/>
          </a:prstGeom>
          <a:noFill/>
        </p:spPr>
        <p:txBody>
          <a:bodyPr wrap="square" rtlCol="0" anchor="t"/>
          <a:lstStyle/>
          <a:p>
            <a:pPr marL="0" indent="0" algn="ctr">
              <a:buNone/>
            </a:pPr>
            <a:r>
              <a:rPr lang="en-US" sz="1300" dirty="0">
                <a:solidFill>
                  <a:srgbClr val="2F3E3A"/>
                </a:solidFill>
              </a:rPr>
              <a:t>detect + align per frame</a:t>
            </a:r>
            <a:endParaRPr lang="en-US" sz="1300" dirty="0"/>
          </a:p>
        </p:txBody>
      </p:sp>
      <p:sp>
        <p:nvSpPr>
          <p:cNvPr id="10" name="Shape 8"/>
          <p:cNvSpPr/>
          <p:nvPr/>
        </p:nvSpPr>
        <p:spPr>
          <a:xfrm>
            <a:off x="9144000" y="4663440"/>
            <a:ext cx="2468880" cy="1554480"/>
          </a:xfrm>
          <a:prstGeom prst="roundRect">
            <a:avLst>
              <a:gd name="adj" fmla="val 5882"/>
            </a:avLst>
          </a:prstGeom>
          <a:solidFill>
            <a:srgbClr val="DCEBE3"/>
          </a:solidFill>
        </p:spPr>
        <p:txBody>
          <a:bodyPr/>
          <a:p/>
        </p:txBody>
      </p:sp>
      <p:sp>
        <p:nvSpPr>
          <p:cNvPr id="11" name="Text 9"/>
          <p:cNvSpPr txBox="1"/>
          <p:nvPr/>
        </p:nvSpPr>
        <p:spPr>
          <a:xfrm>
            <a:off x="9144000" y="4736592"/>
            <a:ext cx="2468880" cy="77724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σ ≈ 0.03</a:t>
            </a:r>
            <a:endParaRPr lang="en-US" sz="3000" dirty="0"/>
          </a:p>
        </p:txBody>
      </p:sp>
      <p:sp>
        <p:nvSpPr>
          <p:cNvPr id="12" name="Text 10"/>
          <p:cNvSpPr txBox="1"/>
          <p:nvPr/>
        </p:nvSpPr>
        <p:spPr>
          <a:xfrm>
            <a:off x="9281160" y="5471770"/>
            <a:ext cx="2194560" cy="683971"/>
          </a:xfrm>
          <a:prstGeom prst="rect">
            <a:avLst/>
          </a:prstGeom>
          <a:noFill/>
        </p:spPr>
        <p:txBody>
          <a:bodyPr wrap="square" rtlCol="0" anchor="t"/>
          <a:lstStyle/>
          <a:p>
            <a:pPr marL="0" indent="0" algn="ctr">
              <a:buNone/>
            </a:pPr>
            <a:r>
              <a:rPr lang="en-US" sz="1300" dirty="0">
                <a:solidFill>
                  <a:srgbClr val="2F3E3A"/>
                </a:solidFill>
              </a:rPr>
              <a:t>template std, measured on ~1,000 test images</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6" name="YuNet alignment demo" descr="deck_yunet_alignment.png"/>
          <p:cNvPicPr>
            <a:picLocks noChangeAspect="1"/>
          </p:cNvPicPr>
          <p:nvPr/>
        </p:nvPicPr>
        <p:blipFill>
          <a:blip r:embed="rId1"/>
          <a:stretch>
            <a:fillRect/>
          </a:stretch>
        </p:blipFill>
        <p:spPr>
          <a:xfrm>
            <a:off x="685800" y="1463040"/>
            <a:ext cx="5276561" cy="4663440"/>
          </a:xfrm>
          <a:prstGeom prst="rect">
            <a:avLst/>
          </a:prstGeom>
        </p:spPr>
      </p:pic>
      <p:sp>
        <p:nvSpPr>
          <p:cNvPr id="27"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Face-pretrained backbone</a:t>
            </a:r>
            <a:endParaRPr lang="en-US" sz="2800" dirty="0"/>
          </a:p>
        </p:txBody>
      </p:sp>
      <p:sp>
        <p:nvSpPr>
          <p:cNvPr id="6" name="Shape 4"/>
          <p:cNvSpPr/>
          <p:nvPr/>
        </p:nvSpPr>
        <p:spPr>
          <a:xfrm>
            <a:off x="822960" y="3232150"/>
            <a:ext cx="5120640" cy="1243965"/>
          </a:xfrm>
          <a:prstGeom prst="roundRect">
            <a:avLst>
              <a:gd name="adj" fmla="val 6452"/>
            </a:avLst>
          </a:prstGeom>
          <a:solidFill>
            <a:srgbClr val="FFFFFF"/>
          </a:solidFill>
          <a:ln w="12700">
            <a:solidFill>
              <a:srgbClr val="DCEBE3"/>
            </a:solidFill>
            <a:prstDash val="solid"/>
          </a:ln>
        </p:spPr>
        <p:txBody>
          <a:bodyPr/>
          <a:p/>
        </p:txBody>
      </p:sp>
      <p:sp>
        <p:nvSpPr>
          <p:cNvPr id="7" name="Text 5"/>
          <p:cNvSpPr txBox="1"/>
          <p:nvPr/>
        </p:nvSpPr>
        <p:spPr>
          <a:xfrm>
            <a:off x="1005840" y="3436620"/>
            <a:ext cx="4754880" cy="941705"/>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ImageNet (the usual choice)</a:t>
            </a:r>
            <a:endParaRPr lang="en-US" sz="1600" dirty="0"/>
          </a:p>
          <a:p>
            <a:pPr marL="0" indent="0">
              <a:spcAft>
                <a:spcPts val="400"/>
              </a:spcAft>
              <a:buNone/>
            </a:pPr>
            <a:r>
              <a:rPr lang="en-US" sz="1400" dirty="0">
                <a:solidFill>
                  <a:srgbClr val="2F3E3A"/>
                </a:solidFill>
              </a:rPr>
              <a:t>Learns dogs, cats and cars; no awareness of facial Action Units.</a:t>
            </a:r>
            <a:endParaRPr lang="en-US" sz="1600" dirty="0"/>
          </a:p>
        </p:txBody>
      </p:sp>
      <p:sp>
        <p:nvSpPr>
          <p:cNvPr id="8" name="Shape 6"/>
          <p:cNvSpPr/>
          <p:nvPr/>
        </p:nvSpPr>
        <p:spPr>
          <a:xfrm>
            <a:off x="6605270" y="3223260"/>
            <a:ext cx="5120640" cy="1257300"/>
          </a:xfrm>
          <a:prstGeom prst="roundRect">
            <a:avLst>
              <a:gd name="adj" fmla="val 6250"/>
            </a:avLst>
          </a:prstGeom>
          <a:solidFill>
            <a:srgbClr val="DCEBE3"/>
          </a:solidFill>
          <a:ln w="12700">
            <a:solidFill>
              <a:srgbClr val="DCEBE3"/>
            </a:solidFill>
            <a:prstDash val="solid"/>
          </a:ln>
        </p:spPr>
        <p:txBody>
          <a:bodyPr/>
          <a:p/>
        </p:txBody>
      </p:sp>
      <p:sp>
        <p:nvSpPr>
          <p:cNvPr id="9" name="Text 7"/>
          <p:cNvSpPr txBox="1"/>
          <p:nvPr/>
        </p:nvSpPr>
        <p:spPr>
          <a:xfrm>
            <a:off x="6720840" y="3442335"/>
            <a:ext cx="4754880" cy="986790"/>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HSEmotion EfficientNet-B0 ⭐</a:t>
            </a:r>
            <a:endParaRPr lang="en-US" sz="1600" dirty="0"/>
          </a:p>
          <a:p>
            <a:pPr marL="0" indent="0">
              <a:spcAft>
                <a:spcPts val="400"/>
              </a:spcAft>
              <a:buNone/>
            </a:pPr>
            <a:r>
              <a:rPr lang="en-US" sz="1400" dirty="0">
                <a:solidFill>
                  <a:srgbClr val="2F3E3A"/>
                </a:solidFill>
              </a:rPr>
              <a:t>Pretrained on VGGFace2 (identity), then AffectNet (emotion); 7-class head, contempt removed.</a:t>
            </a:r>
            <a:endParaRPr lang="en-US" sz="1600" dirty="0"/>
          </a:p>
        </p:txBody>
      </p:sp>
      <p:sp>
        <p:nvSpPr>
          <p:cNvPr id="10" name="Shape 8"/>
          <p:cNvSpPr/>
          <p:nvPr/>
        </p:nvSpPr>
        <p:spPr>
          <a:xfrm>
            <a:off x="548640" y="4663440"/>
            <a:ext cx="3566160" cy="1554480"/>
          </a:xfrm>
          <a:prstGeom prst="roundRect">
            <a:avLst>
              <a:gd name="adj" fmla="val 5882"/>
            </a:avLst>
          </a:prstGeom>
          <a:solidFill>
            <a:srgbClr val="FBEAE3"/>
          </a:solidFill>
        </p:spPr>
        <p:txBody>
          <a:bodyPr/>
          <a:p/>
        </p:txBody>
      </p:sp>
      <p:sp>
        <p:nvSpPr>
          <p:cNvPr id="11" name="Text 9"/>
          <p:cNvSpPr txBox="1"/>
          <p:nvPr/>
        </p:nvSpPr>
        <p:spPr>
          <a:xfrm>
            <a:off x="548640" y="4736592"/>
            <a:ext cx="3566160" cy="77724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~4M</a:t>
            </a:r>
            <a:endParaRPr lang="en-US" sz="3000" dirty="0"/>
          </a:p>
        </p:txBody>
      </p:sp>
      <p:sp>
        <p:nvSpPr>
          <p:cNvPr id="12" name="Text 10"/>
          <p:cNvSpPr txBox="1"/>
          <p:nvPr/>
        </p:nvSpPr>
        <p:spPr>
          <a:xfrm>
            <a:off x="685800" y="5471770"/>
            <a:ext cx="3291840" cy="683971"/>
          </a:xfrm>
          <a:prstGeom prst="rect">
            <a:avLst/>
          </a:prstGeom>
          <a:noFill/>
        </p:spPr>
        <p:txBody>
          <a:bodyPr wrap="square" rtlCol="0" anchor="t"/>
          <a:lstStyle/>
          <a:p>
            <a:pPr marL="0" indent="0" algn="ctr">
              <a:buNone/>
            </a:pPr>
            <a:r>
              <a:rPr lang="en-US" sz="1300" dirty="0">
                <a:solidFill>
                  <a:srgbClr val="2F3E3A"/>
                </a:solidFill>
              </a:rPr>
              <a:t>parameters, light enough for real time</a:t>
            </a:r>
            <a:endParaRPr lang="en-US" sz="1300" dirty="0"/>
          </a:p>
        </p:txBody>
      </p:sp>
      <p:sp>
        <p:nvSpPr>
          <p:cNvPr id="13" name="Shape 11"/>
          <p:cNvSpPr/>
          <p:nvPr/>
        </p:nvSpPr>
        <p:spPr>
          <a:xfrm>
            <a:off x="4297680" y="4663440"/>
            <a:ext cx="3566160" cy="1554480"/>
          </a:xfrm>
          <a:prstGeom prst="roundRect">
            <a:avLst>
              <a:gd name="adj" fmla="val 5882"/>
            </a:avLst>
          </a:prstGeom>
          <a:solidFill>
            <a:srgbClr val="DCEBE3"/>
          </a:solidFill>
        </p:spPr>
        <p:txBody>
          <a:bodyPr/>
          <a:p/>
        </p:txBody>
      </p:sp>
      <p:sp>
        <p:nvSpPr>
          <p:cNvPr id="14" name="Text 12"/>
          <p:cNvSpPr txBox="1"/>
          <p:nvPr/>
        </p:nvSpPr>
        <p:spPr>
          <a:xfrm>
            <a:off x="4297680" y="4736592"/>
            <a:ext cx="3566160" cy="77724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7</a:t>
            </a:r>
            <a:endParaRPr lang="en-US" sz="3000" dirty="0"/>
          </a:p>
        </p:txBody>
      </p:sp>
      <p:sp>
        <p:nvSpPr>
          <p:cNvPr id="15" name="Text 13"/>
          <p:cNvSpPr txBox="1"/>
          <p:nvPr/>
        </p:nvSpPr>
        <p:spPr>
          <a:xfrm>
            <a:off x="4434840" y="5328895"/>
            <a:ext cx="3291840" cy="683971"/>
          </a:xfrm>
          <a:prstGeom prst="rect">
            <a:avLst/>
          </a:prstGeom>
          <a:noFill/>
        </p:spPr>
        <p:txBody>
          <a:bodyPr wrap="square" rtlCol="0" anchor="t"/>
          <a:lstStyle/>
          <a:p>
            <a:pPr marL="0" indent="0" algn="ctr">
              <a:buNone/>
            </a:pPr>
            <a:r>
              <a:rPr lang="en-US" sz="1300" dirty="0">
                <a:solidFill>
                  <a:srgbClr val="2F3E3A"/>
                </a:solidFill>
              </a:rPr>
              <a:t>emotion classes</a:t>
            </a:r>
            <a:endParaRPr lang="en-US" sz="1300" dirty="0"/>
          </a:p>
        </p:txBody>
      </p:sp>
      <p:sp>
        <p:nvSpPr>
          <p:cNvPr id="16" name="Shape 14"/>
          <p:cNvSpPr/>
          <p:nvPr/>
        </p:nvSpPr>
        <p:spPr>
          <a:xfrm>
            <a:off x="8046720" y="4663440"/>
            <a:ext cx="3566160" cy="1554480"/>
          </a:xfrm>
          <a:prstGeom prst="roundRect">
            <a:avLst>
              <a:gd name="adj" fmla="val 5882"/>
            </a:avLst>
          </a:prstGeom>
          <a:solidFill>
            <a:srgbClr val="FBEAE3"/>
          </a:solidFill>
        </p:spPr>
        <p:txBody>
          <a:bodyPr/>
          <a:p/>
        </p:txBody>
      </p:sp>
      <p:sp>
        <p:nvSpPr>
          <p:cNvPr id="17" name="Text 15"/>
          <p:cNvSpPr txBox="1"/>
          <p:nvPr/>
        </p:nvSpPr>
        <p:spPr>
          <a:xfrm>
            <a:off x="8046720" y="4736592"/>
            <a:ext cx="3566160" cy="77724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89.15%</a:t>
            </a:r>
            <a:endParaRPr lang="en-US" sz="3000" dirty="0"/>
          </a:p>
        </p:txBody>
      </p:sp>
      <p:sp>
        <p:nvSpPr>
          <p:cNvPr id="18" name="Text 16"/>
          <p:cNvSpPr txBox="1"/>
          <p:nvPr/>
        </p:nvSpPr>
        <p:spPr>
          <a:xfrm>
            <a:off x="8183880" y="5471770"/>
            <a:ext cx="3291840" cy="683971"/>
          </a:xfrm>
          <a:prstGeom prst="rect">
            <a:avLst/>
          </a:prstGeom>
          <a:noFill/>
        </p:spPr>
        <p:txBody>
          <a:bodyPr wrap="square" rtlCol="0" anchor="t"/>
          <a:lstStyle/>
          <a:p>
            <a:pPr marL="0" indent="0" algn="ctr">
              <a:buNone/>
            </a:pPr>
            <a:r>
              <a:rPr lang="en-US" sz="1300" dirty="0">
                <a:solidFill>
                  <a:srgbClr val="2F3E3A"/>
                </a:solidFill>
              </a:rPr>
              <a:t>accuracy on RAF-DB test (F1 0.833)</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19" name="Picture 18"/>
          <p:cNvPicPr>
            <a:picLocks noChangeAspect="1"/>
          </p:cNvPicPr>
          <p:nvPr/>
        </p:nvPicPr>
        <p:blipFill>
          <a:blip r:embed="rId1"/>
          <a:stretch>
            <a:fillRect/>
          </a:stretch>
        </p:blipFill>
        <p:spPr>
          <a:xfrm>
            <a:off x="1005840" y="1147445"/>
            <a:ext cx="10280650" cy="2004060"/>
          </a:xfrm>
          <a:prstGeom prst="rect">
            <a:avLst/>
          </a:prstGeom>
        </p:spPr>
      </p:pic>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Two-stage transfer learning</a:t>
            </a:r>
            <a:endParaRPr lang="en-US" sz="2800" dirty="0"/>
          </a:p>
        </p:txBody>
      </p:sp>
      <p:sp>
        <p:nvSpPr>
          <p:cNvPr id="4" name="Text 2"/>
          <p:cNvSpPr txBox="1"/>
          <p:nvPr/>
        </p:nvSpPr>
        <p:spPr>
          <a:xfrm>
            <a:off x="548640" y="1371600"/>
            <a:ext cx="3154680" cy="1463040"/>
          </a:xfrm>
          <a:prstGeom prst="roundRect">
            <a:avLst>
              <a:gd name="adj" fmla="val 6250"/>
            </a:avLst>
          </a:prstGeom>
          <a:solidFill>
            <a:srgbClr val="FBEAE3"/>
          </a:solidFill>
        </p:spPr>
        <p:txBody>
          <a:bodyPr wrap="square" rtlCol="0" anchor="ctr"/>
          <a:lstStyle/>
          <a:p>
            <a:pPr marL="0" indent="0" algn="ctr">
              <a:buNone/>
            </a:pPr>
            <a:r>
              <a:rPr lang="en-US" sz="1400" dirty="0">
                <a:solidFill>
                  <a:srgbClr val="2F3E3A"/>
                </a:solidFill>
              </a:rPr>
              <a:t>Stage 1 · Original RAF-DB</a:t>
            </a:r>
            <a:endParaRPr lang="en-US" sz="1400" dirty="0"/>
          </a:p>
          <a:p>
            <a:pPr marL="0" indent="0" algn="ctr">
              <a:buNone/>
            </a:pPr>
            <a:r>
              <a:rPr lang="en-US" sz="1400" dirty="0">
                <a:solidFill>
                  <a:srgbClr val="2F3E3A"/>
                </a:solidFill>
              </a:rPr>
              <a:t>1 epoch head warmup → 25 epochs fine-tune</a:t>
            </a:r>
            <a:endParaRPr lang="en-US" sz="1400" dirty="0"/>
          </a:p>
        </p:txBody>
      </p:sp>
      <p:sp>
        <p:nvSpPr>
          <p:cNvPr id="5" name="Shape 3"/>
          <p:cNvSpPr/>
          <p:nvPr/>
        </p:nvSpPr>
        <p:spPr>
          <a:xfrm>
            <a:off x="3776472" y="1965960"/>
            <a:ext cx="676656" cy="274320"/>
          </a:xfrm>
          <a:prstGeom prst="rightArrow">
            <a:avLst/>
          </a:prstGeom>
          <a:solidFill>
            <a:srgbClr val="4F7F6E"/>
          </a:solidFill>
        </p:spPr>
        <p:txBody>
          <a:bodyPr/>
          <a:p/>
        </p:txBody>
      </p:sp>
      <p:sp>
        <p:nvSpPr>
          <p:cNvPr id="6" name="Text 4"/>
          <p:cNvSpPr txBox="1"/>
          <p:nvPr/>
        </p:nvSpPr>
        <p:spPr>
          <a:xfrm>
            <a:off x="4526280" y="1371600"/>
            <a:ext cx="3154680" cy="1463040"/>
          </a:xfrm>
          <a:prstGeom prst="roundRect">
            <a:avLst>
              <a:gd name="adj" fmla="val 6250"/>
            </a:avLst>
          </a:prstGeom>
          <a:solidFill>
            <a:srgbClr val="DCEBE3"/>
          </a:solidFill>
        </p:spPr>
        <p:txBody>
          <a:bodyPr wrap="square" rtlCol="0" anchor="ctr"/>
          <a:lstStyle/>
          <a:p>
            <a:pPr marL="0" indent="0" algn="ctr">
              <a:buNone/>
            </a:pPr>
            <a:r>
              <a:rPr lang="en-US" sz="1400" dirty="0">
                <a:solidFill>
                  <a:srgbClr val="2F3E3A"/>
                </a:solidFill>
              </a:rPr>
              <a:t>Stage 2 · Mask-Aware</a:t>
            </a:r>
            <a:endParaRPr lang="en-US" sz="1400" dirty="0"/>
          </a:p>
          <a:p>
            <a:pPr marL="0" indent="0" algn="ctr">
              <a:buNone/>
            </a:pPr>
            <a:r>
              <a:rPr lang="en-US" sz="1400" dirty="0">
                <a:solidFill>
                  <a:srgbClr val="2F3E3A"/>
                </a:solidFill>
              </a:rPr>
              <a:t>Init from Stage 1 → 20 epochs on original + masked</a:t>
            </a:r>
            <a:endParaRPr lang="en-US" sz="1400" dirty="0"/>
          </a:p>
        </p:txBody>
      </p:sp>
      <p:sp>
        <p:nvSpPr>
          <p:cNvPr id="7" name="Shape 5"/>
          <p:cNvSpPr/>
          <p:nvPr/>
        </p:nvSpPr>
        <p:spPr>
          <a:xfrm>
            <a:off x="7754112" y="1965960"/>
            <a:ext cx="676656" cy="274320"/>
          </a:xfrm>
          <a:prstGeom prst="rightArrow">
            <a:avLst/>
          </a:prstGeom>
          <a:solidFill>
            <a:srgbClr val="4F7F6E"/>
          </a:solidFill>
        </p:spPr>
        <p:txBody>
          <a:bodyPr/>
          <a:p/>
        </p:txBody>
      </p:sp>
      <p:sp>
        <p:nvSpPr>
          <p:cNvPr id="8" name="Text 6"/>
          <p:cNvSpPr txBox="1"/>
          <p:nvPr/>
        </p:nvSpPr>
        <p:spPr>
          <a:xfrm>
            <a:off x="8503920" y="1371600"/>
            <a:ext cx="3154680" cy="1463040"/>
          </a:xfrm>
          <a:prstGeom prst="roundRect">
            <a:avLst>
              <a:gd name="adj" fmla="val 6250"/>
            </a:avLst>
          </a:prstGeom>
          <a:solidFill>
            <a:srgbClr val="FBEAE3"/>
          </a:solidFill>
        </p:spPr>
        <p:txBody>
          <a:bodyPr wrap="square" rtlCol="0" anchor="ctr"/>
          <a:lstStyle/>
          <a:p>
            <a:pPr marL="0" indent="0" algn="ctr">
              <a:buNone/>
            </a:pPr>
            <a:r>
              <a:rPr lang="en-US" sz="1400" dirty="0">
                <a:solidFill>
                  <a:srgbClr val="2F3E3A"/>
                </a:solidFill>
              </a:rPr>
              <a:t>Checkpoint</a:t>
            </a:r>
            <a:endParaRPr lang="en-US" sz="1400" dirty="0"/>
          </a:p>
          <a:p>
            <a:pPr marL="0" indent="0" algn="ctr">
              <a:buNone/>
            </a:pPr>
            <a:r>
              <a:rPr lang="en-US" sz="1400" dirty="0">
                <a:solidFill>
                  <a:srgbClr val="2F3E3A"/>
                </a:solidFill>
              </a:rPr>
              <a:t>best_model_mask_aware.pth</a:t>
            </a:r>
            <a:endParaRPr lang="en-US" sz="1400" dirty="0"/>
          </a:p>
        </p:txBody>
      </p:sp>
      <p:sp>
        <p:nvSpPr>
          <p:cNvPr id="9" name="Text 7"/>
          <p:cNvSpPr txBox="1"/>
          <p:nvPr/>
        </p:nvSpPr>
        <p:spPr>
          <a:xfrm>
            <a:off x="548640" y="3154680"/>
            <a:ext cx="10972800" cy="365760"/>
          </a:xfrm>
          <a:prstGeom prst="rect">
            <a:avLst/>
          </a:prstGeom>
          <a:noFill/>
        </p:spPr>
        <p:txBody>
          <a:bodyPr wrap="square" lIns="0" tIns="0" rIns="0" bIns="0" rtlCol="0" anchor="ctr"/>
          <a:lstStyle/>
          <a:p>
            <a:pPr marL="0" indent="0">
              <a:buNone/>
            </a:pPr>
            <a:r>
              <a:rPr lang="en-US" sz="1600" b="1" dirty="0">
                <a:solidFill>
                  <a:srgbClr val="4F7F6E"/>
                </a:solidFill>
              </a:rPr>
              <a:t>Regularization and class-imbalance techniques</a:t>
            </a:r>
            <a:endParaRPr lang="en-US" sz="1600" dirty="0"/>
          </a:p>
        </p:txBody>
      </p:sp>
      <p:sp>
        <p:nvSpPr>
          <p:cNvPr id="10" name="Text 8"/>
          <p:cNvSpPr txBox="1"/>
          <p:nvPr/>
        </p:nvSpPr>
        <p:spPr>
          <a:xfrm>
            <a:off x="548640" y="365760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LowerFaceOcclusion p = 0.3</a:t>
            </a:r>
            <a:endParaRPr lang="en-US" sz="1400" dirty="0"/>
          </a:p>
        </p:txBody>
      </p:sp>
      <p:sp>
        <p:nvSpPr>
          <p:cNvPr id="11" name="Text 9"/>
          <p:cNvSpPr txBox="1"/>
          <p:nvPr/>
        </p:nvSpPr>
        <p:spPr>
          <a:xfrm>
            <a:off x="3337560" y="365760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Mixup α=0.2 · CutMix α=1.0</a:t>
            </a:r>
            <a:endParaRPr lang="en-US" sz="1400" dirty="0"/>
          </a:p>
        </p:txBody>
      </p:sp>
      <p:sp>
        <p:nvSpPr>
          <p:cNvPr id="12" name="Text 10"/>
          <p:cNvSpPr txBox="1"/>
          <p:nvPr/>
        </p:nvSpPr>
        <p:spPr>
          <a:xfrm>
            <a:off x="6126480" y="365760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Label smoothing 0.1</a:t>
            </a:r>
            <a:endParaRPr lang="en-US" sz="1400" dirty="0"/>
          </a:p>
        </p:txBody>
      </p:sp>
      <p:sp>
        <p:nvSpPr>
          <p:cNvPr id="13" name="Text 11"/>
          <p:cNvSpPr txBox="1"/>
          <p:nvPr/>
        </p:nvSpPr>
        <p:spPr>
          <a:xfrm>
            <a:off x="8915400" y="365760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EMA decay 0.998</a:t>
            </a:r>
            <a:endParaRPr lang="en-US" sz="1400" dirty="0"/>
          </a:p>
        </p:txBody>
      </p:sp>
      <p:sp>
        <p:nvSpPr>
          <p:cNvPr id="14" name="Text 12"/>
          <p:cNvSpPr txBox="1"/>
          <p:nvPr/>
        </p:nvSpPr>
        <p:spPr>
          <a:xfrm>
            <a:off x="548640" y="452628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AdamW · warmup + cosine</a:t>
            </a:r>
            <a:endParaRPr lang="en-US" sz="1400" dirty="0"/>
          </a:p>
        </p:txBody>
      </p:sp>
      <p:sp>
        <p:nvSpPr>
          <p:cNvPr id="15" name="Text 13"/>
          <p:cNvSpPr txBox="1"/>
          <p:nvPr/>
        </p:nvSpPr>
        <p:spPr>
          <a:xfrm>
            <a:off x="3337560" y="452628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LR backbone 1e-4 / head 1e-3</a:t>
            </a:r>
            <a:endParaRPr lang="en-US" sz="1400" dirty="0"/>
          </a:p>
        </p:txBody>
      </p:sp>
      <p:sp>
        <p:nvSpPr>
          <p:cNvPr id="16" name="Text 14"/>
          <p:cNvSpPr txBox="1"/>
          <p:nvPr/>
        </p:nvSpPr>
        <p:spPr>
          <a:xfrm>
            <a:off x="6126480" y="452628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Logit-Adjusted loss</a:t>
            </a:r>
            <a:endParaRPr lang="en-US" sz="1400" dirty="0"/>
          </a:p>
        </p:txBody>
      </p:sp>
      <p:sp>
        <p:nvSpPr>
          <p:cNvPr id="17" name="Text 15"/>
          <p:cNvSpPr txBox="1"/>
          <p:nvPr/>
        </p:nvSpPr>
        <p:spPr>
          <a:xfrm>
            <a:off x="8915400" y="452628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PyTorch AMP (training)</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Post-training prior-bias calibration</a:t>
            </a:r>
            <a:endParaRPr lang="en-US" sz="2800" dirty="0"/>
          </a:p>
        </p:txBody>
      </p:sp>
      <p:sp>
        <p:nvSpPr>
          <p:cNvPr id="4" name="Shape 2"/>
          <p:cNvSpPr/>
          <p:nvPr/>
        </p:nvSpPr>
        <p:spPr>
          <a:xfrm>
            <a:off x="548640" y="1371600"/>
            <a:ext cx="5486400" cy="2103120"/>
          </a:xfrm>
          <a:prstGeom prst="roundRect">
            <a:avLst>
              <a:gd name="adj" fmla="val 4348"/>
            </a:avLst>
          </a:prstGeom>
          <a:solidFill>
            <a:srgbClr val="FBEAE3"/>
          </a:solidFill>
          <a:ln w="12700">
            <a:solidFill>
              <a:srgbClr val="DCEBE3"/>
            </a:solidFill>
            <a:prstDash val="solid"/>
          </a:ln>
        </p:spPr>
        <p:txBody>
          <a:bodyPr/>
          <a:p/>
        </p:txBody>
      </p:sp>
      <p:sp>
        <p:nvSpPr>
          <p:cNvPr id="5" name="Text 3"/>
          <p:cNvSpPr txBox="1"/>
          <p:nvPr/>
        </p:nvSpPr>
        <p:spPr>
          <a:xfrm>
            <a:off x="731520" y="1481328"/>
            <a:ext cx="5120640" cy="188366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Problem: class imbalance</a:t>
            </a:r>
            <a:endParaRPr lang="en-US" sz="1600" dirty="0"/>
          </a:p>
          <a:p>
            <a:pPr marL="0" indent="0">
              <a:spcAft>
                <a:spcPts val="400"/>
              </a:spcAft>
              <a:buNone/>
            </a:pPr>
            <a:r>
              <a:rPr lang="en-US" sz="1400" dirty="0">
                <a:solidFill>
                  <a:srgbClr val="2F3E3A"/>
                </a:solidFill>
              </a:rPr>
              <a:t>RAF-DB: happy 4,772 images vs fear 281. Logit-Adjusted loss helps rare classes but makes the model over-predict fear and disgust (high recall, low precision).</a:t>
            </a:r>
            <a:endParaRPr lang="en-US" sz="1600" dirty="0"/>
          </a:p>
          <a:p>
            <a:pPr marL="0" indent="0">
              <a:spcAft>
                <a:spcPts val="400"/>
              </a:spcAft>
              <a:buNone/>
            </a:pPr>
            <a:r>
              <a:rPr lang="en-US" sz="1400" dirty="0">
                <a:solidFill>
                  <a:srgbClr val="2F3E3A"/>
                </a:solidFill>
              </a:rPr>
              <a:t>Raw logits (RAF-DB model, unmasked test): fear recall 0.78 but precision only 0.32.</a:t>
            </a:r>
            <a:endParaRPr lang="en-US" sz="1600" dirty="0"/>
          </a:p>
        </p:txBody>
      </p:sp>
      <p:sp>
        <p:nvSpPr>
          <p:cNvPr id="6" name="Shape 4"/>
          <p:cNvSpPr/>
          <p:nvPr/>
        </p:nvSpPr>
        <p:spPr>
          <a:xfrm>
            <a:off x="548640" y="3657600"/>
            <a:ext cx="5486400" cy="2377440"/>
          </a:xfrm>
          <a:prstGeom prst="roundRect">
            <a:avLst>
              <a:gd name="adj" fmla="val 3846"/>
            </a:avLst>
          </a:prstGeom>
          <a:solidFill>
            <a:srgbClr val="DCEBE3"/>
          </a:solidFill>
          <a:ln w="12700">
            <a:solidFill>
              <a:srgbClr val="DCEBE3"/>
            </a:solidFill>
            <a:prstDash val="solid"/>
          </a:ln>
        </p:spPr>
        <p:txBody>
          <a:bodyPr/>
          <a:p/>
        </p:txBody>
      </p:sp>
      <p:sp>
        <p:nvSpPr>
          <p:cNvPr id="7" name="Text 5"/>
          <p:cNvSpPr txBox="1"/>
          <p:nvPr/>
        </p:nvSpPr>
        <p:spPr>
          <a:xfrm>
            <a:off x="731520" y="3767328"/>
            <a:ext cx="5120640" cy="215798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Solution: src/calibrate.py</a:t>
            </a:r>
            <a:endParaRPr lang="en-US" sz="1600" dirty="0"/>
          </a:p>
          <a:p>
            <a:pPr marL="0" indent="0">
              <a:spcAft>
                <a:spcPts val="400"/>
              </a:spcAft>
              <a:buNone/>
            </a:pPr>
            <a:r>
              <a:rPr lang="en-US" sz="1400" dirty="0">
                <a:solidFill>
                  <a:srgbClr val="2F3E3A"/>
                </a:solidFill>
              </a:rPr>
              <a:t>Pick t on the Val set so that argmax(logits + t·log π) maximizes Macro F1: t = 0.85 (Mask-Aware), t = 0.70 (RAF-DB). Never touches the Test set; stored in the checkpoint.</a:t>
            </a:r>
            <a:endParaRPr lang="en-US" sz="1600" dirty="0"/>
          </a:p>
          <a:p>
            <a:pPr marL="0" indent="0">
              <a:spcAft>
                <a:spcPts val="400"/>
              </a:spcAft>
              <a:buNone/>
            </a:pPr>
            <a:r>
              <a:rPr lang="en-US" sz="1400" dirty="0">
                <a:solidFill>
                  <a:srgbClr val="2F3E3A"/>
                </a:solidFill>
              </a:rPr>
              <a:t>Check: the best t on the masked test set would be 1.0 (F1 0.713) vs 0.708 at t* = 0.85, so the value picked on Val generalizes.</a:t>
            </a:r>
            <a:endParaRPr lang="en-US" sz="1600" dirty="0"/>
          </a:p>
        </p:txBody>
      </p:sp>
      <p:sp>
        <p:nvSpPr>
          <p:cNvPr id="8" name="Shape 6"/>
          <p:cNvSpPr/>
          <p:nvPr/>
        </p:nvSpPr>
        <p:spPr>
          <a:xfrm>
            <a:off x="6400800" y="1371600"/>
            <a:ext cx="5212080" cy="2743200"/>
          </a:xfrm>
          <a:prstGeom prst="roundRect">
            <a:avLst>
              <a:gd name="adj" fmla="val 4000"/>
            </a:avLst>
          </a:prstGeom>
          <a:solidFill>
            <a:srgbClr val="DCEBE3">
              <a:alpha val="50000"/>
            </a:srgbClr>
          </a:solidFill>
          <a:ln w="15875">
            <a:solidFill>
              <a:srgbClr val="4F7F6E"/>
            </a:solidFill>
            <a:prstDash val="dash"/>
          </a:ln>
        </p:spPr>
        <p:txBody>
          <a:bodyPr/>
          <a:p/>
        </p:txBody>
      </p:sp>
      <p:sp>
        <p:nvSpPr>
          <p:cNvPr id="10" name="Shape 8"/>
          <p:cNvSpPr/>
          <p:nvPr/>
        </p:nvSpPr>
        <p:spPr>
          <a:xfrm>
            <a:off x="6400800" y="4389120"/>
            <a:ext cx="2514600" cy="1645920"/>
          </a:xfrm>
          <a:prstGeom prst="roundRect">
            <a:avLst>
              <a:gd name="adj" fmla="val 5556"/>
            </a:avLst>
          </a:prstGeom>
          <a:solidFill>
            <a:srgbClr val="FBEAE3"/>
          </a:solidFill>
        </p:spPr>
        <p:txBody>
          <a:bodyPr/>
          <a:p/>
        </p:txBody>
      </p:sp>
      <p:sp>
        <p:nvSpPr>
          <p:cNvPr id="11" name="Text 9"/>
          <p:cNvSpPr txBox="1"/>
          <p:nvPr/>
        </p:nvSpPr>
        <p:spPr>
          <a:xfrm>
            <a:off x="6400800" y="4462272"/>
            <a:ext cx="2514600" cy="82296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+5.09</a:t>
            </a:r>
            <a:endParaRPr lang="en-US" sz="3000" dirty="0"/>
          </a:p>
        </p:txBody>
      </p:sp>
      <p:sp>
        <p:nvSpPr>
          <p:cNvPr id="12" name="Text 10"/>
          <p:cNvSpPr txBox="1"/>
          <p:nvPr/>
        </p:nvSpPr>
        <p:spPr>
          <a:xfrm>
            <a:off x="6537960" y="5244998"/>
            <a:ext cx="2240280" cy="724205"/>
          </a:xfrm>
          <a:prstGeom prst="rect">
            <a:avLst/>
          </a:prstGeom>
          <a:noFill/>
        </p:spPr>
        <p:txBody>
          <a:bodyPr wrap="square" rtlCol="0" anchor="t"/>
          <a:lstStyle/>
          <a:p>
            <a:pPr marL="0" indent="0" algn="ctr">
              <a:buNone/>
            </a:pPr>
            <a:r>
              <a:rPr lang="en-US" sz="1300" dirty="0">
                <a:solidFill>
                  <a:srgbClr val="2F3E3A"/>
                </a:solidFill>
              </a:rPr>
              <a:t>pts accuracy on Val (79.55% → 84.64%)</a:t>
            </a:r>
            <a:endParaRPr lang="en-US" sz="1300" dirty="0"/>
          </a:p>
        </p:txBody>
      </p:sp>
      <p:sp>
        <p:nvSpPr>
          <p:cNvPr id="13" name="Shape 11"/>
          <p:cNvSpPr/>
          <p:nvPr/>
        </p:nvSpPr>
        <p:spPr>
          <a:xfrm>
            <a:off x="9098280" y="4389120"/>
            <a:ext cx="2514600" cy="1645920"/>
          </a:xfrm>
          <a:prstGeom prst="roundRect">
            <a:avLst>
              <a:gd name="adj" fmla="val 5556"/>
            </a:avLst>
          </a:prstGeom>
          <a:solidFill>
            <a:srgbClr val="DCEBE3"/>
          </a:solidFill>
        </p:spPr>
        <p:txBody>
          <a:bodyPr/>
          <a:p/>
        </p:txBody>
      </p:sp>
      <p:sp>
        <p:nvSpPr>
          <p:cNvPr id="14" name="Text 12"/>
          <p:cNvSpPr txBox="1"/>
          <p:nvPr/>
        </p:nvSpPr>
        <p:spPr>
          <a:xfrm>
            <a:off x="9098280" y="4462272"/>
            <a:ext cx="2514600" cy="82296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+0.061</a:t>
            </a:r>
            <a:endParaRPr lang="en-US" sz="3000" dirty="0"/>
          </a:p>
        </p:txBody>
      </p:sp>
      <p:sp>
        <p:nvSpPr>
          <p:cNvPr id="15" name="Text 13"/>
          <p:cNvSpPr txBox="1"/>
          <p:nvPr/>
        </p:nvSpPr>
        <p:spPr>
          <a:xfrm>
            <a:off x="9235440" y="5244998"/>
            <a:ext cx="2240280" cy="724205"/>
          </a:xfrm>
          <a:prstGeom prst="rect">
            <a:avLst/>
          </a:prstGeom>
          <a:noFill/>
        </p:spPr>
        <p:txBody>
          <a:bodyPr wrap="square" rtlCol="0" anchor="t"/>
          <a:lstStyle/>
          <a:p>
            <a:pPr marL="0" indent="0" algn="ctr">
              <a:buNone/>
            </a:pPr>
            <a:r>
              <a:rPr lang="en-US" sz="1300" dirty="0">
                <a:solidFill>
                  <a:srgbClr val="2F3E3A"/>
                </a:solidFill>
              </a:rPr>
              <a:t>Macro F1 on Val (0.7109 → 0.7721)</a:t>
            </a:r>
            <a:endParaRPr lang="en-US" sz="13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6" name="t sweep on validation" descr="deck_t_sweep_val.png"/>
          <p:cNvPicPr>
            <a:picLocks noChangeAspect="1"/>
          </p:cNvPicPr>
          <p:nvPr/>
        </p:nvPicPr>
        <p:blipFill>
          <a:blip r:embed="rId1"/>
          <a:stretch>
            <a:fillRect/>
          </a:stretch>
        </p:blipFill>
        <p:spPr>
          <a:xfrm>
            <a:off x="6446520" y="1280160"/>
            <a:ext cx="5120640" cy="2931906"/>
          </a:xfrm>
          <a:prstGeom prst="rect">
            <a:avLst/>
          </a:prstGeom>
        </p:spPr>
      </p:pic>
      <p:sp>
        <p:nvSpPr>
          <p:cNvPr id="27"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Results: +22.68 points on masked faces</a:t>
            </a:r>
            <a:endParaRPr lang="en-US" sz="2800" dirty="0"/>
          </a:p>
        </p:txBody>
      </p:sp>
      <p:graphicFrame>
        <p:nvGraphicFramePr>
          <p:cNvPr id="10" name="Table 0"/>
          <p:cNvGraphicFramePr>
            <a:graphicFrameLocks noGrp="1"/>
          </p:cNvGraphicFramePr>
          <p:nvPr/>
        </p:nvGraphicFramePr>
        <p:xfrm>
          <a:off x="548640" y="1371600"/>
          <a:ext cx="7772400" cy="2926080"/>
        </p:xfrm>
        <a:graphic>
          <a:graphicData uri="http://schemas.openxmlformats.org/drawingml/2006/table">
            <a:tbl>
              <a:tblPr/>
              <a:tblGrid>
                <a:gridCol w="2560320"/>
                <a:gridCol w="1737360"/>
                <a:gridCol w="1737360"/>
                <a:gridCol w="1737360"/>
              </a:tblGrid>
              <a:tr h="731520">
                <a:tc>
                  <a:txBody>
                    <a:bodyPr/>
                    <a:lstStyle/>
                    <a:p>
                      <a:pPr marL="0" indent="0" algn="ctr">
                        <a:buNone/>
                      </a:pPr>
                      <a:r>
                        <a:rPr lang="en-US" sz="1400" b="1" dirty="0">
                          <a:solidFill>
                            <a:srgbClr val="FFFFFF"/>
                          </a:solidFill>
                        </a:rPr>
                        <a:t>Model</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4F7F6E"/>
                    </a:solidFill>
                  </a:tcPr>
                </a:tc>
                <a:tc>
                  <a:txBody>
                    <a:bodyPr/>
                    <a:lstStyle/>
                    <a:p>
                      <a:pPr marL="0" indent="0" algn="ctr">
                        <a:buNone/>
                      </a:pPr>
                      <a:r>
                        <a:rPr lang="en-US" sz="1400" b="1" dirty="0">
                          <a:solidFill>
                            <a:srgbClr val="FFFFFF"/>
                          </a:solidFill>
                        </a:rPr>
                        <a:t>Unmasked</a:t>
                      </a:r>
                      <a:endParaRPr lang="en-US" sz="1400" dirty="0"/>
                    </a:p>
                    <a:p>
                      <a:pPr marL="0" indent="0" algn="ctr">
                        <a:buNone/>
                      </a:pPr>
                      <a:r>
                        <a:rPr lang="en-US" sz="1400" b="1" dirty="0">
                          <a:solidFill>
                            <a:srgbClr val="FFFFFF"/>
                          </a:solidFill>
                        </a:rPr>
                        <a:t>3,068 images</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4F7F6E"/>
                    </a:solidFill>
                  </a:tcPr>
                </a:tc>
                <a:tc>
                  <a:txBody>
                    <a:bodyPr/>
                    <a:lstStyle/>
                    <a:p>
                      <a:pPr marL="0" indent="0" algn="ctr">
                        <a:buNone/>
                      </a:pPr>
                      <a:r>
                        <a:rPr lang="en-US" sz="1400" b="1" dirty="0">
                          <a:solidFill>
                            <a:srgbClr val="FFFFFF"/>
                          </a:solidFill>
                        </a:rPr>
                        <a:t>Masked</a:t>
                      </a:r>
                      <a:endParaRPr lang="en-US" sz="1400" dirty="0"/>
                    </a:p>
                    <a:p>
                      <a:pPr marL="0" indent="0" algn="ctr">
                        <a:buNone/>
                      </a:pPr>
                      <a:r>
                        <a:rPr lang="en-US" sz="1400" b="1" dirty="0">
                          <a:solidFill>
                            <a:srgbClr val="FFFFFF"/>
                          </a:solidFill>
                        </a:rPr>
                        <a:t>1,975 images</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4F7F6E"/>
                    </a:solidFill>
                  </a:tcPr>
                </a:tc>
                <a:tc>
                  <a:txBody>
                    <a:bodyPr/>
                    <a:lstStyle/>
                    <a:p>
                      <a:pPr marL="0" indent="0" algn="ctr">
                        <a:buNone/>
                      </a:pPr>
                      <a:r>
                        <a:rPr lang="en-US" sz="1400" b="1" dirty="0">
                          <a:solidFill>
                            <a:srgbClr val="FFFFFF"/>
                          </a:solidFill>
                        </a:rPr>
                        <a:t>Combined</a:t>
                      </a:r>
                      <a:endParaRPr lang="en-US" sz="1400" dirty="0"/>
                    </a:p>
                    <a:p>
                      <a:pPr marL="0" indent="0" algn="ctr">
                        <a:buNone/>
                      </a:pPr>
                      <a:r>
                        <a:rPr lang="en-US" sz="1400" b="1" dirty="0">
                          <a:solidFill>
                            <a:srgbClr val="FFFFFF"/>
                          </a:solidFill>
                        </a:rPr>
                        <a:t>5,043 images</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4F7F6E"/>
                    </a:solidFill>
                  </a:tcPr>
                </a:tc>
              </a:tr>
              <a:tr h="731520">
                <a:tc>
                  <a:txBody>
                    <a:bodyPr/>
                    <a:lstStyle/>
                    <a:p>
                      <a:pPr marL="0" indent="0" algn="l">
                        <a:buNone/>
                      </a:pPr>
                      <a:r>
                        <a:rPr lang="en-US" sz="1400" b="1" dirty="0">
                          <a:solidFill>
                            <a:srgbClr val="2F3E3A"/>
                          </a:solidFill>
                        </a:rPr>
                        <a:t>MobileNetV3 (old pipeline)</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79.86%</a:t>
                      </a:r>
                      <a:endParaRPr lang="en-US" sz="1400" dirty="0"/>
                    </a:p>
                    <a:p>
                      <a:pPr marL="0" indent="0" algn="ctr">
                        <a:buNone/>
                      </a:pPr>
                      <a:r>
                        <a:rPr lang="en-US" sz="1400" dirty="0">
                          <a:solidFill>
                            <a:srgbClr val="2F3E3A"/>
                          </a:solidFill>
                        </a:rPr>
                        <a:t>F1 0.718</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73.27%</a:t>
                      </a:r>
                      <a:endParaRPr lang="en-US" sz="1400" dirty="0"/>
                    </a:p>
                    <a:p>
                      <a:pPr marL="0" indent="0" algn="ctr">
                        <a:buNone/>
                      </a:pPr>
                      <a:r>
                        <a:rPr lang="en-US" sz="1400" dirty="0">
                          <a:solidFill>
                            <a:srgbClr val="2F3E3A"/>
                          </a:solidFill>
                        </a:rPr>
                        <a:t>F1 0.628</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77.28%</a:t>
                      </a:r>
                      <a:endParaRPr lang="en-US" sz="1400" dirty="0"/>
                    </a:p>
                    <a:p>
                      <a:pPr marL="0" indent="0" algn="ctr">
                        <a:buNone/>
                      </a:pPr>
                      <a:r>
                        <a:rPr lang="en-US" sz="1400" dirty="0">
                          <a:solidFill>
                            <a:srgbClr val="2F3E3A"/>
                          </a:solidFill>
                        </a:rPr>
                        <a:t>F1 0.684</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r>
              <a:tr h="731520">
                <a:tc>
                  <a:txBody>
                    <a:bodyPr/>
                    <a:lstStyle/>
                    <a:p>
                      <a:pPr marL="0" indent="0" algn="l">
                        <a:buNone/>
                      </a:pPr>
                      <a:r>
                        <a:rPr lang="en-US" sz="1400" b="1" dirty="0">
                          <a:solidFill>
                            <a:srgbClr val="2F3E3A"/>
                          </a:solidFill>
                        </a:rPr>
                        <a:t>HSEmotion-B0 (RAF-DB only)</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89.15%</a:t>
                      </a:r>
                      <a:endParaRPr lang="en-US" sz="1400" dirty="0"/>
                    </a:p>
                    <a:p>
                      <a:pPr marL="0" indent="0" algn="ctr">
                        <a:buNone/>
                      </a:pPr>
                      <a:r>
                        <a:rPr lang="en-US" sz="1400" dirty="0">
                          <a:solidFill>
                            <a:srgbClr val="2F3E3A"/>
                          </a:solidFill>
                        </a:rPr>
                        <a:t>F1 0.833</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56.61%</a:t>
                      </a:r>
                      <a:endParaRPr lang="en-US" sz="1400" dirty="0"/>
                    </a:p>
                    <a:p>
                      <a:pPr marL="0" indent="0" algn="ctr">
                        <a:buNone/>
                      </a:pPr>
                      <a:r>
                        <a:rPr lang="en-US" sz="1400" dirty="0">
                          <a:solidFill>
                            <a:srgbClr val="2F3E3A"/>
                          </a:solidFill>
                        </a:rPr>
                        <a:t>F1 0.534</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F3E3A"/>
                          </a:solidFill>
                        </a:rPr>
                        <a:t>76.40%</a:t>
                      </a:r>
                      <a:endParaRPr lang="en-US" sz="1400" dirty="0"/>
                    </a:p>
                    <a:p>
                      <a:pPr marL="0" indent="0" algn="ctr">
                        <a:buNone/>
                      </a:pPr>
                      <a:r>
                        <a:rPr lang="en-US" sz="1400" dirty="0">
                          <a:solidFill>
                            <a:srgbClr val="2F3E3A"/>
                          </a:solidFill>
                        </a:rPr>
                        <a:t>F1 0.725</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FFFFF"/>
                    </a:solidFill>
                  </a:tcPr>
                </a:tc>
              </a:tr>
              <a:tr h="731520">
                <a:tc>
                  <a:txBody>
                    <a:bodyPr/>
                    <a:lstStyle/>
                    <a:p>
                      <a:pPr marL="0" indent="0" algn="l">
                        <a:buNone/>
                      </a:pPr>
                      <a:r>
                        <a:rPr lang="en-US" sz="1400" b="1" dirty="0">
                          <a:solidFill>
                            <a:srgbClr val="2F3E3A"/>
                          </a:solidFill>
                        </a:rPr>
                        <a:t>HSEmotion-B0 Mask-Aware ⭐</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BEAE3"/>
                    </a:solidFill>
                  </a:tcPr>
                </a:tc>
                <a:tc>
                  <a:txBody>
                    <a:bodyPr/>
                    <a:lstStyle/>
                    <a:p>
                      <a:pPr marL="0" indent="0" algn="ctr">
                        <a:buNone/>
                      </a:pPr>
                      <a:r>
                        <a:rPr lang="en-US" sz="1400" b="1" dirty="0">
                          <a:solidFill>
                            <a:srgbClr val="2F3E3A"/>
                          </a:solidFill>
                        </a:rPr>
                        <a:t>88.43%</a:t>
                      </a:r>
                      <a:endParaRPr lang="en-US" sz="1400" dirty="0"/>
                    </a:p>
                    <a:p>
                      <a:pPr marL="0" indent="0" algn="ctr">
                        <a:buNone/>
                      </a:pPr>
                      <a:r>
                        <a:rPr lang="en-US" sz="1400" b="1" dirty="0">
                          <a:solidFill>
                            <a:srgbClr val="2F3E3A"/>
                          </a:solidFill>
                        </a:rPr>
                        <a:t>F1 0.822</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BEAE3"/>
                    </a:solidFill>
                  </a:tcPr>
                </a:tc>
                <a:tc>
                  <a:txBody>
                    <a:bodyPr/>
                    <a:lstStyle/>
                    <a:p>
                      <a:pPr marL="0" indent="0" algn="ctr">
                        <a:buNone/>
                      </a:pPr>
                      <a:r>
                        <a:rPr lang="en-US" sz="1400" b="1" dirty="0">
                          <a:solidFill>
                            <a:srgbClr val="2F3E3A"/>
                          </a:solidFill>
                        </a:rPr>
                        <a:t>79.29%</a:t>
                      </a:r>
                      <a:endParaRPr lang="en-US" sz="1400" dirty="0"/>
                    </a:p>
                    <a:p>
                      <a:pPr marL="0" indent="0" algn="ctr">
                        <a:buNone/>
                      </a:pPr>
                      <a:r>
                        <a:rPr lang="en-US" sz="1400" b="1" dirty="0">
                          <a:solidFill>
                            <a:srgbClr val="2F3E3A"/>
                          </a:solidFill>
                        </a:rPr>
                        <a:t>F1 0.708</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BEAE3"/>
                    </a:solidFill>
                  </a:tcPr>
                </a:tc>
                <a:tc>
                  <a:txBody>
                    <a:bodyPr/>
                    <a:lstStyle/>
                    <a:p>
                      <a:pPr marL="0" indent="0" algn="ctr">
                        <a:buNone/>
                      </a:pPr>
                      <a:r>
                        <a:rPr lang="en-US" sz="1400" b="1" dirty="0">
                          <a:solidFill>
                            <a:srgbClr val="2F3E3A"/>
                          </a:solidFill>
                        </a:rPr>
                        <a:t>84.85%</a:t>
                      </a:r>
                      <a:endParaRPr lang="en-US" sz="1400" dirty="0"/>
                    </a:p>
                    <a:p>
                      <a:pPr marL="0" indent="0" algn="ctr">
                        <a:buNone/>
                      </a:pPr>
                      <a:r>
                        <a:rPr lang="en-US" sz="1400" b="1" dirty="0">
                          <a:solidFill>
                            <a:srgbClr val="2F3E3A"/>
                          </a:solidFill>
                        </a:rPr>
                        <a:t>F1 0.779</a:t>
                      </a:r>
                      <a:endParaRPr lang="en-US" sz="1400" dirty="0"/>
                    </a:p>
                  </a:txBody>
                  <a:tcPr anchor="ctr">
                    <a:lnL w="12700" cap="flat" cmpd="sng" algn="ctr">
                      <a:solidFill>
                        <a:srgbClr val="DCEBE3"/>
                      </a:solidFill>
                      <a:prstDash val="solid"/>
                      <a:round/>
                      <a:headEnd type="none" w="med" len="med"/>
                      <a:tailEnd type="none" w="med" len="med"/>
                    </a:lnL>
                    <a:lnR w="12700" cap="flat" cmpd="sng" algn="ctr">
                      <a:solidFill>
                        <a:srgbClr val="DCEBE3"/>
                      </a:solidFill>
                      <a:prstDash val="solid"/>
                      <a:round/>
                      <a:headEnd type="none" w="med" len="med"/>
                      <a:tailEnd type="none" w="med" len="med"/>
                    </a:lnR>
                    <a:lnT w="12700" cap="flat" cmpd="sng" algn="ctr">
                      <a:solidFill>
                        <a:srgbClr val="DCEBE3"/>
                      </a:solidFill>
                      <a:prstDash val="solid"/>
                      <a:round/>
                      <a:headEnd type="none" w="med" len="med"/>
                      <a:tailEnd type="none" w="med" len="med"/>
                    </a:lnT>
                    <a:lnB w="12700" cap="flat" cmpd="sng" algn="ctr">
                      <a:solidFill>
                        <a:srgbClr val="DCEBE3"/>
                      </a:solidFill>
                      <a:prstDash val="solid"/>
                      <a:round/>
                      <a:headEnd type="none" w="med" len="med"/>
                      <a:tailEnd type="none" w="med" len="med"/>
                    </a:lnB>
                    <a:solidFill>
                      <a:srgbClr val="FBEAE3"/>
                    </a:solidFill>
                  </a:tcPr>
                </a:tc>
              </a:tr>
            </a:tbl>
          </a:graphicData>
        </a:graphic>
      </p:graphicFrame>
      <p:sp>
        <p:nvSpPr>
          <p:cNvPr id="5" name="Shape 2"/>
          <p:cNvSpPr/>
          <p:nvPr/>
        </p:nvSpPr>
        <p:spPr>
          <a:xfrm>
            <a:off x="8686800" y="1371600"/>
            <a:ext cx="2926080" cy="1463040"/>
          </a:xfrm>
          <a:prstGeom prst="roundRect">
            <a:avLst>
              <a:gd name="adj" fmla="val 6250"/>
            </a:avLst>
          </a:prstGeom>
          <a:solidFill>
            <a:srgbClr val="FBEAE3"/>
          </a:solidFill>
        </p:spPr>
        <p:txBody>
          <a:bodyPr/>
          <a:p/>
        </p:txBody>
      </p:sp>
      <p:sp>
        <p:nvSpPr>
          <p:cNvPr id="6" name="Text 3"/>
          <p:cNvSpPr txBox="1"/>
          <p:nvPr/>
        </p:nvSpPr>
        <p:spPr>
          <a:xfrm>
            <a:off x="8686800" y="1444752"/>
            <a:ext cx="2926080" cy="73152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+22.68</a:t>
            </a:r>
            <a:endParaRPr lang="en-US" sz="3000" dirty="0"/>
          </a:p>
        </p:txBody>
      </p:sp>
      <p:sp>
        <p:nvSpPr>
          <p:cNvPr id="7" name="Text 4"/>
          <p:cNvSpPr txBox="1"/>
          <p:nvPr/>
        </p:nvSpPr>
        <p:spPr>
          <a:xfrm>
            <a:off x="8823960" y="2132381"/>
            <a:ext cx="2651760" cy="643738"/>
          </a:xfrm>
          <a:prstGeom prst="rect">
            <a:avLst/>
          </a:prstGeom>
          <a:noFill/>
        </p:spPr>
        <p:txBody>
          <a:bodyPr wrap="square" rtlCol="0" anchor="t"/>
          <a:lstStyle/>
          <a:p>
            <a:pPr marL="0" indent="0" algn="ctr">
              <a:buNone/>
            </a:pPr>
            <a:r>
              <a:rPr lang="en-US" sz="1300" dirty="0">
                <a:solidFill>
                  <a:srgbClr val="2F3E3A"/>
                </a:solidFill>
              </a:rPr>
              <a:t>pts accuracy on masked faces</a:t>
            </a:r>
            <a:endParaRPr lang="en-US" sz="1300" dirty="0"/>
          </a:p>
        </p:txBody>
      </p:sp>
      <p:sp>
        <p:nvSpPr>
          <p:cNvPr id="8" name="Shape 5"/>
          <p:cNvSpPr/>
          <p:nvPr/>
        </p:nvSpPr>
        <p:spPr>
          <a:xfrm>
            <a:off x="8686800" y="3017520"/>
            <a:ext cx="2926080" cy="1463040"/>
          </a:xfrm>
          <a:prstGeom prst="roundRect">
            <a:avLst>
              <a:gd name="adj" fmla="val 6250"/>
            </a:avLst>
          </a:prstGeom>
          <a:solidFill>
            <a:srgbClr val="DCEBE3"/>
          </a:solidFill>
        </p:spPr>
        <p:txBody>
          <a:bodyPr/>
          <a:p/>
        </p:txBody>
      </p:sp>
      <p:sp>
        <p:nvSpPr>
          <p:cNvPr id="9" name="Text 6"/>
          <p:cNvSpPr txBox="1"/>
          <p:nvPr/>
        </p:nvSpPr>
        <p:spPr>
          <a:xfrm>
            <a:off x="8686800" y="3090672"/>
            <a:ext cx="2926080" cy="73152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+0.174</a:t>
            </a:r>
            <a:endParaRPr lang="en-US" sz="3000" dirty="0"/>
          </a:p>
        </p:txBody>
      </p:sp>
      <p:sp>
        <p:nvSpPr>
          <p:cNvPr id="4" name="Text 7"/>
          <p:cNvSpPr txBox="1"/>
          <p:nvPr/>
        </p:nvSpPr>
        <p:spPr>
          <a:xfrm>
            <a:off x="8823960" y="3778301"/>
            <a:ext cx="2651760" cy="643738"/>
          </a:xfrm>
          <a:prstGeom prst="rect">
            <a:avLst/>
          </a:prstGeom>
          <a:noFill/>
        </p:spPr>
        <p:txBody>
          <a:bodyPr wrap="square" rtlCol="0" anchor="t"/>
          <a:lstStyle/>
          <a:p>
            <a:pPr marL="0" indent="0" algn="ctr">
              <a:buNone/>
            </a:pPr>
            <a:r>
              <a:rPr lang="en-US" sz="1300" dirty="0">
                <a:solidFill>
                  <a:srgbClr val="2F3E3A"/>
                </a:solidFill>
              </a:rPr>
              <a:t>Macro F1 on masked faces</a:t>
            </a:r>
            <a:endParaRPr lang="en-US" sz="1300" dirty="0"/>
          </a:p>
        </p:txBody>
      </p:sp>
      <p:sp>
        <p:nvSpPr>
          <p:cNvPr id="11" name="Text 8"/>
          <p:cNvSpPr txBox="1"/>
          <p:nvPr/>
        </p:nvSpPr>
        <p:spPr>
          <a:xfrm>
            <a:off x="548640" y="4480560"/>
            <a:ext cx="7772400" cy="566928"/>
          </a:xfrm>
          <a:prstGeom prst="rect">
            <a:avLst/>
          </a:prstGeom>
          <a:noFill/>
        </p:spPr>
        <p:txBody>
          <a:bodyPr wrap="square" lIns="0" tIns="0" rIns="0" bIns="0" rtlCol="0" anchor="ctr"/>
          <a:lstStyle/>
          <a:p>
            <a:pPr marL="0" indent="0">
              <a:buNone/>
            </a:pPr>
            <a:r>
              <a:rPr lang="en-US" sz="1300" dirty="0">
                <a:solidFill>
                  <a:srgbClr val="66756F"/>
                </a:solidFill>
              </a:rPr>
              <a:t>fp32 · horizontal-flip TTA · prior-bias chosen on Val · official RAF-DB test split</a:t>
            </a:r>
            <a:endParaRPr lang="en-US" sz="1300" dirty="0"/>
          </a:p>
          <a:p>
            <a:pPr marL="0" indent="0">
              <a:buNone/>
            </a:pPr>
            <a:r>
              <a:rPr lang="en-US" sz="1300" dirty="0">
                <a:solidFill>
                  <a:srgbClr val="66756F"/>
                </a:solidFill>
              </a:rPr>
              <a:t>MobileNetV3 row: old pipeline with a leaky val split, not the same protocol (reference only)</a:t>
            </a:r>
            <a:endParaRPr lang="en-US" sz="1300" dirty="0"/>
          </a:p>
        </p:txBody>
      </p:sp>
      <p:sp>
        <p:nvSpPr>
          <p:cNvPr id="12" name="Text 9"/>
          <p:cNvSpPr txBox="1"/>
          <p:nvPr/>
        </p:nvSpPr>
        <p:spPr>
          <a:xfrm>
            <a:off x="548640" y="5120640"/>
            <a:ext cx="11064240" cy="822960"/>
          </a:xfrm>
          <a:prstGeom prst="roundRect">
            <a:avLst>
              <a:gd name="adj" fmla="val 11111"/>
            </a:avLst>
          </a:prstGeom>
          <a:solidFill>
            <a:srgbClr val="DCEBE3"/>
          </a:solidFill>
        </p:spPr>
        <p:txBody>
          <a:bodyPr wrap="square" rtlCol="0" anchor="ctr"/>
          <a:lstStyle/>
          <a:p>
            <a:pPr marL="0" indent="0" algn="ctr">
              <a:buNone/>
            </a:pPr>
            <a:r>
              <a:rPr lang="en-US" sz="1600" b="1" dirty="0">
                <a:solidFill>
                  <a:srgbClr val="2F3E3A"/>
                </a:solidFill>
              </a:rPr>
              <a:t>Minimal trade-off: unmasked accuracy drops only 0.72 pts (89.15% → 88.43%), combined improves +8.45 pts over the RAF-DB-only model</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Per-emotion analysis on masked faces</a:t>
            </a:r>
            <a:endParaRPr lang="en-US" sz="2800" dirty="0"/>
          </a:p>
        </p:txBody>
      </p:sp>
      <p:graphicFrame>
        <p:nvGraphicFramePr>
          <p:cNvPr id="4" name="Chart 0"/>
          <p:cNvGraphicFramePr/>
          <p:nvPr/>
        </p:nvGraphicFramePr>
        <p:xfrm>
          <a:off x="1592580" y="1371600"/>
          <a:ext cx="8175625" cy="4846320"/>
        </p:xfrm>
        <a:graphic>
          <a:graphicData uri="http://schemas.openxmlformats.org/drawingml/2006/chart">
            <c:chart xmlns:c="http://schemas.openxmlformats.org/drawingml/2006/chart" xmlns:r="http://schemas.openxmlformats.org/officeDocument/2006/relationships" r:id="rId1"/>
          </a:graphicData>
        </a:graphic>
      </p:graphicFrame>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Where the errors go on masked faces</a:t>
            </a:r>
            <a:endParaRPr lang="en-US" sz="28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6" name="Confusion matrices masked" descr="deck_confusion_masked.png"/>
          <p:cNvPicPr>
            <a:picLocks noChangeAspect="1"/>
          </p:cNvPicPr>
          <p:nvPr/>
        </p:nvPicPr>
        <p:blipFill>
          <a:blip r:embed="rId1"/>
          <a:stretch>
            <a:fillRect/>
          </a:stretch>
        </p:blipFill>
        <p:spPr>
          <a:xfrm>
            <a:off x="1074325" y="1188720"/>
            <a:ext cx="10043044" cy="4434840"/>
          </a:xfrm>
          <a:prstGeom prst="rect">
            <a:avLst/>
          </a:prstGeom>
        </p:spPr>
      </p:pic>
      <p:sp>
        <p:nvSpPr>
          <p:cNvPr id="27" name="TextBox 26"/>
          <p:cNvSpPr txBox="1"/>
          <p:nvPr/>
        </p:nvSpPr>
        <p:spPr>
          <a:xfrm>
            <a:off x="548640" y="5715000"/>
            <a:ext cx="11064240" cy="548640"/>
          </a:xfrm>
          <a:prstGeom prst="rect">
            <a:avLst/>
          </a:prstGeom>
          <a:noFill/>
        </p:spPr>
        <p:txBody>
          <a:bodyPr wrap="square" lIns="0" rIns="0">
            <a:spAutoFit/>
          </a:bodyPr>
          <a:lstStyle/>
          <a:p>
            <a:r>
              <a:rPr sz="1400" b="0">
                <a:solidFill>
                  <a:srgbClr val="2F3E3A"/>
                </a:solidFill>
                <a:latin typeface="Calibri"/>
              </a:rPr>
              <a:t>Row-normalized, masked test (1,975 images). The RAF-DB-only model sends 48% of happy faces to neutral; Mask-Aware: 9%. Remaining errors follow anatomy: fear → surprise 29% (both raise brows and widen eyes).</a:t>
            </a:r>
          </a:p>
        </p:txBody>
      </p:sp>
      <p:sp>
        <p:nvSpPr>
          <p:cNvPr id="28"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Ablation: what post-processing adds (Mask-Aware)</a:t>
            </a:r>
            <a:endParaRPr lang="en-US" sz="2800" dirty="0"/>
          </a:p>
        </p:txBody>
      </p:sp>
      <p:graphicFrame>
        <p:nvGraphicFramePr>
          <p:cNvPr id="4" name="Chart 0"/>
          <p:cNvGraphicFramePr/>
          <p:nvPr/>
        </p:nvGraphicFramePr>
        <p:xfrm>
          <a:off x="548640" y="1371600"/>
          <a:ext cx="6583680" cy="484632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498080" y="1371600"/>
            <a:ext cx="4114800" cy="1554480"/>
          </a:xfrm>
          <a:prstGeom prst="roundRect">
            <a:avLst>
              <a:gd name="adj" fmla="val 5882"/>
            </a:avLst>
          </a:prstGeom>
          <a:solidFill>
            <a:srgbClr val="FBEAE3"/>
          </a:solidFill>
        </p:spPr>
        <p:txBody>
          <a:bodyPr/>
          <a:p/>
        </p:txBody>
      </p:sp>
      <p:sp>
        <p:nvSpPr>
          <p:cNvPr id="6" name="Text 3"/>
          <p:cNvSpPr txBox="1"/>
          <p:nvPr/>
        </p:nvSpPr>
        <p:spPr>
          <a:xfrm>
            <a:off x="7498080" y="1444752"/>
            <a:ext cx="4114800" cy="77724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+4.7 / +6.5</a:t>
            </a:r>
            <a:endParaRPr lang="en-US" sz="3000" dirty="0"/>
          </a:p>
        </p:txBody>
      </p:sp>
      <p:sp>
        <p:nvSpPr>
          <p:cNvPr id="7" name="Text 4"/>
          <p:cNvSpPr txBox="1"/>
          <p:nvPr/>
        </p:nvSpPr>
        <p:spPr>
          <a:xfrm>
            <a:off x="7635240" y="2179930"/>
            <a:ext cx="3840480" cy="683971"/>
          </a:xfrm>
          <a:prstGeom prst="rect">
            <a:avLst/>
          </a:prstGeom>
          <a:noFill/>
        </p:spPr>
        <p:txBody>
          <a:bodyPr wrap="square" rtlCol="0" anchor="t"/>
          <a:lstStyle/>
          <a:p>
            <a:pPr marL="0" indent="0" algn="ctr">
              <a:buNone/>
            </a:pPr>
            <a:r>
              <a:rPr lang="en-US" sz="1300" dirty="0">
                <a:solidFill>
                  <a:srgbClr val="2F3E3A"/>
                </a:solidFill>
              </a:rPr>
              <a:t>pts from prior-bias (unmasked / masked)</a:t>
            </a:r>
            <a:endParaRPr lang="en-US" sz="1300" dirty="0"/>
          </a:p>
        </p:txBody>
      </p:sp>
      <p:sp>
        <p:nvSpPr>
          <p:cNvPr id="8" name="Shape 5"/>
          <p:cNvSpPr/>
          <p:nvPr/>
        </p:nvSpPr>
        <p:spPr>
          <a:xfrm>
            <a:off x="7498080" y="3108960"/>
            <a:ext cx="4114800" cy="1554480"/>
          </a:xfrm>
          <a:prstGeom prst="roundRect">
            <a:avLst>
              <a:gd name="adj" fmla="val 5882"/>
            </a:avLst>
          </a:prstGeom>
          <a:solidFill>
            <a:srgbClr val="DCEBE3"/>
          </a:solidFill>
        </p:spPr>
        <p:txBody>
          <a:bodyPr/>
          <a:p/>
        </p:txBody>
      </p:sp>
      <p:sp>
        <p:nvSpPr>
          <p:cNvPr id="9" name="Text 6"/>
          <p:cNvSpPr txBox="1"/>
          <p:nvPr/>
        </p:nvSpPr>
        <p:spPr>
          <a:xfrm>
            <a:off x="7498080" y="3182112"/>
            <a:ext cx="4114800" cy="77724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 0</a:t>
            </a:r>
            <a:endParaRPr lang="en-US" sz="3000" dirty="0"/>
          </a:p>
        </p:txBody>
      </p:sp>
      <p:sp>
        <p:nvSpPr>
          <p:cNvPr id="10" name="Text 7"/>
          <p:cNvSpPr txBox="1"/>
          <p:nvPr/>
        </p:nvSpPr>
        <p:spPr>
          <a:xfrm>
            <a:off x="7635240" y="3917290"/>
            <a:ext cx="3840480" cy="683971"/>
          </a:xfrm>
          <a:prstGeom prst="rect">
            <a:avLst/>
          </a:prstGeom>
          <a:noFill/>
        </p:spPr>
        <p:txBody>
          <a:bodyPr wrap="square" rtlCol="0" anchor="t"/>
          <a:lstStyle/>
          <a:p>
            <a:pPr marL="0" indent="0" algn="ctr">
              <a:buNone/>
            </a:pPr>
            <a:r>
              <a:rPr lang="en-US" sz="1300" dirty="0">
                <a:solidFill>
                  <a:srgbClr val="2F3E3A"/>
                </a:solidFill>
              </a:rPr>
              <a:t>pts from flip TTA (+0.36 / −0.05)</a:t>
            </a:r>
            <a:endParaRPr lang="en-US" sz="1300" dirty="0"/>
          </a:p>
        </p:txBody>
      </p:sp>
      <p:sp>
        <p:nvSpPr>
          <p:cNvPr id="11" name="Text 8"/>
          <p:cNvSpPr txBox="1"/>
          <p:nvPr/>
        </p:nvSpPr>
        <p:spPr>
          <a:xfrm>
            <a:off x="7498080" y="4937760"/>
            <a:ext cx="4114800" cy="1188720"/>
          </a:xfrm>
          <a:prstGeom prst="rect">
            <a:avLst/>
          </a:prstGeom>
          <a:noFill/>
        </p:spPr>
        <p:txBody>
          <a:bodyPr wrap="square" rtlCol="0" anchor="ctr"/>
          <a:lstStyle/>
          <a:p>
            <a:pPr marL="0" indent="0" algn="ctr">
              <a:buNone/>
            </a:pPr>
            <a:r>
              <a:rPr lang="en-US" sz="1400" b="0" dirty="0">
                <a:solidFill>
                  <a:srgbClr val="2F3E3A"/>
                </a:solidFill>
              </a:rPr>
              <a:t>Masked data + occlusion: +22.68 pts on masked faces (slide 12). YuNet alignment is not in this table: RAF-DB test images are already aligned.</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2 · Nguyễn Trinh Quý · Model, Training &amp; Evaluation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XAI: Grad-CAM and the attention shift</a:t>
            </a:r>
            <a:endParaRPr lang="en-US" sz="2800" dirty="0"/>
          </a:p>
        </p:txBody>
      </p:sp>
      <p:sp>
        <p:nvSpPr>
          <p:cNvPr id="8" name="Text 6"/>
          <p:cNvSpPr txBox="1"/>
          <p:nvPr/>
        </p:nvSpPr>
        <p:spPr>
          <a:xfrm>
            <a:off x="548640" y="5029200"/>
            <a:ext cx="11064240" cy="548640"/>
          </a:xfrm>
          <a:prstGeom prst="rect">
            <a:avLst/>
          </a:prstGeom>
          <a:noFill/>
        </p:spPr>
        <p:txBody>
          <a:bodyPr wrap="square" lIns="0" tIns="0" rIns="0" bIns="0" rtlCol="0" anchor="t"/>
          <a:lstStyle/>
          <a:p>
            <a:pPr marL="0" indent="0">
              <a:buNone/>
            </a:pPr>
            <a:r>
              <a:rPr lang="en-US" sz="1400" dirty="0">
                <a:solidFill>
                  <a:srgbClr val="2F3E3A"/>
                </a:solidFill>
              </a:rPr>
              <a:t>Real outputs on RAF-DB test images (heatmap for the true label). Without a mask both models use the mouth; with a mask, Mask-Aware concentrates on eyes and brows.</a:t>
            </a:r>
            <a:endParaRPr lang="en-US" sz="1400" dirty="0"/>
          </a:p>
        </p:txBody>
      </p:sp>
      <p:sp>
        <p:nvSpPr>
          <p:cNvPr id="10" name="Text 8"/>
          <p:cNvSpPr txBox="1"/>
          <p:nvPr/>
        </p:nvSpPr>
        <p:spPr>
          <a:xfrm>
            <a:off x="548640" y="5669280"/>
            <a:ext cx="11064240" cy="594360"/>
          </a:xfrm>
          <a:prstGeom prst="roundRect">
            <a:avLst>
              <a:gd name="adj" fmla="val 15385"/>
            </a:avLst>
          </a:prstGeom>
          <a:solidFill>
            <a:srgbClr val="4F7F6E"/>
          </a:solidFill>
        </p:spPr>
        <p:txBody>
          <a:bodyPr wrap="square" rtlCol="0" anchor="ctr"/>
          <a:lstStyle/>
          <a:p>
            <a:pPr marL="0" indent="0" algn="ctr">
              <a:buNone/>
            </a:pPr>
            <a:r>
              <a:rPr lang="en-US" sz="1600" b="1" dirty="0">
                <a:solidFill>
                  <a:srgbClr val="FFFFFF"/>
                </a:solidFill>
              </a:rPr>
              <a:t>Grad-CAM from bn2 (1280×7×7). The RAF-DB-only model also looks up (42% → 55%) but stays diffuse and falls back to neutral.</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6" name="Grad-CAM real examples" descr="deck_gradcam_examples.png"/>
          <p:cNvPicPr>
            <a:picLocks noChangeAspect="1"/>
          </p:cNvPicPr>
          <p:nvPr/>
        </p:nvPicPr>
        <p:blipFill>
          <a:blip r:embed="rId2"/>
          <a:stretch>
            <a:fillRect/>
          </a:stretch>
        </p:blipFill>
        <p:spPr>
          <a:xfrm>
            <a:off x="548640" y="1188720"/>
            <a:ext cx="8138160" cy="3812660"/>
          </a:xfrm>
          <a:prstGeom prst="rect">
            <a:avLst/>
          </a:prstGeom>
        </p:spPr>
      </p:pic>
      <p:sp>
        <p:nvSpPr>
          <p:cNvPr id="27" name="Shape 2"/>
          <p:cNvSpPr/>
          <p:nvPr/>
        </p:nvSpPr>
        <p:spPr>
          <a:xfrm>
            <a:off x="8915400" y="1234440"/>
            <a:ext cx="2697480" cy="1554480"/>
          </a:xfrm>
          <a:prstGeom prst="roundRect">
            <a:avLst>
              <a:gd name="adj" fmla="val 5882"/>
            </a:avLst>
          </a:prstGeom>
          <a:solidFill>
            <a:srgbClr val="FBEAE3"/>
          </a:solidFill>
        </p:spPr>
        <p:txBody>
          <a:bodyPr/>
          <a:p/>
        </p:txBody>
      </p:sp>
      <p:sp>
        <p:nvSpPr>
          <p:cNvPr id="28" name="Text 3"/>
          <p:cNvSpPr txBox="1"/>
          <p:nvPr/>
        </p:nvSpPr>
        <p:spPr>
          <a:xfrm>
            <a:off x="8915400" y="1307592"/>
            <a:ext cx="2697480" cy="77724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47% → 58%</a:t>
            </a:r>
            <a:endParaRPr lang="en-US" sz="3000" dirty="0"/>
          </a:p>
        </p:txBody>
      </p:sp>
      <p:sp>
        <p:nvSpPr>
          <p:cNvPr id="29" name="Text 4"/>
          <p:cNvSpPr txBox="1"/>
          <p:nvPr/>
        </p:nvSpPr>
        <p:spPr>
          <a:xfrm>
            <a:off x="9052560" y="2042770"/>
            <a:ext cx="2423160" cy="822960"/>
          </a:xfrm>
          <a:prstGeom prst="rect">
            <a:avLst/>
          </a:prstGeom>
          <a:noFill/>
        </p:spPr>
        <p:txBody>
          <a:bodyPr wrap="square" rtlCol="0" anchor="t"/>
          <a:lstStyle/>
          <a:p>
            <a:pPr marL="0" indent="0" algn="ctr">
              <a:buNone/>
            </a:pPr>
            <a:r>
              <a:rPr lang="en-US" sz="1300" dirty="0">
                <a:solidFill>
                  <a:srgbClr val="2F3E3A"/>
                </a:solidFill>
              </a:rPr>
              <a:t>Grad-CAM energy above the mask line, Mask-Aware (1,975 pairs)</a:t>
            </a:r>
            <a:endParaRPr lang="en-US" sz="1300" dirty="0"/>
          </a:p>
        </p:txBody>
      </p:sp>
      <p:sp>
        <p:nvSpPr>
          <p:cNvPr id="30" name="Shape 5"/>
          <p:cNvSpPr/>
          <p:nvPr/>
        </p:nvSpPr>
        <p:spPr>
          <a:xfrm>
            <a:off x="8915400" y="3063240"/>
            <a:ext cx="2697480" cy="1554480"/>
          </a:xfrm>
          <a:prstGeom prst="roundRect">
            <a:avLst>
              <a:gd name="adj" fmla="val 5882"/>
            </a:avLst>
          </a:prstGeom>
          <a:solidFill>
            <a:srgbClr val="DCEBE3"/>
          </a:solidFill>
        </p:spPr>
        <p:txBody>
          <a:bodyPr/>
          <a:p/>
        </p:txBody>
      </p:sp>
      <p:sp>
        <p:nvSpPr>
          <p:cNvPr id="31" name="Text 6"/>
          <p:cNvSpPr txBox="1"/>
          <p:nvPr/>
        </p:nvSpPr>
        <p:spPr>
          <a:xfrm>
            <a:off x="8915400" y="3136392"/>
            <a:ext cx="2697480" cy="77724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48% → 9%</a:t>
            </a:r>
            <a:endParaRPr lang="en-US" sz="3000" dirty="0"/>
          </a:p>
        </p:txBody>
      </p:sp>
      <p:sp>
        <p:nvSpPr>
          <p:cNvPr id="32" name="Text 7"/>
          <p:cNvSpPr txBox="1"/>
          <p:nvPr/>
        </p:nvSpPr>
        <p:spPr>
          <a:xfrm>
            <a:off x="9052560" y="3871570"/>
            <a:ext cx="2423160" cy="822960"/>
          </a:xfrm>
          <a:prstGeom prst="rect">
            <a:avLst/>
          </a:prstGeom>
          <a:noFill/>
        </p:spPr>
        <p:txBody>
          <a:bodyPr wrap="square" rtlCol="0" anchor="t"/>
          <a:lstStyle/>
          <a:p>
            <a:pPr marL="0" indent="0" algn="ctr">
              <a:buNone/>
            </a:pPr>
            <a:r>
              <a:rPr lang="en-US" sz="1300" dirty="0">
                <a:solidFill>
                  <a:srgbClr val="2F3E3A"/>
                </a:solidFill>
              </a:rPr>
              <a:t>masked happy faces predicted neutral (RAF-DB-only → Mask-Aware)</a:t>
            </a:r>
            <a:endParaRPr lang="en-US" sz="1300" dirty="0"/>
          </a:p>
        </p:txBody>
      </p:sp>
      <p:sp>
        <p:nvSpPr>
          <p:cNvPr id="33"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Real-time: IoU tracker + EMA smoothing</a:t>
            </a:r>
            <a:endParaRPr lang="en-US" sz="2800" dirty="0"/>
          </a:p>
        </p:txBody>
      </p:sp>
      <p:sp>
        <p:nvSpPr>
          <p:cNvPr id="13" name="Shape 11"/>
          <p:cNvSpPr/>
          <p:nvPr/>
        </p:nvSpPr>
        <p:spPr>
          <a:xfrm>
            <a:off x="861695" y="4480560"/>
            <a:ext cx="5131435" cy="1755775"/>
          </a:xfrm>
          <a:prstGeom prst="roundRect">
            <a:avLst>
              <a:gd name="adj" fmla="val 5556"/>
            </a:avLst>
          </a:prstGeom>
          <a:solidFill>
            <a:srgbClr val="FBEAE3"/>
          </a:solidFill>
          <a:ln w="12700">
            <a:solidFill>
              <a:srgbClr val="DCEBE3"/>
            </a:solidFill>
            <a:prstDash val="solid"/>
          </a:ln>
        </p:spPr>
        <p:txBody>
          <a:bodyPr/>
          <a:p/>
        </p:txBody>
      </p:sp>
      <p:sp>
        <p:nvSpPr>
          <p:cNvPr id="14" name="Text 12"/>
          <p:cNvSpPr txBox="1"/>
          <p:nvPr/>
        </p:nvSpPr>
        <p:spPr>
          <a:xfrm>
            <a:off x="1152525" y="4590288"/>
            <a:ext cx="4754880" cy="142646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Temporal smoothing</a:t>
            </a:r>
            <a:endParaRPr lang="en-US" sz="1600" dirty="0"/>
          </a:p>
          <a:p>
            <a:pPr marL="0" indent="0">
              <a:spcAft>
                <a:spcPts val="400"/>
              </a:spcAft>
              <a:buNone/>
            </a:pPr>
            <a:r>
              <a:rPr lang="en-US" sz="1400" dirty="0">
                <a:solidFill>
                  <a:srgbClr val="2F3E3A"/>
                </a:solidFill>
              </a:rPr>
              <a:t>P_smooth = (1 − α)·P_old + α·P_new, with α = 0.4. Each face keeps a stable Track ID.</a:t>
            </a:r>
            <a:endParaRPr lang="en-US" sz="1600" dirty="0"/>
          </a:p>
          <a:p>
            <a:pPr marL="0" indent="0">
              <a:spcAft>
                <a:spcPts val="400"/>
              </a:spcAft>
              <a:buNone/>
            </a:pPr>
            <a:r>
              <a:rPr lang="en-US" sz="1400" dirty="0">
                <a:solidFill>
                  <a:srgbClr val="2F3E3A"/>
                </a:solidFill>
              </a:rPr>
              <a:t>Effective memory ≈ 2–3 frames, so the label reacts within ~0.1 s.</a:t>
            </a:r>
            <a:endParaRPr lang="en-US" sz="1600" dirty="0"/>
          </a:p>
        </p:txBody>
      </p:sp>
      <p:sp>
        <p:nvSpPr>
          <p:cNvPr id="15" name="Shape 13"/>
          <p:cNvSpPr/>
          <p:nvPr/>
        </p:nvSpPr>
        <p:spPr>
          <a:xfrm>
            <a:off x="6492240" y="4480560"/>
            <a:ext cx="5120640" cy="1737360"/>
          </a:xfrm>
          <a:prstGeom prst="roundRect">
            <a:avLst>
              <a:gd name="adj" fmla="val 5263"/>
            </a:avLst>
          </a:prstGeom>
          <a:solidFill>
            <a:srgbClr val="DCEBE3"/>
          </a:solidFill>
          <a:ln w="12700">
            <a:solidFill>
              <a:srgbClr val="DCEBE3"/>
            </a:solidFill>
            <a:prstDash val="solid"/>
          </a:ln>
        </p:spPr>
        <p:txBody>
          <a:bodyPr/>
          <a:p/>
        </p:txBody>
      </p:sp>
      <p:sp>
        <p:nvSpPr>
          <p:cNvPr id="16" name="Text 14"/>
          <p:cNvSpPr txBox="1"/>
          <p:nvPr/>
        </p:nvSpPr>
        <p:spPr>
          <a:xfrm>
            <a:off x="6675120" y="4590288"/>
            <a:ext cx="4754880" cy="151790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Temporary loss of a face</a:t>
            </a:r>
            <a:endParaRPr lang="en-US" sz="1600" dirty="0"/>
          </a:p>
          <a:p>
            <a:pPr marL="0" indent="0">
              <a:spcAft>
                <a:spcPts val="400"/>
              </a:spcAft>
              <a:buNone/>
            </a:pPr>
            <a:r>
              <a:rPr lang="en-US" sz="1400" dirty="0">
                <a:solidFill>
                  <a:srgbClr val="2F3E3A"/>
                </a:solidFill>
              </a:rPr>
              <a:t>Keeps the ID for up to 10 frames (~0.3 s); re-matches at IoU ≥ 0.3 and keeps the smoothed probabilities.</a:t>
            </a:r>
            <a:endParaRPr lang="en-US" sz="1600" dirty="0"/>
          </a:p>
          <a:p>
            <a:pPr marL="0" indent="0">
              <a:spcAft>
                <a:spcPts val="400"/>
              </a:spcAft>
              <a:buNone/>
            </a:pPr>
            <a:r>
              <a:rPr lang="en-US" sz="1400" dirty="0">
                <a:solidFill>
                  <a:srgbClr val="2F3E3A"/>
                </a:solidFill>
              </a:rPr>
              <a:t>Greedy IoU matching, O(M·N): enough for ≤ 5 faces, no Kalman filter needed.</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17" name="Picture 16"/>
          <p:cNvPicPr>
            <a:picLocks noChangeAspect="1"/>
          </p:cNvPicPr>
          <p:nvPr/>
        </p:nvPicPr>
        <p:blipFill>
          <a:blip r:embed="rId1"/>
          <a:stretch>
            <a:fillRect/>
          </a:stretch>
        </p:blipFill>
        <p:spPr>
          <a:xfrm>
            <a:off x="717550" y="1438275"/>
            <a:ext cx="10757535" cy="2856865"/>
          </a:xfrm>
          <a:prstGeom prst="rect">
            <a:avLst/>
          </a:prstGeom>
        </p:spPr>
      </p:pic>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Real-time performance (Apple M1, MPS)</a:t>
            </a:r>
            <a:endParaRPr lang="en-US" sz="2800" dirty="0"/>
          </a:p>
        </p:txBody>
      </p:sp>
      <p:graphicFrame>
        <p:nvGraphicFramePr>
          <p:cNvPr id="4" name="Chart 0"/>
          <p:cNvGraphicFramePr/>
          <p:nvPr/>
        </p:nvGraphicFramePr>
        <p:xfrm>
          <a:off x="548640" y="1371600"/>
          <a:ext cx="6766560" cy="484632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680960" y="1371600"/>
            <a:ext cx="3931920" cy="1463040"/>
          </a:xfrm>
          <a:prstGeom prst="roundRect">
            <a:avLst>
              <a:gd name="adj" fmla="val 6250"/>
            </a:avLst>
          </a:prstGeom>
          <a:solidFill>
            <a:srgbClr val="FBEAE3"/>
          </a:solidFill>
        </p:spPr>
        <p:txBody>
          <a:bodyPr/>
          <a:p/>
        </p:txBody>
      </p:sp>
      <p:sp>
        <p:nvSpPr>
          <p:cNvPr id="6" name="Text 3"/>
          <p:cNvSpPr txBox="1"/>
          <p:nvPr/>
        </p:nvSpPr>
        <p:spPr>
          <a:xfrm>
            <a:off x="7680960" y="1444752"/>
            <a:ext cx="3931920" cy="73152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55.0 → 37.4</a:t>
            </a:r>
            <a:endParaRPr lang="en-US" sz="3000" dirty="0"/>
          </a:p>
        </p:txBody>
      </p:sp>
      <p:sp>
        <p:nvSpPr>
          <p:cNvPr id="7" name="Text 4"/>
          <p:cNvSpPr txBox="1"/>
          <p:nvPr/>
        </p:nvSpPr>
        <p:spPr>
          <a:xfrm>
            <a:off x="7818120" y="2132381"/>
            <a:ext cx="3657600" cy="643738"/>
          </a:xfrm>
          <a:prstGeom prst="rect">
            <a:avLst/>
          </a:prstGeom>
          <a:noFill/>
        </p:spPr>
        <p:txBody>
          <a:bodyPr wrap="square" rtlCol="0" anchor="t"/>
          <a:lstStyle/>
          <a:p>
            <a:pPr marL="0" indent="0" algn="ctr">
              <a:buNone/>
            </a:pPr>
            <a:r>
              <a:rPr lang="en-US" sz="1300" dirty="0">
                <a:solidFill>
                  <a:srgbClr val="2F3E3A"/>
                </a:solidFill>
              </a:rPr>
              <a:t>FPS, 1 face: Grad-CAM off → on (recomputed every 10 frames)</a:t>
            </a:r>
            <a:endParaRPr lang="en-US" sz="1300" dirty="0"/>
          </a:p>
        </p:txBody>
      </p:sp>
      <p:sp>
        <p:nvSpPr>
          <p:cNvPr id="8" name="Text 5"/>
          <p:cNvSpPr txBox="1"/>
          <p:nvPr/>
        </p:nvSpPr>
        <p:spPr>
          <a:xfrm>
            <a:off x="7680960" y="3200400"/>
            <a:ext cx="3931920" cy="2926080"/>
          </a:xfrm>
          <a:prstGeom prst="rect">
            <a:avLst/>
          </a:prstGeom>
          <a:noFill/>
        </p:spPr>
        <p:txBody>
          <a:bodyPr wrap="square" lIns="0" tIns="0" rIns="0" bIns="0" rtlCol="0" anchor="t"/>
          <a:lstStyle/>
          <a:p>
            <a:pPr marL="342900" indent="-342900">
              <a:spcAft>
                <a:spcPts val="800"/>
              </a:spcAft>
              <a:buSzPct val="100000"/>
              <a:buChar char="•"/>
            </a:pPr>
            <a:r>
              <a:rPr lang="en-US" sz="1400" dirty="0">
                <a:solidFill>
                  <a:srgbClr val="2F3E3A"/>
                </a:solidFill>
              </a:rPr>
              <a:t>TTA off for webcam: accuracy stays 88.43%, F1 0.822 → 0.818.</a:t>
            </a:r>
            <a:endParaRPr lang="en-US" sz="1400" dirty="0"/>
          </a:p>
          <a:p>
            <a:pPr marL="342900" indent="-342900">
              <a:spcAft>
                <a:spcPts val="800"/>
              </a:spcAft>
              <a:buSzPct val="100000"/>
              <a:buChar char="•"/>
            </a:pPr>
            <a:r>
              <a:rPr lang="en-US" sz="1400" dirty="0">
                <a:solidFill>
                  <a:srgbClr val="2F3E3A"/>
                </a:solidFill>
              </a:rPr>
              <a:t>Grad-CAM adds ~8 ms per frame on average (≈80 ms per refresh ÷ 10 frames).</a:t>
            </a:r>
            <a:endParaRPr lang="en-US" sz="1400" dirty="0"/>
          </a:p>
          <a:p>
            <a:pPr marL="342900" indent="-342900">
              <a:spcAft>
                <a:spcPts val="800"/>
              </a:spcAft>
              <a:buSzPct val="100000"/>
              <a:buChar char="•"/>
            </a:pPr>
            <a:r>
              <a:rPr lang="en-US" sz="1400" dirty="0">
                <a:solidFill>
                  <a:srgbClr val="2F3E3A"/>
                </a:solidFill>
              </a:rPr>
              <a:t>Synthetic 1280×720 frames with RAF-DB faces, Apple M1 GPU (MPS); real webcam not yet measured.</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 deployment: TorchScript + Shiny</a:t>
            </a:r>
            <a:endParaRPr lang="en-US" sz="2800" dirty="0"/>
          </a:p>
        </p:txBody>
      </p:sp>
      <p:sp>
        <p:nvSpPr>
          <p:cNvPr id="4" name="Text 2"/>
          <p:cNvSpPr txBox="1"/>
          <p:nvPr/>
        </p:nvSpPr>
        <p:spPr>
          <a:xfrm>
            <a:off x="548640" y="1371600"/>
            <a:ext cx="3154680" cy="1463040"/>
          </a:xfrm>
          <a:prstGeom prst="roundRect">
            <a:avLst>
              <a:gd name="adj" fmla="val 6250"/>
            </a:avLst>
          </a:prstGeom>
          <a:solidFill>
            <a:srgbClr val="FBEAE3"/>
          </a:solidFill>
        </p:spPr>
        <p:txBody>
          <a:bodyPr wrap="square" rtlCol="0" anchor="ctr"/>
          <a:lstStyle/>
          <a:p>
            <a:pPr marL="0" indent="0" algn="ctr">
              <a:buNone/>
            </a:pPr>
            <a:r>
              <a:rPr lang="en-US" sz="1400" dirty="0">
                <a:solidFill>
                  <a:srgbClr val="2F3E3A"/>
                </a:solidFill>
              </a:rPr>
              <a:t>Python · training</a:t>
            </a:r>
            <a:endParaRPr lang="en-US" sz="1400" dirty="0"/>
          </a:p>
          <a:p>
            <a:pPr marL="0" indent="0" algn="ctr">
              <a:buNone/>
            </a:pPr>
            <a:r>
              <a:rPr lang="en-US" sz="1400" dirty="0">
                <a:solidFill>
                  <a:srgbClr val="2F3E3A"/>
                </a:solidFill>
              </a:rPr>
              <a:t>best_model_mask_aware.pth with logit_bias</a:t>
            </a:r>
            <a:endParaRPr lang="en-US" sz="1400" dirty="0"/>
          </a:p>
        </p:txBody>
      </p:sp>
      <p:sp>
        <p:nvSpPr>
          <p:cNvPr id="5" name="Shape 3"/>
          <p:cNvSpPr/>
          <p:nvPr/>
        </p:nvSpPr>
        <p:spPr>
          <a:xfrm>
            <a:off x="3776472" y="1965960"/>
            <a:ext cx="676656" cy="274320"/>
          </a:xfrm>
          <a:prstGeom prst="rightArrow">
            <a:avLst/>
          </a:prstGeom>
          <a:solidFill>
            <a:srgbClr val="4F7F6E"/>
          </a:solidFill>
        </p:spPr>
        <p:txBody>
          <a:bodyPr/>
          <a:p/>
        </p:txBody>
      </p:sp>
      <p:sp>
        <p:nvSpPr>
          <p:cNvPr id="6" name="Text 4"/>
          <p:cNvSpPr txBox="1"/>
          <p:nvPr/>
        </p:nvSpPr>
        <p:spPr>
          <a:xfrm>
            <a:off x="4526280" y="1371600"/>
            <a:ext cx="3154680" cy="1463040"/>
          </a:xfrm>
          <a:prstGeom prst="roundRect">
            <a:avLst>
              <a:gd name="adj" fmla="val 6250"/>
            </a:avLst>
          </a:prstGeom>
          <a:solidFill>
            <a:srgbClr val="DCEBE3"/>
          </a:solidFill>
        </p:spPr>
        <p:txBody>
          <a:bodyPr wrap="square" rtlCol="0" anchor="ctr"/>
          <a:lstStyle/>
          <a:p>
            <a:pPr marL="0" indent="0" algn="ctr">
              <a:buNone/>
            </a:pPr>
            <a:r>
              <a:rPr lang="en-US" sz="1400" dirty="0">
                <a:solidFill>
                  <a:srgbClr val="2F3E3A"/>
                </a:solidFill>
              </a:rPr>
              <a:t>scripts/export_jit.py</a:t>
            </a:r>
            <a:endParaRPr lang="en-US" sz="1400" dirty="0"/>
          </a:p>
          <a:p>
            <a:pPr marL="0" indent="0" algn="ctr">
              <a:buNone/>
            </a:pPr>
            <a:r>
              <a:rPr lang="en-US" sz="1400" dirty="0">
                <a:solidFill>
                  <a:srgbClr val="2F3E3A"/>
                </a:solidFill>
              </a:rPr>
              <a:t>TorchScript wrapper adds logit_bias; meta JSON (classes, mean/std)</a:t>
            </a:r>
            <a:endParaRPr lang="en-US" sz="1400" dirty="0"/>
          </a:p>
        </p:txBody>
      </p:sp>
      <p:sp>
        <p:nvSpPr>
          <p:cNvPr id="7" name="Shape 5"/>
          <p:cNvSpPr/>
          <p:nvPr/>
        </p:nvSpPr>
        <p:spPr>
          <a:xfrm>
            <a:off x="7754112" y="1965960"/>
            <a:ext cx="676656" cy="274320"/>
          </a:xfrm>
          <a:prstGeom prst="rightArrow">
            <a:avLst/>
          </a:prstGeom>
          <a:solidFill>
            <a:srgbClr val="4F7F6E"/>
          </a:solidFill>
        </p:spPr>
        <p:txBody>
          <a:bodyPr/>
          <a:p/>
        </p:txBody>
      </p:sp>
      <p:sp>
        <p:nvSpPr>
          <p:cNvPr id="8" name="Text 6"/>
          <p:cNvSpPr txBox="1"/>
          <p:nvPr/>
        </p:nvSpPr>
        <p:spPr>
          <a:xfrm>
            <a:off x="8503920" y="1371600"/>
            <a:ext cx="3154680" cy="1463040"/>
          </a:xfrm>
          <a:prstGeom prst="roundRect">
            <a:avLst>
              <a:gd name="adj" fmla="val 6250"/>
            </a:avLst>
          </a:prstGeom>
          <a:solidFill>
            <a:srgbClr val="FBEAE3"/>
          </a:solidFill>
        </p:spPr>
        <p:txBody>
          <a:bodyPr wrap="square" rtlCol="0" anchor="ctr"/>
          <a:lstStyle/>
          <a:p>
            <a:pPr marL="0" indent="0" algn="ctr">
              <a:buNone/>
            </a:pPr>
            <a:r>
              <a:rPr lang="en-US" sz="1400" dirty="0">
                <a:solidFill>
                  <a:srgbClr val="2F3E3A"/>
                </a:solidFill>
              </a:rPr>
              <a:t>R · torch::jit_load()</a:t>
            </a:r>
            <a:endParaRPr lang="en-US" sz="1400" dirty="0"/>
          </a:p>
          <a:p>
            <a:pPr marL="0" indent="0" algn="ctr">
              <a:buNone/>
            </a:pPr>
            <a:r>
              <a:rPr lang="en-US" sz="1400" dirty="0">
                <a:solidFill>
                  <a:srgbClr val="2F3E3A"/>
                </a:solidFill>
              </a:rPr>
              <a:t>LibTorch backend, no Python at inference</a:t>
            </a:r>
            <a:endParaRPr lang="en-US" sz="1400" dirty="0"/>
          </a:p>
        </p:txBody>
      </p:sp>
      <p:sp>
        <p:nvSpPr>
          <p:cNvPr id="9" name="Text 7"/>
          <p:cNvSpPr txBox="1"/>
          <p:nvPr/>
        </p:nvSpPr>
        <p:spPr>
          <a:xfrm>
            <a:off x="548640" y="3154680"/>
            <a:ext cx="10972800" cy="365760"/>
          </a:xfrm>
          <a:prstGeom prst="rect">
            <a:avLst/>
          </a:prstGeom>
          <a:noFill/>
        </p:spPr>
        <p:txBody>
          <a:bodyPr wrap="square" lIns="0" tIns="0" rIns="0" bIns="0" rtlCol="0" anchor="ctr"/>
          <a:lstStyle/>
          <a:p>
            <a:pPr marL="0" indent="0">
              <a:buNone/>
            </a:pPr>
            <a:r>
              <a:rPr lang="en-US" sz="1600" b="1" dirty="0">
                <a:solidFill>
                  <a:srgbClr val="4F7F6E"/>
                </a:solidFill>
              </a:rPr>
              <a:t>R modules and verification</a:t>
            </a:r>
            <a:endParaRPr lang="en-US" sz="1600" dirty="0"/>
          </a:p>
        </p:txBody>
      </p:sp>
      <p:sp>
        <p:nvSpPr>
          <p:cNvPr id="10" name="Text 8"/>
          <p:cNvSpPr txBox="1"/>
          <p:nvPr/>
        </p:nvSpPr>
        <p:spPr>
          <a:xfrm>
            <a:off x="548640" y="365760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Parity test: max diff 3e-7</a:t>
            </a:r>
            <a:endParaRPr lang="en-US" sz="1400" dirty="0"/>
          </a:p>
        </p:txBody>
      </p:sp>
      <p:sp>
        <p:nvSpPr>
          <p:cNvPr id="11" name="Text 9"/>
          <p:cNvSpPr txBox="1"/>
          <p:nvPr/>
        </p:nvSpPr>
        <p:spPr>
          <a:xfrm>
            <a:off x="3337560" y="365760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Argmax match 10/10 per model</a:t>
            </a:r>
            <a:endParaRPr lang="en-US" sz="1400" dirty="0"/>
          </a:p>
        </p:txBody>
      </p:sp>
      <p:sp>
        <p:nvSpPr>
          <p:cNvPr id="12" name="Text 10"/>
          <p:cNvSpPr txBox="1"/>
          <p:nvPr/>
        </p:nvSpPr>
        <p:spPr>
          <a:xfrm>
            <a:off x="6126480" y="365760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R/face_detector.R · Umeyama align</a:t>
            </a:r>
            <a:endParaRPr lang="en-US" sz="1400" dirty="0"/>
          </a:p>
        </p:txBody>
      </p:sp>
      <p:sp>
        <p:nvSpPr>
          <p:cNvPr id="13" name="Text 11"/>
          <p:cNvSpPr txBox="1"/>
          <p:nvPr/>
        </p:nvSpPr>
        <p:spPr>
          <a:xfrm>
            <a:off x="8915400" y="365760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R/inference.R · IoU tracker + EMA</a:t>
            </a:r>
            <a:endParaRPr lang="en-US" sz="1400" dirty="0"/>
          </a:p>
        </p:txBody>
      </p:sp>
      <p:sp>
        <p:nvSpPr>
          <p:cNvPr id="14" name="Text 12"/>
          <p:cNvSpPr txBox="1"/>
          <p:nvPr/>
        </p:nvSpPr>
        <p:spPr>
          <a:xfrm>
            <a:off x="548640" y="452628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R/gradcam.R · CAM math</a:t>
            </a:r>
            <a:endParaRPr lang="en-US" sz="1400" dirty="0"/>
          </a:p>
        </p:txBody>
      </p:sp>
      <p:sp>
        <p:nvSpPr>
          <p:cNvPr id="15" name="Text 13"/>
          <p:cNvSpPr txBox="1"/>
          <p:nvPr/>
        </p:nvSpPr>
        <p:spPr>
          <a:xfrm>
            <a:off x="3337560" y="452628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app.R · Shiny + bslib UI</a:t>
            </a:r>
            <a:endParaRPr lang="en-US" sz="1400" dirty="0"/>
          </a:p>
        </p:txBody>
      </p:sp>
      <p:sp>
        <p:nvSpPr>
          <p:cNvPr id="16" name="Text 14"/>
          <p:cNvSpPr txBox="1"/>
          <p:nvPr/>
        </p:nvSpPr>
        <p:spPr>
          <a:xfrm>
            <a:off x="6126480" y="4526280"/>
            <a:ext cx="2606040" cy="685800"/>
          </a:xfrm>
          <a:prstGeom prst="roundRect">
            <a:avLst>
              <a:gd name="adj" fmla="val 13333"/>
            </a:avLst>
          </a:prstGeom>
          <a:solidFill>
            <a:srgbClr val="FBEAE3"/>
          </a:solidFill>
        </p:spPr>
        <p:txBody>
          <a:bodyPr wrap="square" rtlCol="0" anchor="ctr"/>
          <a:lstStyle/>
          <a:p>
            <a:pPr marL="0" indent="0" algn="ctr">
              <a:buNone/>
            </a:pPr>
            <a:r>
              <a:rPr lang="en-US" sz="1400" dirty="0">
                <a:solidFill>
                  <a:srgbClr val="2F3E3A"/>
                </a:solidFill>
              </a:rPr>
              <a:t>In progress: live prediction tab</a:t>
            </a:r>
            <a:endParaRPr lang="en-US" sz="1400" dirty="0"/>
          </a:p>
        </p:txBody>
      </p:sp>
      <p:sp>
        <p:nvSpPr>
          <p:cNvPr id="17" name="Text 15"/>
          <p:cNvSpPr txBox="1"/>
          <p:nvPr/>
        </p:nvSpPr>
        <p:spPr>
          <a:xfrm>
            <a:off x="8915400" y="4526280"/>
            <a:ext cx="2606040" cy="685800"/>
          </a:xfrm>
          <a:prstGeom prst="roundRect">
            <a:avLst>
              <a:gd name="adj" fmla="val 13333"/>
            </a:avLst>
          </a:prstGeom>
          <a:solidFill>
            <a:srgbClr val="DCEBE3"/>
          </a:solidFill>
        </p:spPr>
        <p:txBody>
          <a:bodyPr wrap="square" rtlCol="0" anchor="ctr"/>
          <a:lstStyle/>
          <a:p>
            <a:pPr marL="0" indent="0" algn="ctr">
              <a:buNone/>
            </a:pPr>
            <a:r>
              <a:rPr lang="en-US" sz="1400" dirty="0">
                <a:solidFill>
                  <a:srgbClr val="2F3E3A"/>
                </a:solidFill>
              </a:rPr>
              <a:t>In progress: bn2 hook for Grad-CAM</a:t>
            </a:r>
            <a:endParaRPr lang="en-US" sz="14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Conclusion &amp; contributions</a:t>
            </a:r>
            <a:endParaRPr lang="en-US" sz="2800" dirty="0"/>
          </a:p>
        </p:txBody>
      </p:sp>
      <p:sp>
        <p:nvSpPr>
          <p:cNvPr id="4" name="Shape 2"/>
          <p:cNvSpPr/>
          <p:nvPr/>
        </p:nvSpPr>
        <p:spPr>
          <a:xfrm>
            <a:off x="548640" y="1371600"/>
            <a:ext cx="2651760" cy="1737360"/>
          </a:xfrm>
          <a:prstGeom prst="roundRect">
            <a:avLst>
              <a:gd name="adj" fmla="val 5263"/>
            </a:avLst>
          </a:prstGeom>
          <a:solidFill>
            <a:srgbClr val="FBEAE3"/>
          </a:solidFill>
        </p:spPr>
        <p:txBody>
          <a:bodyPr/>
          <a:p/>
        </p:txBody>
      </p:sp>
      <p:sp>
        <p:nvSpPr>
          <p:cNvPr id="5" name="Text 3"/>
          <p:cNvSpPr txBox="1"/>
          <p:nvPr/>
        </p:nvSpPr>
        <p:spPr>
          <a:xfrm>
            <a:off x="548640" y="1444752"/>
            <a:ext cx="2651760" cy="86868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+22.7</a:t>
            </a:r>
            <a:endParaRPr lang="en-US" sz="3000" dirty="0"/>
          </a:p>
        </p:txBody>
      </p:sp>
      <p:sp>
        <p:nvSpPr>
          <p:cNvPr id="6" name="Text 4"/>
          <p:cNvSpPr txBox="1"/>
          <p:nvPr/>
        </p:nvSpPr>
        <p:spPr>
          <a:xfrm>
            <a:off x="685800" y="2275027"/>
            <a:ext cx="2377440" cy="764438"/>
          </a:xfrm>
          <a:prstGeom prst="rect">
            <a:avLst/>
          </a:prstGeom>
          <a:noFill/>
        </p:spPr>
        <p:txBody>
          <a:bodyPr wrap="square" rtlCol="0" anchor="t"/>
          <a:lstStyle/>
          <a:p>
            <a:pPr marL="0" indent="0" algn="ctr">
              <a:buNone/>
            </a:pPr>
            <a:r>
              <a:rPr lang="en-US" sz="1300" dirty="0">
                <a:solidFill>
                  <a:srgbClr val="2F3E3A"/>
                </a:solidFill>
              </a:rPr>
              <a:t>pts accuracy on masked faces (79.29%)</a:t>
            </a:r>
            <a:endParaRPr lang="en-US" sz="1300" dirty="0"/>
          </a:p>
        </p:txBody>
      </p:sp>
      <p:sp>
        <p:nvSpPr>
          <p:cNvPr id="7" name="Shape 5"/>
          <p:cNvSpPr/>
          <p:nvPr/>
        </p:nvSpPr>
        <p:spPr>
          <a:xfrm>
            <a:off x="3383280" y="1371600"/>
            <a:ext cx="2651760" cy="1737360"/>
          </a:xfrm>
          <a:prstGeom prst="roundRect">
            <a:avLst>
              <a:gd name="adj" fmla="val 5263"/>
            </a:avLst>
          </a:prstGeom>
          <a:solidFill>
            <a:srgbClr val="DCEBE3"/>
          </a:solidFill>
        </p:spPr>
        <p:txBody>
          <a:bodyPr/>
          <a:p/>
        </p:txBody>
      </p:sp>
      <p:sp>
        <p:nvSpPr>
          <p:cNvPr id="8" name="Text 6"/>
          <p:cNvSpPr txBox="1"/>
          <p:nvPr/>
        </p:nvSpPr>
        <p:spPr>
          <a:xfrm>
            <a:off x="3383280" y="1444752"/>
            <a:ext cx="2651760" cy="86868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0</a:t>
            </a:r>
            <a:endParaRPr lang="en-US" sz="3000" dirty="0"/>
          </a:p>
        </p:txBody>
      </p:sp>
      <p:sp>
        <p:nvSpPr>
          <p:cNvPr id="9" name="Text 7"/>
          <p:cNvSpPr txBox="1"/>
          <p:nvPr/>
        </p:nvSpPr>
        <p:spPr>
          <a:xfrm>
            <a:off x="3520440" y="2275027"/>
            <a:ext cx="2377440" cy="764438"/>
          </a:xfrm>
          <a:prstGeom prst="rect">
            <a:avLst/>
          </a:prstGeom>
          <a:noFill/>
        </p:spPr>
        <p:txBody>
          <a:bodyPr wrap="square" rtlCol="0" anchor="t"/>
          <a:lstStyle/>
          <a:p>
            <a:pPr marL="0" indent="0" algn="ctr">
              <a:buNone/>
            </a:pPr>
            <a:r>
              <a:rPr lang="en-US" sz="1300" dirty="0">
                <a:solidFill>
                  <a:srgbClr val="2F3E3A"/>
                </a:solidFill>
              </a:rPr>
              <a:t>groups shared train/val; 0 masked test images from train</a:t>
            </a:r>
            <a:endParaRPr lang="en-US" sz="1300" dirty="0"/>
          </a:p>
        </p:txBody>
      </p:sp>
      <p:sp>
        <p:nvSpPr>
          <p:cNvPr id="10" name="Shape 8"/>
          <p:cNvSpPr/>
          <p:nvPr/>
        </p:nvSpPr>
        <p:spPr>
          <a:xfrm>
            <a:off x="6217920" y="1371600"/>
            <a:ext cx="2651760" cy="1737360"/>
          </a:xfrm>
          <a:prstGeom prst="roundRect">
            <a:avLst>
              <a:gd name="adj" fmla="val 5263"/>
            </a:avLst>
          </a:prstGeom>
          <a:solidFill>
            <a:srgbClr val="FBEAE3"/>
          </a:solidFill>
        </p:spPr>
        <p:txBody>
          <a:bodyPr/>
          <a:p/>
        </p:txBody>
      </p:sp>
      <p:sp>
        <p:nvSpPr>
          <p:cNvPr id="11" name="Text 9"/>
          <p:cNvSpPr txBox="1"/>
          <p:nvPr/>
        </p:nvSpPr>
        <p:spPr>
          <a:xfrm>
            <a:off x="6217920" y="1444752"/>
            <a:ext cx="2651760" cy="868680"/>
          </a:xfrm>
          <a:prstGeom prst="rect">
            <a:avLst/>
          </a:prstGeom>
          <a:noFill/>
        </p:spPr>
        <p:txBody>
          <a:bodyPr wrap="square" rtlCol="0" anchor="ctr"/>
          <a:lstStyle/>
          <a:p>
            <a:pPr marL="0" indent="0" algn="ctr">
              <a:buNone/>
            </a:pPr>
            <a:r>
              <a:rPr lang="en-US" sz="3000" b="1" dirty="0">
                <a:solidFill>
                  <a:srgbClr val="B5604A"/>
                </a:solidFill>
                <a:latin typeface="Cambria" panose="02040503050406030204" pitchFamily="34" charset="0"/>
                <a:ea typeface="Cambria" panose="02040503050406030204" pitchFamily="34" charset="-122"/>
                <a:cs typeface="Cambria" panose="02040503050406030204" pitchFamily="34" charset="-120"/>
              </a:rPr>
              <a:t>84.85%</a:t>
            </a:r>
            <a:endParaRPr lang="en-US" sz="3000" dirty="0"/>
          </a:p>
        </p:txBody>
      </p:sp>
      <p:sp>
        <p:nvSpPr>
          <p:cNvPr id="12" name="Text 10"/>
          <p:cNvSpPr txBox="1"/>
          <p:nvPr/>
        </p:nvSpPr>
        <p:spPr>
          <a:xfrm>
            <a:off x="6355080" y="2275027"/>
            <a:ext cx="2377440" cy="764438"/>
          </a:xfrm>
          <a:prstGeom prst="rect">
            <a:avLst/>
          </a:prstGeom>
          <a:noFill/>
        </p:spPr>
        <p:txBody>
          <a:bodyPr wrap="square" rtlCol="0" anchor="t"/>
          <a:lstStyle/>
          <a:p>
            <a:pPr marL="0" indent="0" algn="ctr">
              <a:buNone/>
            </a:pPr>
            <a:r>
              <a:rPr lang="en-US" sz="1300" dirty="0">
                <a:solidFill>
                  <a:srgbClr val="2F3E3A"/>
                </a:solidFill>
              </a:rPr>
              <a:t>accuracy on all 5,043 test images (F1 0.779)</a:t>
            </a:r>
            <a:endParaRPr lang="en-US" sz="1300" dirty="0"/>
          </a:p>
        </p:txBody>
      </p:sp>
      <p:sp>
        <p:nvSpPr>
          <p:cNvPr id="13" name="Shape 11"/>
          <p:cNvSpPr/>
          <p:nvPr/>
        </p:nvSpPr>
        <p:spPr>
          <a:xfrm>
            <a:off x="9052560" y="1371600"/>
            <a:ext cx="2651760" cy="1737360"/>
          </a:xfrm>
          <a:prstGeom prst="roundRect">
            <a:avLst>
              <a:gd name="adj" fmla="val 5263"/>
            </a:avLst>
          </a:prstGeom>
          <a:solidFill>
            <a:srgbClr val="DCEBE3"/>
          </a:solidFill>
        </p:spPr>
        <p:txBody>
          <a:bodyPr/>
          <a:p/>
        </p:txBody>
      </p:sp>
      <p:sp>
        <p:nvSpPr>
          <p:cNvPr id="14" name="Text 12"/>
          <p:cNvSpPr txBox="1"/>
          <p:nvPr/>
        </p:nvSpPr>
        <p:spPr>
          <a:xfrm>
            <a:off x="9052560" y="1444752"/>
            <a:ext cx="2651760" cy="868680"/>
          </a:xfrm>
          <a:prstGeom prst="rect">
            <a:avLst/>
          </a:prstGeom>
          <a:noFill/>
        </p:spPr>
        <p:txBody>
          <a:bodyPr wrap="square" rtlCol="0" anchor="ctr"/>
          <a:lstStyle/>
          <a:p>
            <a:pPr marL="0" indent="0" algn="ctr">
              <a:buNone/>
            </a:pPr>
            <a:r>
              <a:rPr lang="en-US" sz="3000" b="1" dirty="0">
                <a:solidFill>
                  <a:srgbClr val="4F7F6E"/>
                </a:solidFill>
                <a:latin typeface="Cambria" panose="02040503050406030204" pitchFamily="34" charset="0"/>
                <a:ea typeface="Cambria" panose="02040503050406030204" pitchFamily="34" charset="-122"/>
                <a:cs typeface="Cambria" panose="02040503050406030204" pitchFamily="34" charset="-120"/>
              </a:rPr>
              <a:t>37.4</a:t>
            </a:r>
            <a:endParaRPr lang="en-US" sz="3000" dirty="0"/>
          </a:p>
        </p:txBody>
      </p:sp>
      <p:sp>
        <p:nvSpPr>
          <p:cNvPr id="15" name="Text 13"/>
          <p:cNvSpPr txBox="1"/>
          <p:nvPr/>
        </p:nvSpPr>
        <p:spPr>
          <a:xfrm>
            <a:off x="9189720" y="2275027"/>
            <a:ext cx="2377440" cy="764438"/>
          </a:xfrm>
          <a:prstGeom prst="rect">
            <a:avLst/>
          </a:prstGeom>
          <a:noFill/>
        </p:spPr>
        <p:txBody>
          <a:bodyPr wrap="square" rtlCol="0" anchor="t"/>
          <a:lstStyle/>
          <a:p>
            <a:pPr marL="0" indent="0" algn="ctr">
              <a:buNone/>
            </a:pPr>
            <a:r>
              <a:rPr lang="en-US" sz="1300" dirty="0">
                <a:solidFill>
                  <a:srgbClr val="2F3E3A"/>
                </a:solidFill>
              </a:rPr>
              <a:t>FPS (1 face) with Grad-CAM; 55.0 without</a:t>
            </a:r>
            <a:endParaRPr lang="en-US" sz="1300" dirty="0"/>
          </a:p>
        </p:txBody>
      </p:sp>
      <p:sp>
        <p:nvSpPr>
          <p:cNvPr id="16" name="Shape 14"/>
          <p:cNvSpPr/>
          <p:nvPr/>
        </p:nvSpPr>
        <p:spPr>
          <a:xfrm>
            <a:off x="548640" y="3337560"/>
            <a:ext cx="5440680" cy="2468880"/>
          </a:xfrm>
          <a:prstGeom prst="roundRect">
            <a:avLst>
              <a:gd name="adj" fmla="val 3704"/>
            </a:avLst>
          </a:prstGeom>
          <a:solidFill>
            <a:srgbClr val="FFFFFF"/>
          </a:solidFill>
          <a:ln w="12700">
            <a:solidFill>
              <a:srgbClr val="DCEBE3"/>
            </a:solidFill>
            <a:prstDash val="solid"/>
          </a:ln>
        </p:spPr>
        <p:txBody>
          <a:bodyPr/>
          <a:p/>
        </p:txBody>
      </p:sp>
      <p:sp>
        <p:nvSpPr>
          <p:cNvPr id="17" name="Text 15"/>
          <p:cNvSpPr txBox="1"/>
          <p:nvPr/>
        </p:nvSpPr>
        <p:spPr>
          <a:xfrm>
            <a:off x="731520" y="3447288"/>
            <a:ext cx="5074920" cy="224942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Limitations</a:t>
            </a:r>
            <a:endParaRPr lang="en-US" sz="1600" dirty="0"/>
          </a:p>
        </p:txBody>
      </p:sp>
      <p:sp>
        <p:nvSpPr>
          <p:cNvPr id="18" name="Text 16"/>
          <p:cNvSpPr txBox="1"/>
          <p:nvPr/>
        </p:nvSpPr>
        <p:spPr>
          <a:xfrm>
            <a:off x="731520" y="3840480"/>
            <a:ext cx="5074920" cy="1920240"/>
          </a:xfrm>
          <a:prstGeom prst="rect">
            <a:avLst/>
          </a:prstGeom>
          <a:noFill/>
        </p:spPr>
        <p:txBody>
          <a:bodyPr wrap="square" lIns="0" tIns="0" rIns="0" bIns="0" rtlCol="0" anchor="t"/>
          <a:lstStyle/>
          <a:p>
            <a:pPr marL="342900" indent="-342900">
              <a:spcAft>
                <a:spcPts val="800"/>
              </a:spcAft>
              <a:buSzPct val="100000"/>
              <a:buChar char="•"/>
            </a:pPr>
            <a:r>
              <a:rPr lang="en-US" sz="1400" dirty="0">
                <a:solidFill>
                  <a:srgbClr val="2F3E3A"/>
                </a:solidFill>
              </a:rPr>
              <a:t>Synthetic masks (one MaskTheFace type); no labeled real-mask test set yet.</a:t>
            </a:r>
            <a:endParaRPr lang="en-US" sz="1400" dirty="0"/>
          </a:p>
          <a:p>
            <a:pPr marL="342900" indent="-342900">
              <a:spcAft>
                <a:spcPts val="800"/>
              </a:spcAft>
              <a:buSzPct val="100000"/>
              <a:buChar char="•"/>
            </a:pPr>
            <a:r>
              <a:rPr lang="en-US" sz="1400" dirty="0">
                <a:solidFill>
                  <a:srgbClr val="2F3E3A"/>
                </a:solidFill>
              </a:rPr>
              <a:t>Single seed; FPS only on M1 with synthetic frames.</a:t>
            </a:r>
            <a:endParaRPr lang="en-US" sz="1400" dirty="0"/>
          </a:p>
          <a:p>
            <a:pPr marL="342900" indent="-342900">
              <a:spcAft>
                <a:spcPts val="800"/>
              </a:spcAft>
              <a:buSzPct val="100000"/>
              <a:buChar char="•"/>
            </a:pPr>
            <a:r>
              <a:rPr lang="en-US" sz="1400" dirty="0">
                <a:solidFill>
                  <a:srgbClr val="2F3E3A"/>
                </a:solidFill>
              </a:rPr>
              <a:t>Grad-CAM is coarse (7×7) and qualitative.</a:t>
            </a:r>
            <a:endParaRPr lang="en-US" sz="1400" dirty="0"/>
          </a:p>
          <a:p>
            <a:pPr marL="342900" indent="-342900">
              <a:spcAft>
                <a:spcPts val="800"/>
              </a:spcAft>
              <a:buSzPct val="100000"/>
              <a:buChar char="•"/>
            </a:pPr>
            <a:r>
              <a:rPr lang="en-US" sz="1400" dirty="0">
                <a:solidFill>
                  <a:srgbClr val="2F3E3A"/>
                </a:solidFill>
              </a:rPr>
              <a:t>disgust and fear remain hard under masks (F1 0.47, 0.53).</a:t>
            </a:r>
            <a:endParaRPr lang="en-US" sz="1400" dirty="0"/>
          </a:p>
        </p:txBody>
      </p:sp>
      <p:sp>
        <p:nvSpPr>
          <p:cNvPr id="19" name="Shape 17"/>
          <p:cNvSpPr/>
          <p:nvPr/>
        </p:nvSpPr>
        <p:spPr>
          <a:xfrm>
            <a:off x="6172200" y="3337560"/>
            <a:ext cx="5440680" cy="2468880"/>
          </a:xfrm>
          <a:prstGeom prst="roundRect">
            <a:avLst>
              <a:gd name="adj" fmla="val 3704"/>
            </a:avLst>
          </a:prstGeom>
          <a:solidFill>
            <a:srgbClr val="DCEBE3"/>
          </a:solidFill>
          <a:ln w="12700">
            <a:solidFill>
              <a:srgbClr val="DCEBE3"/>
            </a:solidFill>
            <a:prstDash val="solid"/>
          </a:ln>
        </p:spPr>
        <p:txBody>
          <a:bodyPr/>
          <a:p/>
        </p:txBody>
      </p:sp>
      <p:sp>
        <p:nvSpPr>
          <p:cNvPr id="20" name="Text 18"/>
          <p:cNvSpPr txBox="1"/>
          <p:nvPr/>
        </p:nvSpPr>
        <p:spPr>
          <a:xfrm>
            <a:off x="6355080" y="3447288"/>
            <a:ext cx="5074920" cy="2249424"/>
          </a:xfrm>
          <a:prstGeom prst="rect">
            <a:avLst/>
          </a:prstGeom>
          <a:noFill/>
        </p:spPr>
        <p:txBody>
          <a:bodyPr wrap="square" lIns="0" tIns="0" rIns="0" bIns="0" rtlCol="0" anchor="t"/>
          <a:lstStyle/>
          <a:p>
            <a:pPr marL="0" indent="0">
              <a:spcAft>
                <a:spcPts val="400"/>
              </a:spcAft>
              <a:buNone/>
            </a:pPr>
            <a:r>
              <a:rPr lang="en-US" sz="1600" b="1" dirty="0">
                <a:solidFill>
                  <a:srgbClr val="4F7F6E"/>
                </a:solidFill>
              </a:rPr>
              <a:t>Future work</a:t>
            </a:r>
            <a:endParaRPr lang="en-US" sz="1600" dirty="0"/>
          </a:p>
        </p:txBody>
      </p:sp>
      <p:sp>
        <p:nvSpPr>
          <p:cNvPr id="21" name="Text 19"/>
          <p:cNvSpPr txBox="1"/>
          <p:nvPr/>
        </p:nvSpPr>
        <p:spPr>
          <a:xfrm>
            <a:off x="6355080" y="3840480"/>
            <a:ext cx="5074920" cy="1920240"/>
          </a:xfrm>
          <a:prstGeom prst="rect">
            <a:avLst/>
          </a:prstGeom>
          <a:noFill/>
        </p:spPr>
        <p:txBody>
          <a:bodyPr wrap="square" lIns="0" tIns="0" rIns="0" bIns="0" rtlCol="0" anchor="t"/>
          <a:lstStyle/>
          <a:p>
            <a:pPr marL="342900" indent="-342900">
              <a:spcAft>
                <a:spcPts val="800"/>
              </a:spcAft>
              <a:buSzPct val="100000"/>
              <a:buChar char="•"/>
            </a:pPr>
            <a:r>
              <a:rPr lang="en-US" sz="1400" dirty="0">
                <a:solidFill>
                  <a:srgbClr val="2F3E3A"/>
                </a:solidFill>
              </a:rPr>
              <a:t>Label real masked faces and evaluate on them.</a:t>
            </a:r>
            <a:endParaRPr lang="en-US" sz="1400" dirty="0"/>
          </a:p>
          <a:p>
            <a:pPr marL="342900" indent="-342900">
              <a:spcAft>
                <a:spcPts val="800"/>
              </a:spcAft>
              <a:buSzPct val="100000"/>
              <a:buChar char="•"/>
            </a:pPr>
            <a:r>
              <a:rPr lang="en-US" sz="1400" dirty="0">
                <a:solidFill>
                  <a:srgbClr val="2F3E3A"/>
                </a:solidFill>
              </a:rPr>
              <a:t>Ablations: LA vs CE, occlusion on/off, several seeds.</a:t>
            </a:r>
            <a:endParaRPr lang="en-US" sz="1400" dirty="0"/>
          </a:p>
          <a:p>
            <a:pPr marL="342900" indent="-342900">
              <a:spcAft>
                <a:spcPts val="800"/>
              </a:spcAft>
              <a:buSzPct val="100000"/>
              <a:buChar char="•"/>
            </a:pPr>
            <a:r>
              <a:rPr lang="en-US" sz="1400" dirty="0">
                <a:solidFill>
                  <a:srgbClr val="2F3E3A"/>
                </a:solidFill>
              </a:rPr>
              <a:t>Benchmark a real webcam and an NVIDIA GPU.</a:t>
            </a:r>
            <a:endParaRPr lang="en-US" sz="1400" dirty="0"/>
          </a:p>
          <a:p>
            <a:pPr marL="342900" indent="-342900">
              <a:spcAft>
                <a:spcPts val="800"/>
              </a:spcAft>
              <a:buSzPct val="100000"/>
              <a:buChar char="•"/>
            </a:pPr>
            <a:r>
              <a:rPr lang="en-US" sz="1400" dirty="0">
                <a:solidFill>
                  <a:srgbClr val="2F3E3A"/>
                </a:solidFill>
              </a:rPr>
              <a:t>Finish live prediction and Grad-CAM in the R app.</a:t>
            </a:r>
            <a:endParaRPr lang="en-US" sz="1400" dirty="0"/>
          </a:p>
        </p:txBody>
      </p:sp>
      <p:sp>
        <p:nvSpPr>
          <p:cNvPr id="22" name="Text 20"/>
          <p:cNvSpPr txBox="1"/>
          <p:nvPr/>
        </p:nvSpPr>
        <p:spPr>
          <a:xfrm>
            <a:off x="548640" y="5943600"/>
            <a:ext cx="10515600" cy="457200"/>
          </a:xfrm>
          <a:prstGeom prst="roundRect">
            <a:avLst>
              <a:gd name="adj" fmla="val 20000"/>
            </a:avLst>
          </a:prstGeom>
          <a:solidFill>
            <a:srgbClr val="4F7F6E"/>
          </a:solidFill>
        </p:spPr>
        <p:txBody>
          <a:bodyPr wrap="square" rtlCol="0" anchor="ctr"/>
          <a:lstStyle/>
          <a:p>
            <a:pPr marL="0" indent="0" algn="ctr">
              <a:buNone/>
            </a:pPr>
            <a:r>
              <a:rPr lang="en-US" sz="1600" b="1" dirty="0">
                <a:solidFill>
                  <a:srgbClr val="FFFFFF"/>
                </a:solidFill>
              </a:rPr>
              <a:t>Thank you · Questions &amp; Answers</a:t>
            </a:r>
            <a:endParaRPr lang="en-US" sz="1600" dirty="0"/>
          </a:p>
        </p:txBody>
      </p:sp>
      <p:sp>
        <p:nvSpPr>
          <p:cNvPr id="25"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3 · Trịnh Quốc Sang · Real-Time System, XAI &amp;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Roadmap: one pipeline, three presenters</a:t>
            </a:r>
            <a:endParaRPr lang="en-US" sz="2800" dirty="0"/>
          </a:p>
        </p:txBody>
      </p:sp>
      <p:sp>
        <p:nvSpPr>
          <p:cNvPr id="27"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8" name="Rounded Rectangle 27"/>
          <p:cNvSpPr/>
          <p:nvPr/>
        </p:nvSpPr>
        <p:spPr>
          <a:xfrm>
            <a:off x="548640" y="1325880"/>
            <a:ext cx="3566160" cy="393192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1325880"/>
            <a:ext cx="3566160" cy="114300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1520" y="1527048"/>
            <a:ext cx="731520" cy="731520"/>
          </a:xfrm>
          <a:prstGeom prst="ellipse">
            <a:avLst/>
          </a:prstGeom>
          <a:solidFill>
            <a:srgbClr val="B56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1527048"/>
            <a:ext cx="731520" cy="73152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1</a:t>
            </a:r>
          </a:p>
        </p:txBody>
      </p:sp>
      <p:sp>
        <p:nvSpPr>
          <p:cNvPr id="32" name="TextBox 31"/>
          <p:cNvSpPr txBox="1"/>
          <p:nvPr/>
        </p:nvSpPr>
        <p:spPr>
          <a:xfrm>
            <a:off x="1600200" y="1444752"/>
            <a:ext cx="2423160" cy="960120"/>
          </a:xfrm>
          <a:prstGeom prst="rect">
            <a:avLst/>
          </a:prstGeom>
          <a:noFill/>
        </p:spPr>
        <p:txBody>
          <a:bodyPr wrap="square" anchor="ctr" lIns="45720" rIns="45720">
            <a:spAutoFit/>
          </a:bodyPr>
          <a:lstStyle/>
          <a:p>
            <a:pPr algn="l">
              <a:spcAft>
                <a:spcPts val="200"/>
              </a:spcAft>
            </a:pPr>
            <a:r>
              <a:rPr sz="1600" b="1">
                <a:solidFill>
                  <a:srgbClr val="2F3E3A"/>
                </a:solidFill>
                <a:latin typeface="Cambria"/>
              </a:rPr>
              <a:t>Hồ Trường Thịnh</a:t>
            </a:r>
          </a:p>
          <a:p>
            <a:pPr algn="l">
              <a:spcAft>
                <a:spcPts val="200"/>
              </a:spcAft>
            </a:pPr>
            <a:r>
              <a:rPr sz="1300" b="1">
                <a:solidFill>
                  <a:srgbClr val="B5604A"/>
                </a:solidFill>
              </a:rPr>
              <a:t>Data &amp; Preprocessing</a:t>
            </a:r>
          </a:p>
        </p:txBody>
      </p:sp>
      <p:sp>
        <p:nvSpPr>
          <p:cNvPr id="33" name="TextBox 32"/>
          <p:cNvSpPr txBox="1"/>
          <p:nvPr/>
        </p:nvSpPr>
        <p:spPr>
          <a:xfrm>
            <a:off x="777240" y="2651760"/>
            <a:ext cx="3154680" cy="2011680"/>
          </a:xfrm>
          <a:prstGeom prst="rect">
            <a:avLst/>
          </a:prstGeom>
          <a:noFill/>
        </p:spPr>
        <p:txBody>
          <a:bodyPr wrap="square" anchor="t" lIns="45720" rIns="45720">
            <a:spAutoFit/>
          </a:bodyPr>
          <a:lstStyle/>
          <a:p>
            <a:pPr algn="l" marL="228600" indent="-228600">
              <a:spcAft>
                <a:spcPts val="600"/>
              </a:spcAft>
              <a:buChar char="•"/>
            </a:pPr>
            <a:r>
              <a:rPr sz="1400" b="0">
                <a:solidFill>
                  <a:srgbClr val="2F3E3A"/>
                </a:solidFill>
              </a:rPr>
              <a:t>Problem &amp; goals</a:t>
            </a:r>
          </a:p>
          <a:p>
            <a:pPr algn="l" marL="228600" indent="-228600">
              <a:spcAft>
                <a:spcPts val="600"/>
              </a:spcAft>
              <a:buChar char="•"/>
            </a:pPr>
            <a:r>
              <a:rPr sz="1400" b="0">
                <a:solidFill>
                  <a:srgbClr val="2F3E3A"/>
                </a:solidFill>
              </a:rPr>
              <a:t>RAF-DB and class balance</a:t>
            </a:r>
          </a:p>
          <a:p>
            <a:pPr algn="l" marL="228600" indent="-228600">
              <a:spcAft>
                <a:spcPts val="600"/>
              </a:spcAft>
              <a:buChar char="•"/>
            </a:pPr>
            <a:r>
              <a:rPr sz="1400" b="0">
                <a:solidFill>
                  <a:srgbClr val="2F3E3A"/>
                </a:solidFill>
              </a:rPr>
              <a:t>Synthetic mask generation</a:t>
            </a:r>
          </a:p>
          <a:p>
            <a:pPr algn="l" marL="228600" indent="-228600">
              <a:spcAft>
                <a:spcPts val="600"/>
              </a:spcAft>
              <a:buChar char="•"/>
            </a:pPr>
            <a:r>
              <a:rPr sz="1400" b="0">
                <a:solidFill>
                  <a:srgbClr val="2F3E3A"/>
                </a:solidFill>
              </a:rPr>
              <a:t>Leak-free grouped split</a:t>
            </a:r>
          </a:p>
          <a:p>
            <a:pPr algn="l" marL="228600" indent="-228600">
              <a:spcAft>
                <a:spcPts val="600"/>
              </a:spcAft>
              <a:buChar char="•"/>
            </a:pPr>
            <a:r>
              <a:rPr sz="1400" b="0">
                <a:solidFill>
                  <a:srgbClr val="2F3E3A"/>
                </a:solidFill>
              </a:rPr>
              <a:t>Preprocessing &amp; augmentation</a:t>
            </a:r>
          </a:p>
        </p:txBody>
      </p:sp>
      <p:sp>
        <p:nvSpPr>
          <p:cNvPr id="34" name="TextBox 33"/>
          <p:cNvSpPr txBox="1"/>
          <p:nvPr/>
        </p:nvSpPr>
        <p:spPr>
          <a:xfrm>
            <a:off x="777240" y="4754880"/>
            <a:ext cx="3154680" cy="365760"/>
          </a:xfrm>
          <a:prstGeom prst="rect">
            <a:avLst/>
          </a:prstGeom>
          <a:noFill/>
        </p:spPr>
        <p:txBody>
          <a:bodyPr wrap="square" anchor="t" lIns="45720" rIns="45720">
            <a:spAutoFit/>
          </a:bodyPr>
          <a:lstStyle/>
          <a:p>
            <a:pPr algn="l">
              <a:spcAft>
                <a:spcPts val="400"/>
              </a:spcAft>
            </a:pPr>
            <a:r>
              <a:rPr sz="1300" b="1">
                <a:solidFill>
                  <a:srgbClr val="B5604A"/>
                </a:solidFill>
              </a:rPr>
              <a:t>Slides 1–8 · ~6.5 min</a:t>
            </a:r>
          </a:p>
        </p:txBody>
      </p:sp>
      <p:sp>
        <p:nvSpPr>
          <p:cNvPr id="35" name="Rounded Rectangle 34"/>
          <p:cNvSpPr/>
          <p:nvPr/>
        </p:nvSpPr>
        <p:spPr>
          <a:xfrm>
            <a:off x="4297679" y="1325880"/>
            <a:ext cx="3566160" cy="393192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297679" y="1325880"/>
            <a:ext cx="3566160" cy="114300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80559" y="1527048"/>
            <a:ext cx="731520" cy="731520"/>
          </a:xfrm>
          <a:prstGeom prst="ellipse">
            <a:avLst/>
          </a:prstGeom>
          <a:solidFill>
            <a:srgbClr val="4F7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0559" y="1527048"/>
            <a:ext cx="731520" cy="73152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2</a:t>
            </a:r>
          </a:p>
        </p:txBody>
      </p:sp>
      <p:sp>
        <p:nvSpPr>
          <p:cNvPr id="39" name="TextBox 38"/>
          <p:cNvSpPr txBox="1"/>
          <p:nvPr/>
        </p:nvSpPr>
        <p:spPr>
          <a:xfrm>
            <a:off x="5349240" y="1444752"/>
            <a:ext cx="2423160" cy="960120"/>
          </a:xfrm>
          <a:prstGeom prst="rect">
            <a:avLst/>
          </a:prstGeom>
          <a:noFill/>
        </p:spPr>
        <p:txBody>
          <a:bodyPr wrap="square" anchor="ctr" lIns="45720" rIns="45720">
            <a:spAutoFit/>
          </a:bodyPr>
          <a:lstStyle/>
          <a:p>
            <a:pPr algn="l">
              <a:spcAft>
                <a:spcPts val="200"/>
              </a:spcAft>
            </a:pPr>
            <a:r>
              <a:rPr sz="1600" b="1">
                <a:solidFill>
                  <a:srgbClr val="2F3E3A"/>
                </a:solidFill>
                <a:latin typeface="Cambria"/>
              </a:rPr>
              <a:t>Nguyễn Trinh Quý</a:t>
            </a:r>
          </a:p>
          <a:p>
            <a:pPr algn="l">
              <a:spcAft>
                <a:spcPts val="200"/>
              </a:spcAft>
            </a:pPr>
            <a:r>
              <a:rPr sz="1300" b="1">
                <a:solidFill>
                  <a:srgbClr val="4F7F6E"/>
                </a:solidFill>
              </a:rPr>
              <a:t>Model, Training &amp; Evaluation</a:t>
            </a:r>
          </a:p>
        </p:txBody>
      </p:sp>
      <p:sp>
        <p:nvSpPr>
          <p:cNvPr id="40" name="TextBox 39"/>
          <p:cNvSpPr txBox="1"/>
          <p:nvPr/>
        </p:nvSpPr>
        <p:spPr>
          <a:xfrm>
            <a:off x="4526279" y="2651760"/>
            <a:ext cx="3154680" cy="2011680"/>
          </a:xfrm>
          <a:prstGeom prst="rect">
            <a:avLst/>
          </a:prstGeom>
          <a:noFill/>
        </p:spPr>
        <p:txBody>
          <a:bodyPr wrap="square" anchor="t" lIns="45720" rIns="45720">
            <a:spAutoFit/>
          </a:bodyPr>
          <a:lstStyle/>
          <a:p>
            <a:pPr algn="l" marL="228600" indent="-228600">
              <a:spcAft>
                <a:spcPts val="600"/>
              </a:spcAft>
              <a:buChar char="•"/>
            </a:pPr>
            <a:r>
              <a:rPr sz="1400" b="0">
                <a:solidFill>
                  <a:srgbClr val="2F3E3A"/>
                </a:solidFill>
              </a:rPr>
              <a:t>Face-pretrained backbone</a:t>
            </a:r>
          </a:p>
          <a:p>
            <a:pPr algn="l" marL="228600" indent="-228600">
              <a:spcAft>
                <a:spcPts val="600"/>
              </a:spcAft>
              <a:buChar char="•"/>
            </a:pPr>
            <a:r>
              <a:rPr sz="1400" b="0">
                <a:solidFill>
                  <a:srgbClr val="2F3E3A"/>
                </a:solidFill>
              </a:rPr>
              <a:t>Two-stage training</a:t>
            </a:r>
          </a:p>
          <a:p>
            <a:pPr algn="l" marL="228600" indent="-228600">
              <a:spcAft>
                <a:spcPts val="600"/>
              </a:spcAft>
              <a:buChar char="•"/>
            </a:pPr>
            <a:r>
              <a:rPr sz="1400" b="0">
                <a:solidFill>
                  <a:srgbClr val="2F3E3A"/>
                </a:solidFill>
              </a:rPr>
              <a:t>Prior-bias calibration</a:t>
            </a:r>
          </a:p>
          <a:p>
            <a:pPr algn="l" marL="228600" indent="-228600">
              <a:spcAft>
                <a:spcPts val="600"/>
              </a:spcAft>
              <a:buChar char="•"/>
            </a:pPr>
            <a:r>
              <a:rPr sz="1400" b="0">
                <a:solidFill>
                  <a:srgbClr val="2F3E3A"/>
                </a:solidFill>
              </a:rPr>
              <a:t>Results, per-emotion, errors</a:t>
            </a:r>
          </a:p>
          <a:p>
            <a:pPr algn="l" marL="228600" indent="-228600">
              <a:spcAft>
                <a:spcPts val="600"/>
              </a:spcAft>
              <a:buChar char="•"/>
            </a:pPr>
            <a:r>
              <a:rPr sz="1400" b="0">
                <a:solidFill>
                  <a:srgbClr val="2F3E3A"/>
                </a:solidFill>
              </a:rPr>
              <a:t>Ablation</a:t>
            </a:r>
          </a:p>
        </p:txBody>
      </p:sp>
      <p:sp>
        <p:nvSpPr>
          <p:cNvPr id="41" name="TextBox 40"/>
          <p:cNvSpPr txBox="1"/>
          <p:nvPr/>
        </p:nvSpPr>
        <p:spPr>
          <a:xfrm>
            <a:off x="4526279" y="4754880"/>
            <a:ext cx="3154680" cy="365760"/>
          </a:xfrm>
          <a:prstGeom prst="rect">
            <a:avLst/>
          </a:prstGeom>
          <a:noFill/>
        </p:spPr>
        <p:txBody>
          <a:bodyPr wrap="square" anchor="t" lIns="45720" rIns="45720">
            <a:spAutoFit/>
          </a:bodyPr>
          <a:lstStyle/>
          <a:p>
            <a:pPr algn="l">
              <a:spcAft>
                <a:spcPts val="400"/>
              </a:spcAft>
            </a:pPr>
            <a:r>
              <a:rPr sz="1300" b="1">
                <a:solidFill>
                  <a:srgbClr val="4F7F6E"/>
                </a:solidFill>
              </a:rPr>
              <a:t>Slides 9–15 · ~6 min</a:t>
            </a:r>
          </a:p>
        </p:txBody>
      </p:sp>
      <p:sp>
        <p:nvSpPr>
          <p:cNvPr id="42" name="Rounded Rectangle 41"/>
          <p:cNvSpPr/>
          <p:nvPr/>
        </p:nvSpPr>
        <p:spPr>
          <a:xfrm>
            <a:off x="8046719" y="1325880"/>
            <a:ext cx="3566160" cy="3931920"/>
          </a:xfrm>
          <a:prstGeom prst="roundRect">
            <a:avLst>
              <a:gd name="adj" fmla="val 66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046719" y="1325880"/>
            <a:ext cx="3566160" cy="114300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229599" y="1527048"/>
            <a:ext cx="731520" cy="731520"/>
          </a:xfrm>
          <a:prstGeom prst="ellipse">
            <a:avLst/>
          </a:prstGeom>
          <a:solidFill>
            <a:srgbClr val="B56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9" y="1527048"/>
            <a:ext cx="731520" cy="73152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3</a:t>
            </a:r>
          </a:p>
        </p:txBody>
      </p:sp>
      <p:sp>
        <p:nvSpPr>
          <p:cNvPr id="46" name="TextBox 45"/>
          <p:cNvSpPr txBox="1"/>
          <p:nvPr/>
        </p:nvSpPr>
        <p:spPr>
          <a:xfrm>
            <a:off x="9098280" y="1444752"/>
            <a:ext cx="2423160" cy="960120"/>
          </a:xfrm>
          <a:prstGeom prst="rect">
            <a:avLst/>
          </a:prstGeom>
          <a:noFill/>
        </p:spPr>
        <p:txBody>
          <a:bodyPr wrap="square" anchor="ctr" lIns="45720" rIns="45720">
            <a:spAutoFit/>
          </a:bodyPr>
          <a:lstStyle/>
          <a:p>
            <a:pPr algn="l">
              <a:spcAft>
                <a:spcPts val="200"/>
              </a:spcAft>
            </a:pPr>
            <a:r>
              <a:rPr sz="1600" b="1">
                <a:solidFill>
                  <a:srgbClr val="2F3E3A"/>
                </a:solidFill>
                <a:latin typeface="Cambria"/>
              </a:rPr>
              <a:t>Trịnh Quốc Sang</a:t>
            </a:r>
          </a:p>
          <a:p>
            <a:pPr algn="l">
              <a:spcAft>
                <a:spcPts val="200"/>
              </a:spcAft>
            </a:pPr>
            <a:r>
              <a:rPr sz="1300" b="1">
                <a:solidFill>
                  <a:srgbClr val="B5604A"/>
                </a:solidFill>
              </a:rPr>
              <a:t>Real-Time System, XAI &amp; Demo</a:t>
            </a:r>
          </a:p>
        </p:txBody>
      </p:sp>
      <p:sp>
        <p:nvSpPr>
          <p:cNvPr id="47" name="TextBox 46"/>
          <p:cNvSpPr txBox="1"/>
          <p:nvPr/>
        </p:nvSpPr>
        <p:spPr>
          <a:xfrm>
            <a:off x="8275319" y="2651760"/>
            <a:ext cx="3154680" cy="2011680"/>
          </a:xfrm>
          <a:prstGeom prst="rect">
            <a:avLst/>
          </a:prstGeom>
          <a:noFill/>
        </p:spPr>
        <p:txBody>
          <a:bodyPr wrap="square" anchor="t" lIns="45720" rIns="45720">
            <a:spAutoFit/>
          </a:bodyPr>
          <a:lstStyle/>
          <a:p>
            <a:pPr algn="l" marL="228600" indent="-228600">
              <a:spcAft>
                <a:spcPts val="600"/>
              </a:spcAft>
              <a:buChar char="•"/>
            </a:pPr>
            <a:r>
              <a:rPr sz="1400" b="0">
                <a:solidFill>
                  <a:srgbClr val="2F3E3A"/>
                </a:solidFill>
              </a:rPr>
              <a:t>Detection &amp; alignment (inference preprocessing)</a:t>
            </a:r>
          </a:p>
          <a:p>
            <a:pPr algn="l" marL="228600" indent="-228600">
              <a:spcAft>
                <a:spcPts val="600"/>
              </a:spcAft>
              <a:buChar char="•"/>
            </a:pPr>
            <a:r>
              <a:rPr sz="1400" b="0">
                <a:solidFill>
                  <a:srgbClr val="2F3E3A"/>
                </a:solidFill>
              </a:rPr>
              <a:t>Grad-CAM attention shift</a:t>
            </a:r>
          </a:p>
          <a:p>
            <a:pPr algn="l" marL="228600" indent="-228600">
              <a:spcAft>
                <a:spcPts val="600"/>
              </a:spcAft>
              <a:buChar char="•"/>
            </a:pPr>
            <a:r>
              <a:rPr sz="1400" b="0">
                <a:solidFill>
                  <a:srgbClr val="2F3E3A"/>
                </a:solidFill>
              </a:rPr>
              <a:t>Tracker + EMA, FPS</a:t>
            </a:r>
          </a:p>
          <a:p>
            <a:pPr algn="l" marL="228600" indent="-228600">
              <a:spcAft>
                <a:spcPts val="600"/>
              </a:spcAft>
              <a:buChar char="•"/>
            </a:pPr>
            <a:r>
              <a:rPr sz="1400" b="0">
                <a:solidFill>
                  <a:srgbClr val="2F3E3A"/>
                </a:solidFill>
              </a:rPr>
              <a:t>R / Shiny deployment</a:t>
            </a:r>
          </a:p>
          <a:p>
            <a:pPr algn="l" marL="228600" indent="-228600">
              <a:spcAft>
                <a:spcPts val="600"/>
              </a:spcAft>
              <a:buChar char="•"/>
            </a:pPr>
            <a:r>
              <a:rPr sz="1400" b="0">
                <a:solidFill>
                  <a:srgbClr val="2F3E3A"/>
                </a:solidFill>
              </a:rPr>
              <a:t>Conclusion &amp; live demo</a:t>
            </a:r>
          </a:p>
        </p:txBody>
      </p:sp>
      <p:sp>
        <p:nvSpPr>
          <p:cNvPr id="48" name="TextBox 47"/>
          <p:cNvSpPr txBox="1"/>
          <p:nvPr/>
        </p:nvSpPr>
        <p:spPr>
          <a:xfrm>
            <a:off x="8275319" y="4754880"/>
            <a:ext cx="3154680" cy="365760"/>
          </a:xfrm>
          <a:prstGeom prst="rect">
            <a:avLst/>
          </a:prstGeom>
          <a:noFill/>
        </p:spPr>
        <p:txBody>
          <a:bodyPr wrap="square" anchor="t" lIns="45720" rIns="45720">
            <a:spAutoFit/>
          </a:bodyPr>
          <a:lstStyle/>
          <a:p>
            <a:pPr algn="l">
              <a:spcAft>
                <a:spcPts val="400"/>
              </a:spcAft>
            </a:pPr>
            <a:r>
              <a:rPr sz="1300" b="1">
                <a:solidFill>
                  <a:srgbClr val="B5604A"/>
                </a:solidFill>
              </a:rPr>
              <a:t>Slides 16–21 · ~4.5 min + demo</a:t>
            </a:r>
          </a:p>
        </p:txBody>
      </p:sp>
      <p:sp>
        <p:nvSpPr>
          <p:cNvPr id="49" name="TextBox 48"/>
          <p:cNvSpPr txBox="1"/>
          <p:nvPr/>
        </p:nvSpPr>
        <p:spPr>
          <a:xfrm>
            <a:off x="548640" y="5486400"/>
            <a:ext cx="11064240" cy="685800"/>
          </a:xfrm>
          <a:prstGeom prst="rect">
            <a:avLst/>
          </a:prstGeom>
          <a:noFill/>
        </p:spPr>
        <p:txBody>
          <a:bodyPr wrap="square" anchor="t" lIns="45720" rIns="45720">
            <a:spAutoFit/>
          </a:bodyPr>
          <a:lstStyle/>
          <a:p>
            <a:pPr algn="l">
              <a:spcAft>
                <a:spcPts val="400"/>
              </a:spcAft>
            </a:pPr>
            <a:r>
              <a:rPr sz="1400" b="1">
                <a:solidFill>
                  <a:srgbClr val="2F3E3A"/>
                </a:solidFill>
              </a:rPr>
              <a:t>Handover points: </a:t>
            </a:r>
            <a:r>
              <a:rPr sz="1400" b="0">
                <a:solidFill>
                  <a:srgbClr val="2F3E3A"/>
                </a:solidFill>
              </a:rPr>
              <a:t>Thịnh ends on the class imbalance and the occlusion augmentation, which Quý's training handles; Quý ends on accuracy measured on pre-aligned test images, so Sang starts with how a live webcam face is aligned the same way.</a:t>
            </a:r>
          </a:p>
        </p:txBody>
      </p:sp>
      <p:sp>
        <p:nvSpPr>
          <p:cNvPr id="50"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RAF-DB: what the model learns from</a:t>
            </a:r>
            <a:endParaRPr lang="en-US" sz="2800" dirty="0"/>
          </a:p>
        </p:txBody>
      </p:sp>
      <p:sp>
        <p:nvSpPr>
          <p:cNvPr id="27"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graphicFrame>
        <p:nvGraphicFramePr>
          <p:cNvPr id="28" name="Class distribution chart"/>
          <p:cNvGraphicFramePr>
            <a:graphicFrameLocks noGrp="1"/>
          </p:cNvGraphicFramePr>
          <p:nvPr/>
        </p:nvGraphicFramePr>
        <p:xfrm>
          <a:off x="548640" y="1280160"/>
          <a:ext cx="7406640" cy="4160520"/>
        </p:xfrm>
        <a:graphic>
          <a:graphicData uri="http://schemas.openxmlformats.org/drawingml/2006/chart">
            <c:chart xmlns:c="http://schemas.openxmlformats.org/drawingml/2006/chart" r:id="rId2"/>
          </a:graphicData>
        </a:graphic>
      </p:graphicFrame>
      <p:sp>
        <p:nvSpPr>
          <p:cNvPr id="29" name="Rounded Rectangle 28"/>
          <p:cNvSpPr/>
          <p:nvPr/>
        </p:nvSpPr>
        <p:spPr>
          <a:xfrm>
            <a:off x="8229600" y="1280160"/>
            <a:ext cx="3383280" cy="132588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1353312"/>
            <a:ext cx="3383280" cy="685800"/>
          </a:xfrm>
          <a:prstGeom prst="rect">
            <a:avLst/>
          </a:prstGeom>
          <a:noFill/>
        </p:spPr>
        <p:txBody>
          <a:bodyPr wrap="square" anchor="ctr" lIns="45720" rIns="45720">
            <a:spAutoFit/>
          </a:bodyPr>
          <a:lstStyle/>
          <a:p>
            <a:pPr algn="ctr">
              <a:spcAft>
                <a:spcPts val="400"/>
              </a:spcAft>
            </a:pPr>
            <a:r>
              <a:rPr sz="3000" b="1">
                <a:solidFill>
                  <a:srgbClr val="B5604A"/>
                </a:solidFill>
                <a:latin typeface="Cambria"/>
              </a:rPr>
              <a:t>17×</a:t>
            </a:r>
          </a:p>
        </p:txBody>
      </p:sp>
      <p:sp>
        <p:nvSpPr>
          <p:cNvPr id="31" name="TextBox 30"/>
          <p:cNvSpPr txBox="1"/>
          <p:nvPr/>
        </p:nvSpPr>
        <p:spPr>
          <a:xfrm>
            <a:off x="8366760" y="2029967"/>
            <a:ext cx="3108960" cy="502919"/>
          </a:xfrm>
          <a:prstGeom prst="rect">
            <a:avLst/>
          </a:prstGeom>
          <a:noFill/>
        </p:spPr>
        <p:txBody>
          <a:bodyPr wrap="square" anchor="t" lIns="45720" rIns="45720">
            <a:spAutoFit/>
          </a:bodyPr>
          <a:lstStyle/>
          <a:p>
            <a:pPr algn="ctr">
              <a:spcAft>
                <a:spcPts val="400"/>
              </a:spcAft>
            </a:pPr>
            <a:r>
              <a:rPr sz="1300" b="0">
                <a:solidFill>
                  <a:srgbClr val="2F3E3A"/>
                </a:solidFill>
              </a:rPr>
              <a:t>happy (4,772) vs fear (281): the loss must not ignore rare classes</a:t>
            </a:r>
          </a:p>
        </p:txBody>
      </p:sp>
      <p:sp>
        <p:nvSpPr>
          <p:cNvPr id="32" name="Rounded Rectangle 31"/>
          <p:cNvSpPr/>
          <p:nvPr/>
        </p:nvSpPr>
        <p:spPr>
          <a:xfrm>
            <a:off x="8229600" y="2743200"/>
            <a:ext cx="3383280" cy="132588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2816352"/>
            <a:ext cx="3383280" cy="685800"/>
          </a:xfrm>
          <a:prstGeom prst="rect">
            <a:avLst/>
          </a:prstGeom>
          <a:noFill/>
        </p:spPr>
        <p:txBody>
          <a:bodyPr wrap="square" anchor="ctr" lIns="45720" rIns="45720">
            <a:spAutoFit/>
          </a:bodyPr>
          <a:lstStyle/>
          <a:p>
            <a:pPr algn="ctr">
              <a:spcAft>
                <a:spcPts val="400"/>
              </a:spcAft>
            </a:pPr>
            <a:r>
              <a:rPr sz="3000" b="1">
                <a:solidFill>
                  <a:srgbClr val="4F7F6E"/>
                </a:solidFill>
                <a:latin typeface="Cambria"/>
              </a:rPr>
              <a:t>64%</a:t>
            </a:r>
          </a:p>
        </p:txBody>
      </p:sp>
      <p:sp>
        <p:nvSpPr>
          <p:cNvPr id="34" name="TextBox 33"/>
          <p:cNvSpPr txBox="1"/>
          <p:nvPr/>
        </p:nvSpPr>
        <p:spPr>
          <a:xfrm>
            <a:off x="8366760" y="3493008"/>
            <a:ext cx="3108960" cy="502919"/>
          </a:xfrm>
          <a:prstGeom prst="rect">
            <a:avLst/>
          </a:prstGeom>
          <a:noFill/>
        </p:spPr>
        <p:txBody>
          <a:bodyPr wrap="square" anchor="t" lIns="45720" rIns="45720">
            <a:spAutoFit/>
          </a:bodyPr>
          <a:lstStyle/>
          <a:p>
            <a:pPr algn="ctr">
              <a:spcAft>
                <a:spcPts val="400"/>
              </a:spcAft>
            </a:pPr>
            <a:r>
              <a:rPr sz="1300" b="0">
                <a:solidFill>
                  <a:srgbClr val="2F3E3A"/>
                </a:solidFill>
              </a:rPr>
              <a:t>of train faces got a masked twin (dlib missed small / tilted faces)</a:t>
            </a:r>
          </a:p>
        </p:txBody>
      </p:sp>
      <p:sp>
        <p:nvSpPr>
          <p:cNvPr id="35" name="Rounded Rectangle 34"/>
          <p:cNvSpPr/>
          <p:nvPr/>
        </p:nvSpPr>
        <p:spPr>
          <a:xfrm>
            <a:off x="8229600" y="4206240"/>
            <a:ext cx="3383280" cy="132588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0" y="4279392"/>
            <a:ext cx="3383280" cy="685800"/>
          </a:xfrm>
          <a:prstGeom prst="rect">
            <a:avLst/>
          </a:prstGeom>
          <a:noFill/>
        </p:spPr>
        <p:txBody>
          <a:bodyPr wrap="square" anchor="ctr" lIns="45720" rIns="45720">
            <a:spAutoFit/>
          </a:bodyPr>
          <a:lstStyle/>
          <a:p>
            <a:pPr algn="ctr">
              <a:spcAft>
                <a:spcPts val="400"/>
              </a:spcAft>
            </a:pPr>
            <a:r>
              <a:rPr sz="3000" b="1">
                <a:solidFill>
                  <a:srgbClr val="B5604A"/>
                </a:solidFill>
                <a:latin typeface="Cambria"/>
              </a:rPr>
              <a:t>35</a:t>
            </a:r>
          </a:p>
        </p:txBody>
      </p:sp>
      <p:sp>
        <p:nvSpPr>
          <p:cNvPr id="37" name="TextBox 36"/>
          <p:cNvSpPr txBox="1"/>
          <p:nvPr/>
        </p:nvSpPr>
        <p:spPr>
          <a:xfrm>
            <a:off x="8366760" y="4956048"/>
            <a:ext cx="3108960" cy="502919"/>
          </a:xfrm>
          <a:prstGeom prst="rect">
            <a:avLst/>
          </a:prstGeom>
          <a:noFill/>
        </p:spPr>
        <p:txBody>
          <a:bodyPr wrap="square" anchor="t" lIns="45720" rIns="45720">
            <a:spAutoFit/>
          </a:bodyPr>
          <a:lstStyle/>
          <a:p>
            <a:pPr algn="ctr">
              <a:spcAft>
                <a:spcPts val="400"/>
              </a:spcAft>
            </a:pPr>
            <a:r>
              <a:rPr sz="1300" b="0">
                <a:solidFill>
                  <a:srgbClr val="2F3E3A"/>
                </a:solidFill>
              </a:rPr>
              <a:t>masked fear images in test: the smallest cell, so its F1 is noisy</a:t>
            </a:r>
          </a:p>
        </p:txBody>
      </p:sp>
      <p:sp>
        <p:nvSpPr>
          <p:cNvPr id="38" name="TextBox 37"/>
          <p:cNvSpPr txBox="1"/>
          <p:nvPr/>
        </p:nvSpPr>
        <p:spPr>
          <a:xfrm>
            <a:off x="548640" y="5623560"/>
            <a:ext cx="11064240" cy="548640"/>
          </a:xfrm>
          <a:prstGeom prst="rect">
            <a:avLst/>
          </a:prstGeom>
          <a:noFill/>
        </p:spPr>
        <p:txBody>
          <a:bodyPr wrap="square" anchor="t" lIns="45720" rIns="45720">
            <a:spAutoFit/>
          </a:bodyPr>
          <a:lstStyle/>
          <a:p>
            <a:pPr algn="l">
              <a:spcAft>
                <a:spcPts val="400"/>
              </a:spcAft>
            </a:pPr>
            <a:r>
              <a:rPr sz="1300" b="1">
                <a:solidFill>
                  <a:srgbClr val="66756F"/>
                </a:solidFill>
              </a:rPr>
              <a:t>Input format: </a:t>
            </a:r>
            <a:r>
              <a:rPr sz="1300" b="0">
                <a:solidFill>
                  <a:srgbClr val="66756F"/>
                </a:solidFill>
              </a:rPr>
              <a:t>RAF-DB "aligned" release: 100×100 RGB crops, eyes already at fixed positions; one folder per label. Test: 3,068 unmasked + 1,975 masked = 5,043 images, never used for any choice.</a:t>
            </a:r>
          </a:p>
        </p:txBody>
      </p:sp>
      <p:sp>
        <p:nvSpPr>
          <p:cNvPr id="39"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Preprocessing: from JPEG file to model input</a:t>
            </a:r>
            <a:endParaRPr lang="en-US" sz="2800" dirty="0"/>
          </a:p>
        </p:txBody>
      </p:sp>
      <p:sp>
        <p:nvSpPr>
          <p:cNvPr id="27"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sp>
        <p:nvSpPr>
          <p:cNvPr id="28" name="Rounded Rectangle 27"/>
          <p:cNvSpPr/>
          <p:nvPr/>
        </p:nvSpPr>
        <p:spPr>
          <a:xfrm>
            <a:off x="548640" y="1325880"/>
            <a:ext cx="2468880" cy="160020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1417320"/>
            <a:ext cx="2249424" cy="146304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Load + check</a:t>
            </a:r>
          </a:p>
          <a:p>
            <a:pPr algn="l">
              <a:spcAft>
                <a:spcPts val="400"/>
              </a:spcAft>
            </a:pPr>
            <a:r>
              <a:rPr sz="1300" b="0">
                <a:solidFill>
                  <a:srgbClr val="2F3E3A"/>
                </a:solidFill>
              </a:rPr>
              <a:t>JPEG → RGB; folder name = label in a fixed 7-class order</a:t>
            </a:r>
          </a:p>
        </p:txBody>
      </p:sp>
      <p:sp>
        <p:nvSpPr>
          <p:cNvPr id="30" name="Right Arrow 29"/>
          <p:cNvSpPr/>
          <p:nvPr/>
        </p:nvSpPr>
        <p:spPr>
          <a:xfrm>
            <a:off x="3044952" y="1993392"/>
            <a:ext cx="384048" cy="274320"/>
          </a:xfrm>
          <a:prstGeom prst="rightArrow">
            <a:avLst/>
          </a:prstGeom>
          <a:solidFill>
            <a:srgbClr val="4F7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410712" y="1325880"/>
            <a:ext cx="2468880" cy="160020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0440" y="1417320"/>
            <a:ext cx="2249424" cy="146304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Resize</a:t>
            </a:r>
          </a:p>
          <a:p>
            <a:pPr algn="l">
              <a:spcAft>
                <a:spcPts val="400"/>
              </a:spcAft>
            </a:pPr>
            <a:r>
              <a:rPr sz="1300" b="0">
                <a:solidFill>
                  <a:srgbClr val="2F3E3A"/>
                </a:solidFill>
              </a:rPr>
              <a:t>100×100 → 224×224, the input size of EfficientNet-B0</a:t>
            </a:r>
          </a:p>
        </p:txBody>
      </p:sp>
      <p:sp>
        <p:nvSpPr>
          <p:cNvPr id="33" name="Right Arrow 32"/>
          <p:cNvSpPr/>
          <p:nvPr/>
        </p:nvSpPr>
        <p:spPr>
          <a:xfrm>
            <a:off x="5907024" y="1993392"/>
            <a:ext cx="384048" cy="274320"/>
          </a:xfrm>
          <a:prstGeom prst="rightArrow">
            <a:avLst/>
          </a:prstGeom>
          <a:solidFill>
            <a:srgbClr val="4F7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272783" y="1325880"/>
            <a:ext cx="2468880" cy="160020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82512" y="1417320"/>
            <a:ext cx="2249424" cy="146304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To tensor</a:t>
            </a:r>
          </a:p>
          <a:p>
            <a:pPr algn="l">
              <a:spcAft>
                <a:spcPts val="400"/>
              </a:spcAft>
            </a:pPr>
            <a:r>
              <a:rPr sz="1300" b="0">
                <a:solidFill>
                  <a:srgbClr val="2F3E3A"/>
                </a:solidFill>
              </a:rPr>
              <a:t>pixels 0–255 → 0–1, shape 3×224×224</a:t>
            </a:r>
          </a:p>
        </p:txBody>
      </p:sp>
      <p:sp>
        <p:nvSpPr>
          <p:cNvPr id="36" name="Right Arrow 35"/>
          <p:cNvSpPr/>
          <p:nvPr/>
        </p:nvSpPr>
        <p:spPr>
          <a:xfrm>
            <a:off x="8769096" y="1993392"/>
            <a:ext cx="384048" cy="274320"/>
          </a:xfrm>
          <a:prstGeom prst="rightArrow">
            <a:avLst/>
          </a:prstGeom>
          <a:solidFill>
            <a:srgbClr val="4F7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134856" y="1325880"/>
            <a:ext cx="2468880" cy="160020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44584" y="1417320"/>
            <a:ext cx="2249424" cy="146304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Normalize</a:t>
            </a:r>
          </a:p>
          <a:p>
            <a:pPr algn="l">
              <a:spcAft>
                <a:spcPts val="400"/>
              </a:spcAft>
            </a:pPr>
            <a:r>
              <a:rPr sz="1300" b="0">
                <a:solidFill>
                  <a:srgbClr val="2F3E3A"/>
                </a:solidFill>
              </a:rPr>
              <a:t>ImageNet mean/std, the same statistics the backbone was pretrained with</a:t>
            </a:r>
          </a:p>
        </p:txBody>
      </p:sp>
      <p:sp>
        <p:nvSpPr>
          <p:cNvPr id="39" name="TextBox 38"/>
          <p:cNvSpPr txBox="1"/>
          <p:nvPr/>
        </p:nvSpPr>
        <p:spPr>
          <a:xfrm>
            <a:off x="548640" y="3154680"/>
            <a:ext cx="11064240" cy="365760"/>
          </a:xfrm>
          <a:prstGeom prst="rect">
            <a:avLst/>
          </a:prstGeom>
          <a:noFill/>
        </p:spPr>
        <p:txBody>
          <a:bodyPr wrap="square" anchor="t" lIns="45720" rIns="45720">
            <a:spAutoFit/>
          </a:bodyPr>
          <a:lstStyle/>
          <a:p>
            <a:pPr algn="l">
              <a:spcAft>
                <a:spcPts val="400"/>
              </a:spcAft>
            </a:pPr>
            <a:r>
              <a:rPr sz="1600" b="1">
                <a:solidFill>
                  <a:srgbClr val="4F7F6E"/>
                </a:solidFill>
              </a:rPr>
              <a:t>Same core, three different uses</a:t>
            </a:r>
          </a:p>
        </p:txBody>
      </p:sp>
      <p:sp>
        <p:nvSpPr>
          <p:cNvPr id="40" name="Rounded Rectangle 39"/>
          <p:cNvSpPr/>
          <p:nvPr/>
        </p:nvSpPr>
        <p:spPr>
          <a:xfrm>
            <a:off x="548640" y="3611880"/>
            <a:ext cx="3566160" cy="155448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3703320"/>
            <a:ext cx="3291840" cy="141732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Train</a:t>
            </a:r>
          </a:p>
          <a:p>
            <a:pPr algn="l">
              <a:spcAft>
                <a:spcPts val="400"/>
              </a:spcAft>
            </a:pPr>
            <a:r>
              <a:rPr sz="1300" b="0">
                <a:solidFill>
                  <a:srgbClr val="2F3E3A"/>
                </a:solidFill>
              </a:rPr>
              <a:t>Core + random augmentation (next slide). Shuffled, batch 64, decoded images cached in RAM.</a:t>
            </a:r>
          </a:p>
        </p:txBody>
      </p:sp>
      <p:sp>
        <p:nvSpPr>
          <p:cNvPr id="42" name="Rounded Rectangle 41"/>
          <p:cNvSpPr/>
          <p:nvPr/>
        </p:nvSpPr>
        <p:spPr>
          <a:xfrm>
            <a:off x="4297679" y="3611880"/>
            <a:ext cx="3566160" cy="155448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34840" y="3703320"/>
            <a:ext cx="3291840" cy="141732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Validation &amp; test</a:t>
            </a:r>
          </a:p>
          <a:p>
            <a:pPr algn="l">
              <a:spcAft>
                <a:spcPts val="400"/>
              </a:spcAft>
            </a:pPr>
            <a:r>
              <a:rPr sz="1300" b="0">
                <a:solidFill>
                  <a:srgbClr val="2F3E3A"/>
                </a:solidFill>
              </a:rPr>
              <a:t>Core only: deterministic resize + normalize. Flip-TTA is optional and applied on top at test time.</a:t>
            </a:r>
          </a:p>
        </p:txBody>
      </p:sp>
      <p:sp>
        <p:nvSpPr>
          <p:cNvPr id="44" name="Rounded Rectangle 43"/>
          <p:cNvSpPr/>
          <p:nvPr/>
        </p:nvSpPr>
        <p:spPr>
          <a:xfrm>
            <a:off x="8046719" y="3611880"/>
            <a:ext cx="3566160" cy="155448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3879" y="3703320"/>
            <a:ext cx="3291840" cy="1417320"/>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Webcam (live)</a:t>
            </a:r>
          </a:p>
          <a:p>
            <a:pPr algn="l">
              <a:spcAft>
                <a:spcPts val="400"/>
              </a:spcAft>
            </a:pPr>
            <a:r>
              <a:rPr sz="1300" b="0">
                <a:solidFill>
                  <a:srgbClr val="2F3E3A"/>
                </a:solidFill>
              </a:rPr>
              <a:t>YuNet + 5-point alignment first, so live crops look like RAF-DB aligned faces; then core only (slide 16).</a:t>
            </a:r>
          </a:p>
        </p:txBody>
      </p:sp>
      <p:sp>
        <p:nvSpPr>
          <p:cNvPr id="46" name="TextBox 45"/>
          <p:cNvSpPr txBox="1"/>
          <p:nvPr/>
        </p:nvSpPr>
        <p:spPr>
          <a:xfrm>
            <a:off x="548640" y="5349240"/>
            <a:ext cx="11064240" cy="822960"/>
          </a:xfrm>
          <a:prstGeom prst="rect">
            <a:avLst/>
          </a:prstGeom>
          <a:noFill/>
        </p:spPr>
        <p:txBody>
          <a:bodyPr wrap="square" anchor="t" lIns="45720" rIns="45720">
            <a:spAutoFit/>
          </a:bodyPr>
          <a:lstStyle/>
          <a:p>
            <a:pPr algn="l">
              <a:spcAft>
                <a:spcPts val="400"/>
              </a:spcAft>
            </a:pPr>
            <a:r>
              <a:rPr sz="1300" b="1">
                <a:solidFill>
                  <a:srgbClr val="66756F"/>
                </a:solidFill>
              </a:rPr>
              <a:t>Sanity checks in code: </a:t>
            </a:r>
            <a:r>
              <a:rPr sz="1300" b="0">
                <a:solidFill>
                  <a:srgbClr val="66756F"/>
                </a:solidFill>
              </a:rPr>
              <a:t>an unknown class folder stops loading; a source image and its masked twins must carry the same label; the train/val split asserts zero shared source images.</a:t>
            </a:r>
          </a:p>
        </p:txBody>
      </p:sp>
      <p:sp>
        <p:nvSpPr>
          <p:cNvPr id="47"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type="title" idx="100" hasCustomPrompt="1"/>
          </p:nvPr>
        </p:nvSpPr>
        <p:spPr>
          <a:xfrm>
            <a:off x="1344168" y="320040"/>
            <a:ext cx="9509760" cy="822960"/>
          </a:xfrm>
          <a:prstGeom prst="rect">
            <a:avLst/>
          </a:prstGeom>
          <a:noFill/>
        </p:spPr>
        <p:txBody>
          <a:bodyPr wrap="square" lIns="0" tIns="0" rIns="0" bIns="0" rtlCol="0" anchor="ctr"/>
          <a:lstStyle/>
          <a:p>
            <a:pPr marL="0" indent="0">
              <a:buNone/>
            </a:pPr>
            <a:r>
              <a:rPr lang="en-US" sz="2800" b="1" dirty="0">
                <a:solidFill>
                  <a:srgbClr val="2F3E3A"/>
                </a:solidFill>
                <a:latin typeface="Cambria" panose="02040503050406030204" pitchFamily="34" charset="0"/>
                <a:ea typeface="Cambria" panose="02040503050406030204" pitchFamily="34" charset="-122"/>
                <a:cs typeface="Cambria" panose="02040503050406030204" pitchFamily="34" charset="-120"/>
              </a:rPr>
              <a:t>Augmentation: simulate the wild and the mask</a:t>
            </a:r>
            <a:endParaRPr lang="en-US" sz="2800" dirty="0"/>
          </a:p>
        </p:txBody>
      </p:sp>
      <p:sp>
        <p:nvSpPr>
          <p:cNvPr id="27" name="Slide Number Placeholder 0"/>
          <p:cNvSpPr>
            <a:spLocks noGrp="1"/>
          </p:cNvSpPr>
          <p:nvPr>
            <p:ph type="sldNum" sz="quarter" idx="4294967295"/>
          </p:nvPr>
        </p:nvSpPr>
        <p:spPr>
          <a:xfrm>
            <a:off x="11247120" y="6400800"/>
            <a:ext cx="800000" cy="300000"/>
          </a:xfrm>
          <a:prstGeom prst="rect">
            <a:avLst/>
          </a:prstGeom>
        </p:spPr>
        <p:txBody>
          <a:bodyPr/>
          <a:lstStyle>
            <a:lvl1pPr>
              <a:defRPr sz="1100">
                <a:solidFill>
                  <a:srgbClr val="66756F"/>
                </a:solidFill>
              </a:defRPr>
            </a:lvl1pPr>
          </a:lstStyle>
          <a:p>
            <a:pPr algn="l"/>
            <a:fld id="{F7021451-1387-4CA6-816F-3879F97B5CBC}" type="slidenum">
              <a:rPr lang="en-US" b="0"/>
            </a:fld>
            <a:endParaRPr lang="en-US"/>
          </a:p>
        </p:txBody>
      </p:sp>
      <p:pic>
        <p:nvPicPr>
          <p:cNvPr id="28" name="Augmentation steps on one RAF-DB face" descr="aug_steps.png"/>
          <p:cNvPicPr>
            <a:picLocks noChangeAspect="1"/>
          </p:cNvPicPr>
          <p:nvPr/>
        </p:nvPicPr>
        <p:blipFill>
          <a:blip r:embed="rId2"/>
          <a:stretch>
            <a:fillRect/>
          </a:stretch>
        </p:blipFill>
        <p:spPr>
          <a:xfrm>
            <a:off x="548640" y="1234440"/>
            <a:ext cx="11064240" cy="2143696"/>
          </a:xfrm>
          <a:prstGeom prst="rect">
            <a:avLst/>
          </a:prstGeom>
        </p:spPr>
      </p:pic>
      <p:sp>
        <p:nvSpPr>
          <p:cNvPr id="29" name="Rounded Rectangle 28"/>
          <p:cNvSpPr/>
          <p:nvPr/>
        </p:nvSpPr>
        <p:spPr>
          <a:xfrm>
            <a:off x="548640" y="3561016"/>
            <a:ext cx="3566160" cy="169164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634168"/>
            <a:ext cx="3291840" cy="1572768"/>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Pose &amp; light</a:t>
            </a:r>
          </a:p>
          <a:p>
            <a:pPr algn="l">
              <a:spcAft>
                <a:spcPts val="400"/>
              </a:spcAft>
            </a:pPr>
            <a:r>
              <a:rPr sz="1300" b="0">
                <a:solidFill>
                  <a:srgbClr val="2F3E3A"/>
                </a:solidFill>
              </a:rPr>
              <a:t>Crop 80–100% of the face, horizontal flip, rotate ±10°, shift ±4%, brightness/contrast ±30%, 10% grayscale. Covers the head tilt and lighting a webcam sees.</a:t>
            </a:r>
          </a:p>
        </p:txBody>
      </p:sp>
      <p:sp>
        <p:nvSpPr>
          <p:cNvPr id="31" name="Rounded Rectangle 30"/>
          <p:cNvSpPr/>
          <p:nvPr/>
        </p:nvSpPr>
        <p:spPr>
          <a:xfrm>
            <a:off x="4297679" y="3561016"/>
            <a:ext cx="3566160" cy="1691640"/>
          </a:xfrm>
          <a:prstGeom prst="roundRect">
            <a:avLst>
              <a:gd name="adj" fmla="val 6666"/>
            </a:avLst>
          </a:prstGeom>
          <a:solidFill>
            <a:srgbClr val="FB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3634168"/>
            <a:ext cx="3291840" cy="1572768"/>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LowerFaceOcclusion (ours)</a:t>
            </a:r>
          </a:p>
          <a:p>
            <a:pPr algn="l">
              <a:spcAft>
                <a:spcPts val="400"/>
              </a:spcAft>
            </a:pPr>
            <a:r>
              <a:rPr sz="1300" b="0">
                <a:solidFill>
                  <a:srgbClr val="2F3E3A"/>
                </a:solidFill>
              </a:rPr>
              <a:t>Covers the face from 50–62% height down, with a sagging top edge like a mask, in 6 colors or noise. p = 0.3, Stage 2 only: many mask shapes, not one MaskTheFace template.</a:t>
            </a:r>
          </a:p>
        </p:txBody>
      </p:sp>
      <p:sp>
        <p:nvSpPr>
          <p:cNvPr id="33" name="Rounded Rectangle 32"/>
          <p:cNvSpPr/>
          <p:nvPr/>
        </p:nvSpPr>
        <p:spPr>
          <a:xfrm>
            <a:off x="8046719" y="3561016"/>
            <a:ext cx="3566160" cy="1691640"/>
          </a:xfrm>
          <a:prstGeom prst="roundRect">
            <a:avLst>
              <a:gd name="adj" fmla="val 6666"/>
            </a:avLst>
          </a:prstGeom>
          <a:solidFill>
            <a:srgbClr val="D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3879" y="3634168"/>
            <a:ext cx="3291840" cy="1572768"/>
          </a:xfrm>
          <a:prstGeom prst="rect">
            <a:avLst/>
          </a:prstGeom>
          <a:noFill/>
        </p:spPr>
        <p:txBody>
          <a:bodyPr wrap="square" anchor="t" lIns="45720" rIns="45720">
            <a:spAutoFit/>
          </a:bodyPr>
          <a:lstStyle/>
          <a:p>
            <a:pPr algn="l">
              <a:spcAft>
                <a:spcPts val="400"/>
              </a:spcAft>
            </a:pPr>
            <a:r>
              <a:rPr sz="1600" b="1">
                <a:solidFill>
                  <a:srgbClr val="2F3E3A"/>
                </a:solidFill>
                <a:latin typeface="Cambria"/>
              </a:rPr>
              <a:t>RandomErasing</a:t>
            </a:r>
          </a:p>
          <a:p>
            <a:pPr algn="l">
              <a:spcAft>
                <a:spcPts val="400"/>
              </a:spcAft>
            </a:pPr>
            <a:r>
              <a:rPr sz="1300" b="0">
                <a:solidFill>
                  <a:srgbClr val="2F3E3A"/>
                </a:solidFill>
              </a:rPr>
              <a:t>A random 2–20% rectangle filled with noise (p = 0.25). Teaches robustness to hands, glasses and hair without relying on a single region.</a:t>
            </a:r>
          </a:p>
        </p:txBody>
      </p:sp>
      <p:sp>
        <p:nvSpPr>
          <p:cNvPr id="35" name="TextBox 34"/>
          <p:cNvSpPr txBox="1"/>
          <p:nvPr/>
        </p:nvSpPr>
        <p:spPr>
          <a:xfrm>
            <a:off x="548640" y="5481256"/>
            <a:ext cx="11064240" cy="457200"/>
          </a:xfrm>
          <a:prstGeom prst="rect">
            <a:avLst/>
          </a:prstGeom>
          <a:noFill/>
        </p:spPr>
        <p:txBody>
          <a:bodyPr wrap="square" anchor="t" lIns="45720" rIns="45720">
            <a:spAutoFit/>
          </a:bodyPr>
          <a:lstStyle/>
          <a:p>
            <a:pPr algn="l">
              <a:spcAft>
                <a:spcPts val="400"/>
              </a:spcAft>
            </a:pPr>
            <a:r>
              <a:rPr sz="1300" b="1">
                <a:solidFill>
                  <a:srgbClr val="66756F"/>
                </a:solidFill>
              </a:rPr>
              <a:t>Applied on the fly, train only: </a:t>
            </a:r>
            <a:r>
              <a:rPr sz="1300" b="0">
                <a:solidFill>
                  <a:srgbClr val="66756F"/>
                </a:solidFill>
              </a:rPr>
              <a:t>each epoch sees a new random version of every image; validation and test are never augmented.</a:t>
            </a:r>
          </a:p>
        </p:txBody>
      </p:sp>
      <p:sp>
        <p:nvSpPr>
          <p:cNvPr id="36" name="Speaker tag"/>
          <p:cNvSpPr txBox="1"/>
          <p:nvPr/>
        </p:nvSpPr>
        <p:spPr>
          <a:xfrm>
            <a:off x="548640" y="6400800"/>
            <a:ext cx="7315200" cy="301752"/>
          </a:xfrm>
          <a:prstGeom prst="rect">
            <a:avLst/>
          </a:prstGeom>
          <a:noFill/>
        </p:spPr>
        <p:txBody>
          <a:bodyPr wrap="square" anchor="ctr" lIns="0" rIns="0" tIns="0" bIns="0">
            <a:spAutoFit/>
          </a:bodyPr>
          <a:lstStyle/>
          <a:p>
            <a:pPr algn="l">
              <a:spcAft>
                <a:spcPts val="400"/>
              </a:spcAft>
            </a:pPr>
            <a:r>
              <a:rPr sz="1100" b="0">
                <a:solidFill>
                  <a:srgbClr val="66756F"/>
                </a:solidFill>
              </a:rPr>
              <a:t>Speaker 1 · Hồ Trường Thịnh · Data &amp; Preprocessing</a:t>
            </a:r>
          </a:p>
        </p:txBody>
      </p:sp>
    </p:spTree>
  </p:cSld>
  <p:clrMapOvr>
    <a:masterClrMapping/>
  </p:clrMapOvr>
</p:sld>
</file>

<file path=ppt/theme/theme1.xml><?xml version="1.0" encoding="utf-8"?>
<a:theme xmlns:a="http://schemas.openxmlformats.org/drawingml/2006/main" name="XAI-FER Soft">
  <a:themeElements>
    <a:clrScheme name="XAI-FER Soft">
      <a:dk1>
        <a:srgbClr val="2F3E3A"/>
      </a:dk1>
      <a:lt1>
        <a:srgbClr val="FFFFFF"/>
      </a:lt1>
      <a:dk2>
        <a:srgbClr val="4F7F6E"/>
      </a:dk2>
      <a:lt2>
        <a:srgbClr val="F7FAF8"/>
      </a:lt2>
      <a:accent1>
        <a:srgbClr val="4F7F6E"/>
      </a:accent1>
      <a:accent2>
        <a:srgbClr val="D98B73"/>
      </a:accent2>
      <a:accent3>
        <a:srgbClr val="9DBFAF"/>
      </a:accent3>
      <a:accent4>
        <a:srgbClr val="E8C9A0"/>
      </a:accent4>
      <a:accent5>
        <a:srgbClr val="B9C9A3"/>
      </a:accent5>
      <a:accent6>
        <a:srgbClr val="C98F8F"/>
      </a:accent6>
      <a:hlink>
        <a:srgbClr val="4F7F6E"/>
      </a:hlink>
      <a:folHlink>
        <a:srgbClr val="66756F"/>
      </a:folHlink>
    </a:clrScheme>
    <a:fontScheme name="XAI-FER So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XAI-FER Soft">
  <a:themeElements>
    <a:clrScheme name="XAI-FER Soft">
      <a:dk1>
        <a:srgbClr val="2F3E3A"/>
      </a:dk1>
      <a:lt1>
        <a:srgbClr val="FFFFFF"/>
      </a:lt1>
      <a:dk2>
        <a:srgbClr val="4F7F6E"/>
      </a:dk2>
      <a:lt2>
        <a:srgbClr val="F7FAF8"/>
      </a:lt2>
      <a:accent1>
        <a:srgbClr val="4F7F6E"/>
      </a:accent1>
      <a:accent2>
        <a:srgbClr val="D98B73"/>
      </a:accent2>
      <a:accent3>
        <a:srgbClr val="9DBFAF"/>
      </a:accent3>
      <a:accent4>
        <a:srgbClr val="E8C9A0"/>
      </a:accent4>
      <a:accent5>
        <a:srgbClr val="B9C9A3"/>
      </a:accent5>
      <a:accent6>
        <a:srgbClr val="C98F8F"/>
      </a:accent6>
      <a:hlink>
        <a:srgbClr val="4F7F6E"/>
      </a:hlink>
      <a:folHlink>
        <a:srgbClr val="66756F"/>
      </a:folHlink>
    </a:clrScheme>
    <a:fontScheme name="XAI-FER Sof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6255</Words>
  <Application>WPS Presentation</Application>
  <PresentationFormat>On-screen Show (16:9)</PresentationFormat>
  <Paragraphs>328</Paragraphs>
  <Slides>15</Slides>
  <Notes>17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Cambria</vt:lpstr>
      <vt:lpstr>Cambria</vt:lpstr>
      <vt:lpstr>Calibri</vt:lpstr>
      <vt:lpstr>Arial</vt:lpstr>
      <vt:lpstr>Microsoft YaHei</vt:lpstr>
      <vt:lpstr>Arial Unicode MS</vt:lpstr>
      <vt:lpstr>Calibri</vt:lpstr>
      <vt:lpstr>XAI-FER Soft</vt:lpstr>
      <vt:lpstr>PowerPoint 演示文稿</vt:lpstr>
      <vt:lpstr>Problem: 3 barriers to FER in the real world</vt:lpstr>
      <vt:lpstr>RAF-DB data &amp; mask generation pipeline</vt:lpstr>
      <vt:lpstr>Data leakage &amp; independent audit</vt:lpstr>
      <vt:lpstr>Multi-face detection &amp; 5-landmark alignment</vt:lpstr>
      <vt:lpstr>Face-pretrained backbone</vt:lpstr>
      <vt:lpstr>Two-stage transfer learning</vt:lpstr>
      <vt:lpstr>Post-training prior-bias calibration</vt:lpstr>
      <vt:lpstr>Results: +22.68 points on masked faces</vt:lpstr>
      <vt:lpstr>Per-emotion analysis on masked faces</vt:lpstr>
      <vt:lpstr>Ablation: contribution of each improvement (unmasked)</vt:lpstr>
      <vt:lpstr>XAI: Grad-CAM and the attention shift</vt:lpstr>
      <vt:lpstr>Real-time: IoU tracker + EMA smoothing</vt:lpstr>
      <vt:lpstr>Real-time performance (Apple M1, MPS)</vt:lpstr>
      <vt:lpstr>Conclusion &amp; contributions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Quốc Sang Trịnh</cp:lastModifiedBy>
  <cp:revision>2</cp:revision>
  <dcterms:created xsi:type="dcterms:W3CDTF">2026-10-13T10:52:00Z</dcterms:created>
  <dcterms:modified xsi:type="dcterms:W3CDTF">2026-10-13T12:07:38Z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6CC90FEA605D451DA3502F1658092946_12</vt:lpwstr>
  </property>
  <property fmtid="{D5CDD505-2E9C-101B-9397-08002B2CF9AE}" pid="3" name="KSOProductBuildVer">
    <vt:lpwstr>1033-12.1.0.28485</vt:lpwstr>
  </property>
</Properties>
</file>